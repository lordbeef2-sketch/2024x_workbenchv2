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15f2c8eaa84027" /><Relationship Type="http://schemas.openxmlformats.org/officeDocument/2006/relationships/extended-properties" Target="/docProps/app.xml" Id="Rda4deb0b151745e1" /><Relationship Type="http://schemas.openxmlformats.org/officeDocument/2006/relationships/officeDocument" Target="/ppt/presentation.xml" Id="R4733e878e93a4f25" /></Relationships>
</file>

<file path=ppt/presentation.xml><?xml version="1.0" encoding="utf-8"?>
<p:presentation xmlns:p="http://schemas.openxmlformats.org/presentationml/2006/main">
  <p:sldMasterIdLst>
    <p:sldMasterId xmlns:r="http://schemas.openxmlformats.org/officeDocument/2006/relationships" id="2147483648" r:id="R5d442662001a461a"/>
  </p:sldMasterIdLst>
  <p:notesMasterIdLst>
    <p:notesMasterId xmlns:r="http://schemas.openxmlformats.org/officeDocument/2006/relationships" r:id="R98af82ba74ae418a"/>
  </p:notesMasterIdLst>
  <p:sldIdLst>
    <p:sldId xmlns:r="http://schemas.openxmlformats.org/officeDocument/2006/relationships" id="256" r:id="R87fe67ce535942a7"/>
    <p:sldId xmlns:r="http://schemas.openxmlformats.org/officeDocument/2006/relationships" id="257" r:id="Ra8ae08177f644af4"/>
    <p:sldId xmlns:r="http://schemas.openxmlformats.org/officeDocument/2006/relationships" id="258" r:id="R8bab446799fa4254"/>
    <p:sldId xmlns:r="http://schemas.openxmlformats.org/officeDocument/2006/relationships" id="259" r:id="Re9462a9923f64175"/>
    <p:sldId xmlns:r="http://schemas.openxmlformats.org/officeDocument/2006/relationships" id="260" r:id="Rb8341376e1164357"/>
    <p:sldId xmlns:r="http://schemas.openxmlformats.org/officeDocument/2006/relationships" id="261" r:id="R00de60fa946c4ad4"/>
    <p:sldId xmlns:r="http://schemas.openxmlformats.org/officeDocument/2006/relationships" id="262" r:id="R306b9b9262c4444e"/>
    <p:sldId xmlns:r="http://schemas.openxmlformats.org/officeDocument/2006/relationships" id="263" r:id="R6212f552d9f64d29"/>
    <p:sldId xmlns:r="http://schemas.openxmlformats.org/officeDocument/2006/relationships" id="264" r:id="R1de2057cad4e4a83"/>
    <p:sldId xmlns:r="http://schemas.openxmlformats.org/officeDocument/2006/relationships" id="265" r:id="Rec88087b57c24789"/>
    <p:sldId xmlns:r="http://schemas.openxmlformats.org/officeDocument/2006/relationships" id="266" r:id="Rdbe0c69d46324cec"/>
    <p:sldId xmlns:r="http://schemas.openxmlformats.org/officeDocument/2006/relationships" id="267" r:id="R18a230463e084e48"/>
    <p:sldId xmlns:r="http://schemas.openxmlformats.org/officeDocument/2006/relationships" id="268" r:id="R7479625277274d28"/>
  </p:sldIdLst>
  <p:sldSz cx="12191695"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f7b2b0e30e4d7c" /><Relationship Type="http://schemas.openxmlformats.org/officeDocument/2006/relationships/slideMaster" Target="/ppt/slideMasters/slideMaster1.xml" Id="R5d442662001a461a" /><Relationship Type="http://schemas.openxmlformats.org/officeDocument/2006/relationships/notesMaster" Target="/ppt/notesMasters/notesMaster1.xml" Id="R98af82ba74ae418a" /><Relationship Type="http://schemas.openxmlformats.org/officeDocument/2006/relationships/presProps" Target="/ppt/presProps.xml" Id="Rc18de0bde35e41a6" /><Relationship Type="http://schemas.openxmlformats.org/officeDocument/2006/relationships/tableStyles" Target="/ppt/tableStyles.xml" Id="R8a4f0095c70d406c" /><Relationship Type="http://schemas.openxmlformats.org/officeDocument/2006/relationships/slide" Target="/ppt/slides/slide1.xml" Id="R87fe67ce535942a7" /><Relationship Type="http://schemas.openxmlformats.org/officeDocument/2006/relationships/slide" Target="/ppt/slides/slide2.xml" Id="Ra8ae08177f644af4" /><Relationship Type="http://schemas.openxmlformats.org/officeDocument/2006/relationships/slide" Target="/ppt/slides/slide3.xml" Id="R8bab446799fa4254" /><Relationship Type="http://schemas.openxmlformats.org/officeDocument/2006/relationships/slide" Target="/ppt/slides/slide4.xml" Id="Re9462a9923f64175" /><Relationship Type="http://schemas.openxmlformats.org/officeDocument/2006/relationships/slide" Target="/ppt/slides/slide5.xml" Id="Rb8341376e1164357" /><Relationship Type="http://schemas.openxmlformats.org/officeDocument/2006/relationships/slide" Target="/ppt/slides/slide6.xml" Id="R00de60fa946c4ad4" /><Relationship Type="http://schemas.openxmlformats.org/officeDocument/2006/relationships/slide" Target="/ppt/slides/slide7.xml" Id="R306b9b9262c4444e" /><Relationship Type="http://schemas.openxmlformats.org/officeDocument/2006/relationships/slide" Target="/ppt/slides/slide8.xml" Id="R6212f552d9f64d29" /><Relationship Type="http://schemas.openxmlformats.org/officeDocument/2006/relationships/slide" Target="/ppt/slides/slide9.xml" Id="R1de2057cad4e4a83" /><Relationship Type="http://schemas.openxmlformats.org/officeDocument/2006/relationships/slide" Target="/ppt/slides/slide10.xml" Id="Rec88087b57c24789" /><Relationship Type="http://schemas.openxmlformats.org/officeDocument/2006/relationships/slide" Target="/ppt/slides/slide11.xml" Id="Rdbe0c69d46324cec" /><Relationship Type="http://schemas.openxmlformats.org/officeDocument/2006/relationships/slide" Target="/ppt/slides/slide12.xml" Id="R18a230463e084e48" /><Relationship Type="http://schemas.openxmlformats.org/officeDocument/2006/relationships/slide" Target="/ppt/slides/slide13.xml" Id="R7479625277274d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e190ab0d9c44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3aa4baee514cb3" /><Relationship Type="http://schemas.openxmlformats.org/officeDocument/2006/relationships/notesMaster" Target="/ppt/notesMasters/notesMaster1.xml" Id="R4b235d34f85843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8d4526fa674c78" /><Relationship Type="http://schemas.openxmlformats.org/officeDocument/2006/relationships/notesMaster" Target="/ppt/notesMasters/notesMaster1.xml" Id="Ra79149861c8648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d6a96a2a1241c7" /><Relationship Type="http://schemas.openxmlformats.org/officeDocument/2006/relationships/notesMaster" Target="/ppt/notesMasters/notesMaster1.xml" Id="Rfa86240514b74f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2e9d22b4924ba9" /><Relationship Type="http://schemas.openxmlformats.org/officeDocument/2006/relationships/notesMaster" Target="/ppt/notesMasters/notesMaster1.xml" Id="R9d0219a535fe4aa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e39a4780e44f5a" /><Relationship Type="http://schemas.openxmlformats.org/officeDocument/2006/relationships/notesMaster" Target="/ppt/notesMasters/notesMaster1.xml" Id="R4b4b7b042c2b44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539b225d7145ca" /><Relationship Type="http://schemas.openxmlformats.org/officeDocument/2006/relationships/notesMaster" Target="/ppt/notesMasters/notesMaster1.xml" Id="Ra3de27132d9b40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00c374b50e415d" /><Relationship Type="http://schemas.openxmlformats.org/officeDocument/2006/relationships/notesMaster" Target="/ppt/notesMasters/notesMaster1.xml" Id="R2c76fdb92eb04d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1eb3ef45e54c61" /><Relationship Type="http://schemas.openxmlformats.org/officeDocument/2006/relationships/notesMaster" Target="/ppt/notesMasters/notesMaster1.xml" Id="R9ecac40d224444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89815149cb4347" /><Relationship Type="http://schemas.openxmlformats.org/officeDocument/2006/relationships/notesMaster" Target="/ppt/notesMasters/notesMaster1.xml" Id="R86f6bda373684a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125a50b0ab4080" /><Relationship Type="http://schemas.openxmlformats.org/officeDocument/2006/relationships/notesMaster" Target="/ppt/notesMasters/notesMaster1.xml" Id="Rea998ffe1ce347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3e6b998aba46aa" /><Relationship Type="http://schemas.openxmlformats.org/officeDocument/2006/relationships/notesMaster" Target="/ppt/notesMasters/notesMaster1.xml" Id="Rb86853c4db8c430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a9eeadfe6943d6" /><Relationship Type="http://schemas.openxmlformats.org/officeDocument/2006/relationships/notesMaster" Target="/ppt/notesMasters/notesMaster1.xml" Id="R7c22219fd2aa4a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3329204ffd481d" /><Relationship Type="http://schemas.openxmlformats.org/officeDocument/2006/relationships/notesMaster" Target="/ppt/notesMasters/notesMaster1.xml" Id="R0c485fd78cf945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TWC Workbench V2 at a practical architecture level. The main point is that this is not just a frontend. It is a server-backed enterprise workbench that keeps Teamwork Cloud access, authentication, tokens, capability discovery, cache materialization, and plugin ingestion behind a controlled FastAPI backend while the React interface gives users a clean workspace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this app solves is controlled access to Teamwork Cloud data through a web interface. The frontend gives the user the experience: dashboards, project browsing, model browsing, details, compare, developer API, and admin tools. The backend keeps the sensitive parts server-side: authentication, sessions, tokens, capability checks, and direct Teamwork Cloud calls. The third major purpose is speed and automation: Workbench can use cache-backed data and ingest snapshots or deltas from the Cameo plugin.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 high level, the browser only talks to the Workbench backend. The backend is the control point. It serves the frontend, manages CORS and secure sessions, routes requests through auth, server, workspace, and cache APIs, then talks outward to Teamwork Cloud and the Authentication Server. Data that needs to persist, such as server profiles, user state, and cache information, lives in SQLite by default, with Redis available for sessions. A second integration path comes from the Cameo plugin, which posts snapshots and deltas into the cache ingest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normal sign-in flow starts with preset server selection. Workbench reads the selected Authentication Server's 2024x Refresh3 OpenID Connect discovery document and redirects to its authorization endpoint with scope openid. The browser returns to the exact registered Workbench redirect URI. The backend requires matching state, exchanges the code at the discovered token endpoint using client_secret_basic, and validates the returned ID token against Teamwork Cloud. SAML may remain upstream of AuthServer as the enterprise identity provider, but Workbench itself is an OIDC client. Explicit token sign-in remains available for troubleshooting.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is a React and TypeScript application using Material UI and TanStack Query. The workspace is organized as tabs. Dashboard gives context. Project Browser and Model Browser handle navigation. Item Details shows the selected element or model item. Compare gives revision-oriented workflows. Developer API lets users create scoped API keys and copy runnable examples. API Explorer is admin-only and is tied to the bundled contract. The Workbench Agent tab is present for AI-style model interaction and knowledge synchronization.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is where the application actually becomes enterprise-safe. The route groups expose clean areas of functionality: authentication, server management, workspace operations, and cache operations. Behind the routes, PlatformService is the orchestration layer. It decides how to use sessions, server profiles, adapters, cache, jobs, API keys, and agent settings. The Teamwork adapters isolate TWC version differences. Storage is handled through a SQLite repository by default, which keeps deployment simple but still gives the app durable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major design choice is that the app is contract-bound. It uses the verified Swagger file instead of inventing endpoints. That matters because Teamwork Cloud surfaces can vary by version and deployment. The app uses the verified parts: workspaces, resources, branches, models, elements, revision diff, and current-user validation. If an area is not defined in the Swagger contract, the app does not pretend it is safely supported. Version-specific behavior is handled behind adapter and capability layers.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cache design is meant to make the app faster and easier to automate without turning the cache into an unrestricted server-wide data dump. The shared branch payload is stored once, while user permission overlays stay separate. That gives efficiency while preserving user-scoped visibility. The Developer API exposes cache-first access for scripts or external tools through scoped API keys. Read, write, and edit scopes control what each key can 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Cameo plugin is the desktop-to-web bridge. It loads inside Cameo or MagicDraw, adds a TWC Workbench menu, and lets the user configure the Workbench connection. When a project opens, it can capture a baseline snapshot. On save or close, it publishes a delta when a baseline exists, or a full snapshot when needed. Those snapshots and deltas go into Workbench through bearer-token-protected ingest endpoints. This is important because it lets Workbench serve rich model data without forcing the browser to crawl the entire live TWC model every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is mostly about where control lives. Workbench keeps tokens on the backend, not in browser local storage. It uses server-side session management and secure HTTP-only cookies. Server profiles are centrally configured, so users pick from approved Teamwork Cloud targets instead of manually entering random servers. The launcher can run it as a single-origin application where FastAPI serves both the API and the built React frontend, which helps avoid cross-origin deployment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normal request flow is straightforward. A user does something in the React workspace. The frontend API service sends a request to FastAPI. The route validates the session and delegates to PlatformService. PlatformService then decides whether the request should go live to Teamwork Cloud through an adapter, use the Workbench cache, run a job, modify storage, or return configuration state. The response is normalized and returned to React Query, which updates the visible workspace.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honest boundary is live proof. Automated backend tests and the frontend production build pass, and the expanded source package now includes the official 2024x Refresh3 OIDC contract plus full 2024x Java API class pages. Authentication redirects, TLS, group and role permission payloads, and Cameo runtime behavior still require validation against the target deployment. The plugin must compile with the target Cameo SDK and then complete a real project open, snapshot, permission, and Agent workflow before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bottom line is that TWC Workbench V2 is a controlled bridge. Users receive a complete stored Cameo tree and native specification data within their TWC-derived access. Administrators manage server presets, OIDC configuration, background permission inventory, and operational status. Automation uses scoped Developer APIs. Every mapped Open WebUI model receives the complete fingerprinted, size-segmented Workbench and official 3DS reference set plus the current user's permission-scoped branch source, with instructions not to invent unsupported product or model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5cee1f2ace444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6cbd427fec412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4CA6968-6294-467A-A718-17FA46BBAEAD}"/>
              </a:ext>
            </a:extLst>
          </p:cNvPr>
          <p:cNvSpPr>
            <a:spLocks xmlns:a="http://schemas.openxmlformats.org/drawingml/2006/main" noGrp="1"/>
          </p:cNvSpPr>
          <p:nvPr/>
        </p:nvSpPr>
        <p:spPr>
          <a:xfrm xmlns:a="http://schemas.openxmlformats.org/drawingml/2006/main">
            <a:off x="0" y="6565392"/>
            <a:ext cx="12191695" cy="0"/>
          </a:xfrm>
          <a:prstGeom xmlns:a="http://schemas.openxmlformats.org/drawingml/2006/main" prst="line">
            <a:avLst/>
          </a:prstGeom>
          <a:noFill xmlns:a="http://schemas.openxmlformats.org/drawingml/2006/main"/>
          <a:ln xmlns:a="http://schemas.openxmlformats.org/drawingml/2006/main" w="12700">
            <a:solidFill>
              <a:srgbClr val="D9E2EC"/>
            </a:solidFill>
            <a:prstDash val="solid"/>
          </a:ln>
        </p:spPr>
      </p:sp>
      <p:sp>
        <p:nvSpPr>
          <p:cNvPr id="3" name="Text 1">
            <a:extLst xmlns:a="http://schemas.openxmlformats.org/drawingml/2006/main">
              <a:ext uri="{FF2B5EF4-FFF2-40B4-BE49-F238E27FC236}">
                <a16:creationId xmlns:a16="http://schemas.microsoft.com/office/drawing/2014/main" id="{6002539E-EF92-4E8D-BA5F-F4EA64AF859D}"/>
              </a:ext>
            </a:extLst>
          </p:cNvPr>
          <p:cNvSpPr>
            <a:spLocks xmlns:a="http://schemas.openxmlformats.org/drawingml/2006/main" noGrp="1"/>
          </p:cNvSpPr>
          <p:nvPr/>
        </p:nvSpPr>
        <p:spPr>
          <a:xfrm xmlns:a="http://schemas.openxmlformats.org/drawingml/2006/main">
            <a:off x="411480" y="6601968"/>
            <a:ext cx="3200400" cy="164592"/>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700">
                <a:solidFill>
                  <a:srgbClr val="64748B"/>
                </a:solidFill>
                <a:latin typeface="Aptos"/>
                <a:ea typeface="Aptos"/>
                <a:cs typeface="Aptos"/>
              </a:rPr>
              <a:t>TWC Workbench V2</a:t>
            </a:r>
          </a:p>
        </p:txBody>
      </p:sp>
      <p:sp>
        <p:nvSpPr>
          <p:cNvPr id="25" name="Slide Number Placeholder 0">
            <a:extLst xmlns:a="http://schemas.openxmlformats.org/drawingml/2006/main">
              <a:ext uri="{FF2B5EF4-FFF2-40B4-BE49-F238E27FC236}">
                <a16:creationId xmlns:a16="http://schemas.microsoft.com/office/drawing/2014/main" id="{73DF5101-2EB7-48C9-983C-5506894C6202}"/>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1002</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957719d5084c3b" /><Relationship Type="http://schemas.openxmlformats.org/officeDocument/2006/relationships/slideLayout" Target="/ppt/slideLayouts/slideLayout1.xml" Id="Rbf6f76b74d4542c8" /><Relationship Type="http://schemas.openxmlformats.org/officeDocument/2006/relationships/slideLayout" Target="/ppt/slideLayouts/slideLayout2.xml" Id="Re31f9db29446423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F84F363E-6232-4EBB-8C5F-A8A78FECEAAC}"/>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null</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6f76b74d4542c8"/>
    <p:sldLayoutId xmlns:r="http://schemas.openxmlformats.org/officeDocument/2006/relationships" id="2147483650" r:id="Re31f9db29446423f"/>
  </p:sldLayoutIdLst>
  <p:hf sldNum="0" hdr="0" ftr="0" dt="0"/>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775308316cb4576" /><Relationship Type="http://schemas.openxmlformats.org/officeDocument/2006/relationships/notesSlide" Target="/ppt/notesSlides/notesSlide1.xml" Id="R499ac6df177447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81b06c36f25425f" /><Relationship Type="http://schemas.openxmlformats.org/officeDocument/2006/relationships/notesSlide" Target="/ppt/notesSlides/notesSlide2.xml" Id="R0780c98caaae4b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3e0ad43b3574cf9" /><Relationship Type="http://schemas.openxmlformats.org/officeDocument/2006/relationships/notesSlide" Target="/ppt/notesSlides/notesSlide3.xml" Id="R8212d73cd5974a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5cc9b5270dc4d78" /><Relationship Type="http://schemas.openxmlformats.org/officeDocument/2006/relationships/notesSlide" Target="/ppt/notesSlides/notesSlide4.xml" Id="R5b5897e362b849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82aed0abec04357" /><Relationship Type="http://schemas.openxmlformats.org/officeDocument/2006/relationships/notesSlide" Target="/ppt/notesSlides/notesSlide5.xml" Id="Rf17acf4d6d9c4f4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a2bde9caed04f7d" /><Relationship Type="http://schemas.openxmlformats.org/officeDocument/2006/relationships/notesSlide" Target="/ppt/notesSlides/notesSlide6.xml" Id="Rf4de4573fed041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1044b48c5dd4b32" /><Relationship Type="http://schemas.openxmlformats.org/officeDocument/2006/relationships/notesSlide" Target="/ppt/notesSlides/notesSlide7.xml" Id="Rc5f2167320914e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ae2ac30e97d4292" /><Relationship Type="http://schemas.openxmlformats.org/officeDocument/2006/relationships/notesSlide" Target="/ppt/notesSlides/notesSlide8.xml" Id="Rb0733f2b556a47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2661a8d441343a6" /><Relationship Type="http://schemas.openxmlformats.org/officeDocument/2006/relationships/notesSlide" Target="/ppt/notesSlides/notesSlide9.xml" Id="R94ce296231f141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36fa9eb472b4fda" /><Relationship Type="http://schemas.openxmlformats.org/officeDocument/2006/relationships/notesSlide" Target="/ppt/notesSlides/notesSlide10.xml" Id="R39b100e9408441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4dd320fbc144d00" /><Relationship Type="http://schemas.openxmlformats.org/officeDocument/2006/relationships/notesSlide" Target="/ppt/notesSlides/notesSlide11.xml" Id="R56a2fa24435644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66c6f65bc794869" /><Relationship Type="http://schemas.openxmlformats.org/officeDocument/2006/relationships/notesSlide" Target="/ppt/notesSlides/notesSlide12.xml" Id="R5402ed07142f49a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ec4781e5db24070" /><Relationship Type="http://schemas.openxmlformats.org/officeDocument/2006/relationships/notesSlide" Target="/ppt/notesSlides/notesSlide13.xml" Id="R2a1f10425ff4436e" /></Relationships>
</file>

<file path=ppt/slides/slide1.xml><?xml version="1.0" encoding="utf-8"?>
<p:sld xmlns:p="http://schemas.openxmlformats.org/presentationml/2006/main">
  <p:cSld>
    <p:bg>
      <p:bgPr>
        <a:solidFill xmlns:a="http://schemas.openxmlformats.org/drawingml/2006/main">
          <a:srgbClr val="0B1F3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EF325B3-3C5C-4F70-B44A-84DB03C8076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1F3A"/>
          </a:solidFill>
          <a:ln xmlns:a="http://schemas.openxmlformats.org/drawingml/2006/main" w="12700">
            <a:solidFill>
              <a:srgbClr val="0B1F3A"/>
            </a:solidFill>
            <a:prstDash val="solid"/>
          </a:ln>
        </p:spPr>
      </p:sp>
      <p:sp>
        <p:nvSpPr>
          <p:cNvPr id="3" name="Shape 1">
            <a:extLst xmlns:a="http://schemas.openxmlformats.org/drawingml/2006/main">
              <a:ext uri="{FF2B5EF4-FFF2-40B4-BE49-F238E27FC236}">
                <a16:creationId xmlns:a16="http://schemas.microsoft.com/office/drawing/2014/main" id="{0F86AD19-327A-4B2F-AEF3-DA25D51B325B}"/>
              </a:ext>
            </a:extLst>
          </p:cNvPr>
          <p:cNvSpPr>
            <a:spLocks xmlns:a="http://schemas.openxmlformats.org/drawingml/2006/main" noGrp="1"/>
          </p:cNvSpPr>
          <p:nvPr/>
        </p:nvSpPr>
        <p:spPr>
          <a:xfrm xmlns:a="http://schemas.openxmlformats.org/drawingml/2006/main">
            <a:off x="7909560" y="-457200"/>
            <a:ext cx="4846320" cy="4846320"/>
          </a:xfrm>
          <a:prstGeom xmlns:a="http://schemas.openxmlformats.org/drawingml/2006/main" prst="arc">
            <a:avLst/>
          </a:prstGeom>
          <a:noFill xmlns:a="http://schemas.openxmlformats.org/drawingml/2006/main"/>
          <a:ln xmlns:a="http://schemas.openxmlformats.org/drawingml/2006/main" w="38100">
            <a:solidFill>
              <a:srgbClr val="1D4ED8">
                <a:alpha val="55000"/>
              </a:srgbClr>
            </a:solidFill>
            <a:prstDash val="solid"/>
          </a:ln>
        </p:spPr>
      </p:sp>
      <p:sp>
        <p:nvSpPr>
          <p:cNvPr id="4" name="Shape 2">
            <a:extLst xmlns:a="http://schemas.openxmlformats.org/drawingml/2006/main">
              <a:ext uri="{FF2B5EF4-FFF2-40B4-BE49-F238E27FC236}">
                <a16:creationId xmlns:a16="http://schemas.microsoft.com/office/drawing/2014/main" id="{B2023A90-3BDC-46DE-84A6-34EDD5245C68}"/>
              </a:ext>
            </a:extLst>
          </p:cNvPr>
          <p:cNvSpPr>
            <a:spLocks xmlns:a="http://schemas.openxmlformats.org/drawingml/2006/main" noGrp="1"/>
          </p:cNvSpPr>
          <p:nvPr/>
        </p:nvSpPr>
        <p:spPr>
          <a:xfrm xmlns:a="http://schemas.openxmlformats.org/drawingml/2006/main">
            <a:off x="8641080" y="960120"/>
            <a:ext cx="3291840" cy="3291840"/>
          </a:xfrm>
          <a:prstGeom xmlns:a="http://schemas.openxmlformats.org/drawingml/2006/main" prst="arc">
            <a:avLst/>
          </a:prstGeom>
          <a:noFill xmlns:a="http://schemas.openxmlformats.org/drawingml/2006/main"/>
          <a:ln xmlns:a="http://schemas.openxmlformats.org/drawingml/2006/main" w="33020">
            <a:solidFill>
              <a:srgbClr val="14B8A6">
                <a:alpha val="65000"/>
              </a:srgbClr>
            </a:solidFill>
            <a:prstDash val="solid"/>
          </a:ln>
        </p:spPr>
      </p:sp>
      <p:sp>
        <p:nvSpPr>
          <p:cNvPr id="5" name="Text 3">
            <a:extLst xmlns:a="http://schemas.openxmlformats.org/drawingml/2006/main">
              <a:ext uri="{FF2B5EF4-FFF2-40B4-BE49-F238E27FC236}">
                <a16:creationId xmlns:a16="http://schemas.microsoft.com/office/drawing/2014/main" id="{70F0E2D1-4076-41D1-9D00-D3EEA00E1132}"/>
              </a:ext>
            </a:extLst>
          </p:cNvPr>
          <p:cNvSpPr>
            <a:spLocks xmlns:a="http://schemas.openxmlformats.org/drawingml/2006/main" noGrp="1"/>
          </p:cNvSpPr>
          <p:nvPr/>
        </p:nvSpPr>
        <p:spPr>
          <a:xfrm xmlns:a="http://schemas.openxmlformats.org/drawingml/2006/main">
            <a:off x="640080" y="1143000"/>
            <a:ext cx="77724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200" b="1">
                <a:solidFill>
                  <a:srgbClr val="FFFFFF"/>
                </a:solidFill>
                <a:latin typeface="Aptos Display"/>
                <a:ea typeface="Aptos Display"/>
                <a:cs typeface="Aptos Display"/>
              </a:rPr>
              <a:t>TWC Workbench V2</a:t>
            </a:r>
          </a:p>
        </p:txBody>
      </p:sp>
      <p:sp>
        <p:nvSpPr>
          <p:cNvPr id="6" name="Text 4">
            <a:extLst xmlns:a="http://schemas.openxmlformats.org/drawingml/2006/main">
              <a:ext uri="{FF2B5EF4-FFF2-40B4-BE49-F238E27FC236}">
                <a16:creationId xmlns:a16="http://schemas.microsoft.com/office/drawing/2014/main" id="{D11B03E4-44A0-4463-AB2D-AF15850BAA63}"/>
              </a:ext>
            </a:extLst>
          </p:cNvPr>
          <p:cNvSpPr>
            <a:spLocks xmlns:a="http://schemas.openxmlformats.org/drawingml/2006/main" noGrp="1"/>
          </p:cNvSpPr>
          <p:nvPr/>
        </p:nvSpPr>
        <p:spPr>
          <a:xfrm xmlns:a="http://schemas.openxmlformats.org/drawingml/2006/main">
            <a:off x="685800" y="1856232"/>
            <a:ext cx="67665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a:solidFill>
                  <a:srgbClr val="BFDBFE"/>
                </a:solidFill>
                <a:latin typeface="Aptos"/>
                <a:ea typeface="Aptos"/>
                <a:cs typeface="Aptos"/>
              </a:rPr>
              <a:t>How the application works</a:t>
            </a:r>
          </a:p>
        </p:txBody>
      </p:sp>
      <p:sp>
        <p:nvSpPr>
          <p:cNvPr id="7" name="Text 5">
            <a:extLst xmlns:a="http://schemas.openxmlformats.org/drawingml/2006/main">
              <a:ext uri="{FF2B5EF4-FFF2-40B4-BE49-F238E27FC236}">
                <a16:creationId xmlns:a16="http://schemas.microsoft.com/office/drawing/2014/main" id="{3808864E-580E-4F87-A82A-F92CEDBFB934}"/>
              </a:ext>
            </a:extLst>
          </p:cNvPr>
          <p:cNvSpPr>
            <a:spLocks xmlns:a="http://schemas.openxmlformats.org/drawingml/2006/main" noGrp="1"/>
          </p:cNvSpPr>
          <p:nvPr/>
        </p:nvSpPr>
        <p:spPr>
          <a:xfrm xmlns:a="http://schemas.openxmlformats.org/drawingml/2006/main">
            <a:off x="685800" y="2743200"/>
            <a:ext cx="6309360" cy="96012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lstStyle xmlns:a="http://schemas.openxmlformats.org/drawingml/2006/main"/>
          <a:p xmlns:a="http://schemas.openxmlformats.org/drawingml/2006/main">
            <a:pPr marL="0" indent="0">
              <a:buNone/>
            </a:pPr>
            <a:r>
              <a:rPr sz="1500">
                <a:solidFill>
                  <a:srgbClr val="E2E8F0"/>
                </a:solidFill>
                <a:latin typeface="Aptos"/>
                <a:ea typeface="Aptos"/>
                <a:cs typeface="Aptos"/>
              </a:rPr>
              <a:t>A secure, server-backed web workbench for Teamwork Cloud navigation, model browsing, cache-backed access, developer API workflows, and Cameo plugin ingestion.</a:t>
            </a:r>
          </a:p>
        </p:txBody>
      </p:sp>
      <p:sp>
        <p:nvSpPr>
          <p:cNvPr id="8" name="Shape 6">
            <a:extLst xmlns:a="http://schemas.openxmlformats.org/drawingml/2006/main">
              <a:ext uri="{FF2B5EF4-FFF2-40B4-BE49-F238E27FC236}">
                <a16:creationId xmlns:a16="http://schemas.microsoft.com/office/drawing/2014/main" id="{970859AE-11C5-44B8-967C-A47C91478B89}"/>
              </a:ext>
            </a:extLst>
          </p:cNvPr>
          <p:cNvSpPr>
            <a:spLocks xmlns:a="http://schemas.openxmlformats.org/drawingml/2006/main" noGrp="1"/>
          </p:cNvSpPr>
          <p:nvPr/>
        </p:nvSpPr>
        <p:spPr>
          <a:xfrm xmlns:a="http://schemas.openxmlformats.org/drawingml/2006/main">
            <a:off x="685800" y="4069080"/>
            <a:ext cx="1097280" cy="347472"/>
          </a:xfrm>
          <a:prstGeom xmlns:a="http://schemas.openxmlformats.org/drawingml/2006/main" prst="roundRect">
            <a:avLst>
              <a:gd name="adj" fmla="val 47368"/>
            </a:avLst>
          </a:prstGeom>
          <a:solidFill xmlns:a="http://schemas.openxmlformats.org/drawingml/2006/main">
            <a:srgbClr val="2563EB"/>
          </a:solidFill>
          <a:ln xmlns:a="http://schemas.openxmlformats.org/drawingml/2006/main" w="12700">
            <a:solidFill>
              <a:srgbClr val="2563EB"/>
            </a:solidFill>
            <a:prstDash val="solid"/>
          </a:ln>
        </p:spPr>
      </p:sp>
      <p:sp>
        <p:nvSpPr>
          <p:cNvPr id="9" name="Text 7">
            <a:extLst xmlns:a="http://schemas.openxmlformats.org/drawingml/2006/main">
              <a:ext uri="{FF2B5EF4-FFF2-40B4-BE49-F238E27FC236}">
                <a16:creationId xmlns:a16="http://schemas.microsoft.com/office/drawing/2014/main" id="{DBDA1ED4-7D97-406B-B669-7ABD78714544}"/>
              </a:ext>
            </a:extLst>
          </p:cNvPr>
          <p:cNvSpPr>
            <a:spLocks xmlns:a="http://schemas.openxmlformats.org/drawingml/2006/main" noGrp="1"/>
          </p:cNvSpPr>
          <p:nvPr/>
        </p:nvSpPr>
        <p:spPr>
          <a:xfrm xmlns:a="http://schemas.openxmlformats.org/drawingml/2006/main">
            <a:off x="758952" y="4151376"/>
            <a:ext cx="95097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Aptos"/>
                <a:ea typeface="Aptos"/>
                <a:cs typeface="Aptos"/>
              </a:rPr>
              <a:t>FastAPI</a:t>
            </a:r>
          </a:p>
        </p:txBody>
      </p:sp>
      <p:sp>
        <p:nvSpPr>
          <p:cNvPr id="10" name="Shape 8">
            <a:extLst xmlns:a="http://schemas.openxmlformats.org/drawingml/2006/main">
              <a:ext uri="{FF2B5EF4-FFF2-40B4-BE49-F238E27FC236}">
                <a16:creationId xmlns:a16="http://schemas.microsoft.com/office/drawing/2014/main" id="{9DFFAEAA-927A-4EEC-A5E7-1AFF376034FD}"/>
              </a:ext>
            </a:extLst>
          </p:cNvPr>
          <p:cNvSpPr>
            <a:spLocks xmlns:a="http://schemas.openxmlformats.org/drawingml/2006/main" noGrp="1"/>
          </p:cNvSpPr>
          <p:nvPr/>
        </p:nvSpPr>
        <p:spPr>
          <a:xfrm xmlns:a="http://schemas.openxmlformats.org/drawingml/2006/main">
            <a:off x="1920240" y="4069080"/>
            <a:ext cx="1234440" cy="347472"/>
          </a:xfrm>
          <a:prstGeom xmlns:a="http://schemas.openxmlformats.org/drawingml/2006/main" prst="roundRect">
            <a:avLst>
              <a:gd name="adj" fmla="val 47368"/>
            </a:avLst>
          </a:prstGeom>
          <a:solidFill xmlns:a="http://schemas.openxmlformats.org/drawingml/2006/main">
            <a:srgbClr val="14B8A6"/>
          </a:solidFill>
          <a:ln xmlns:a="http://schemas.openxmlformats.org/drawingml/2006/main" w="12700">
            <a:solidFill>
              <a:srgbClr val="14B8A6"/>
            </a:solidFill>
            <a:prstDash val="solid"/>
          </a:ln>
        </p:spPr>
      </p:sp>
      <p:sp>
        <p:nvSpPr>
          <p:cNvPr id="11" name="Text 9">
            <a:extLst xmlns:a="http://schemas.openxmlformats.org/drawingml/2006/main">
              <a:ext uri="{FF2B5EF4-FFF2-40B4-BE49-F238E27FC236}">
                <a16:creationId xmlns:a16="http://schemas.microsoft.com/office/drawing/2014/main" id="{74A09443-1234-4D00-AE59-28025F5D9787}"/>
              </a:ext>
            </a:extLst>
          </p:cNvPr>
          <p:cNvSpPr>
            <a:spLocks xmlns:a="http://schemas.openxmlformats.org/drawingml/2006/main" noGrp="1"/>
          </p:cNvSpPr>
          <p:nvPr/>
        </p:nvSpPr>
        <p:spPr>
          <a:xfrm xmlns:a="http://schemas.openxmlformats.org/drawingml/2006/main">
            <a:off x="1993392" y="4151376"/>
            <a:ext cx="108813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Aptos"/>
                <a:ea typeface="Aptos"/>
                <a:cs typeface="Aptos"/>
              </a:rPr>
              <a:t>React + MUI</a:t>
            </a:r>
          </a:p>
        </p:txBody>
      </p:sp>
      <p:sp>
        <p:nvSpPr>
          <p:cNvPr id="12" name="Shape 10">
            <a:extLst xmlns:a="http://schemas.openxmlformats.org/drawingml/2006/main">
              <a:ext uri="{FF2B5EF4-FFF2-40B4-BE49-F238E27FC236}">
                <a16:creationId xmlns:a16="http://schemas.microsoft.com/office/drawing/2014/main" id="{5CAC406B-FB20-4548-8E55-7B04B57AF41F}"/>
              </a:ext>
            </a:extLst>
          </p:cNvPr>
          <p:cNvSpPr>
            <a:spLocks xmlns:a="http://schemas.openxmlformats.org/drawingml/2006/main" noGrp="1"/>
          </p:cNvSpPr>
          <p:nvPr/>
        </p:nvSpPr>
        <p:spPr>
          <a:xfrm xmlns:a="http://schemas.openxmlformats.org/drawingml/2006/main">
            <a:off x="3291840" y="4069080"/>
            <a:ext cx="1417320" cy="347472"/>
          </a:xfrm>
          <a:prstGeom xmlns:a="http://schemas.openxmlformats.org/drawingml/2006/main" prst="roundRect">
            <a:avLst>
              <a:gd name="adj" fmla="val 47368"/>
            </a:avLst>
          </a:prstGeom>
          <a:solidFill xmlns:a="http://schemas.openxmlformats.org/drawingml/2006/main">
            <a:srgbClr val="7C3AED"/>
          </a:solidFill>
          <a:ln xmlns:a="http://schemas.openxmlformats.org/drawingml/2006/main" w="12700">
            <a:solidFill>
              <a:srgbClr val="7C3AED"/>
            </a:solidFill>
            <a:prstDash val="solid"/>
          </a:ln>
        </p:spPr>
      </p:sp>
      <p:sp>
        <p:nvSpPr>
          <p:cNvPr id="13" name="Text 11">
            <a:extLst xmlns:a="http://schemas.openxmlformats.org/drawingml/2006/main">
              <a:ext uri="{FF2B5EF4-FFF2-40B4-BE49-F238E27FC236}">
                <a16:creationId xmlns:a16="http://schemas.microsoft.com/office/drawing/2014/main" id="{75D23832-CBCE-4153-8417-E59FDC98A74F}"/>
              </a:ext>
            </a:extLst>
          </p:cNvPr>
          <p:cNvSpPr>
            <a:spLocks xmlns:a="http://schemas.openxmlformats.org/drawingml/2006/main" noGrp="1"/>
          </p:cNvSpPr>
          <p:nvPr/>
        </p:nvSpPr>
        <p:spPr>
          <a:xfrm xmlns:a="http://schemas.openxmlformats.org/drawingml/2006/main">
            <a:off x="3364992" y="4151376"/>
            <a:ext cx="127101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Aptos"/>
                <a:ea typeface="Aptos"/>
                <a:cs typeface="Aptos"/>
              </a:rPr>
              <a:t>TWC Auth</a:t>
            </a:r>
          </a:p>
        </p:txBody>
      </p:sp>
      <p:sp>
        <p:nvSpPr>
          <p:cNvPr id="14" name="Shape 12">
            <a:extLst xmlns:a="http://schemas.openxmlformats.org/drawingml/2006/main">
              <a:ext uri="{FF2B5EF4-FFF2-40B4-BE49-F238E27FC236}">
                <a16:creationId xmlns:a16="http://schemas.microsoft.com/office/drawing/2014/main" id="{CD8E9D01-5031-4D1D-A490-9A029CACD044}"/>
              </a:ext>
            </a:extLst>
          </p:cNvPr>
          <p:cNvSpPr>
            <a:spLocks xmlns:a="http://schemas.openxmlformats.org/drawingml/2006/main" noGrp="1"/>
          </p:cNvSpPr>
          <p:nvPr/>
        </p:nvSpPr>
        <p:spPr>
          <a:xfrm xmlns:a="http://schemas.openxmlformats.org/drawingml/2006/main">
            <a:off x="4846320" y="4069080"/>
            <a:ext cx="1325880" cy="347472"/>
          </a:xfrm>
          <a:prstGeom xmlns:a="http://schemas.openxmlformats.org/drawingml/2006/main" prst="roundRect">
            <a:avLst>
              <a:gd name="adj" fmla="val 47368"/>
            </a:avLst>
          </a:prstGeom>
          <a:solidFill xmlns:a="http://schemas.openxmlformats.org/drawingml/2006/main">
            <a:srgbClr val="10B981"/>
          </a:solidFill>
          <a:ln xmlns:a="http://schemas.openxmlformats.org/drawingml/2006/main" w="12700">
            <a:solidFill>
              <a:srgbClr val="10B981"/>
            </a:solidFill>
            <a:prstDash val="solid"/>
          </a:ln>
        </p:spPr>
      </p:sp>
      <p:sp>
        <p:nvSpPr>
          <p:cNvPr id="15" name="Text 13">
            <a:extLst xmlns:a="http://schemas.openxmlformats.org/drawingml/2006/main">
              <a:ext uri="{FF2B5EF4-FFF2-40B4-BE49-F238E27FC236}">
                <a16:creationId xmlns:a16="http://schemas.microsoft.com/office/drawing/2014/main" id="{C2541A53-BF51-44CD-831E-8585A6ACC023}"/>
              </a:ext>
            </a:extLst>
          </p:cNvPr>
          <p:cNvSpPr>
            <a:spLocks xmlns:a="http://schemas.openxmlformats.org/drawingml/2006/main" noGrp="1"/>
          </p:cNvSpPr>
          <p:nvPr/>
        </p:nvSpPr>
        <p:spPr>
          <a:xfrm xmlns:a="http://schemas.openxmlformats.org/drawingml/2006/main">
            <a:off x="4919472" y="4151376"/>
            <a:ext cx="117957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Aptos"/>
                <a:ea typeface="Aptos"/>
                <a:cs typeface="Aptos"/>
              </a:rPr>
              <a:t>Cache API</a:t>
            </a:r>
          </a:p>
        </p:txBody>
      </p:sp>
      <p:sp>
        <p:nvSpPr>
          <p:cNvPr id="16" name="Shape 14">
            <a:extLst xmlns:a="http://schemas.openxmlformats.org/drawingml/2006/main">
              <a:ext uri="{FF2B5EF4-FFF2-40B4-BE49-F238E27FC236}">
                <a16:creationId xmlns:a16="http://schemas.microsoft.com/office/drawing/2014/main" id="{DFB55BBC-BEE6-4370-9552-89969D19A15B}"/>
              </a:ext>
            </a:extLst>
          </p:cNvPr>
          <p:cNvSpPr>
            <a:spLocks xmlns:a="http://schemas.openxmlformats.org/drawingml/2006/main" noGrp="1"/>
          </p:cNvSpPr>
          <p:nvPr/>
        </p:nvSpPr>
        <p:spPr>
          <a:xfrm xmlns:a="http://schemas.openxmlformats.org/drawingml/2006/main">
            <a:off x="6309360" y="4069080"/>
            <a:ext cx="1554480" cy="347472"/>
          </a:xfrm>
          <a:prstGeom xmlns:a="http://schemas.openxmlformats.org/drawingml/2006/main" prst="roundRect">
            <a:avLst>
              <a:gd name="adj" fmla="val 47368"/>
            </a:avLst>
          </a:prstGeom>
          <a:solidFill xmlns:a="http://schemas.openxmlformats.org/drawingml/2006/main">
            <a:srgbClr val="F59E0B"/>
          </a:solidFill>
          <a:ln xmlns:a="http://schemas.openxmlformats.org/drawingml/2006/main" w="12700">
            <a:solidFill>
              <a:srgbClr val="F59E0B"/>
            </a:solidFill>
            <a:prstDash val="solid"/>
          </a:ln>
        </p:spPr>
      </p:sp>
      <p:sp>
        <p:nvSpPr>
          <p:cNvPr id="17" name="Text 15">
            <a:extLst xmlns:a="http://schemas.openxmlformats.org/drawingml/2006/main">
              <a:ext uri="{FF2B5EF4-FFF2-40B4-BE49-F238E27FC236}">
                <a16:creationId xmlns:a16="http://schemas.microsoft.com/office/drawing/2014/main" id="{CA09A01F-0154-4CF9-B106-E76FD83EFE8C}"/>
              </a:ext>
            </a:extLst>
          </p:cNvPr>
          <p:cNvSpPr>
            <a:spLocks xmlns:a="http://schemas.openxmlformats.org/drawingml/2006/main" noGrp="1"/>
          </p:cNvSpPr>
          <p:nvPr/>
        </p:nvSpPr>
        <p:spPr>
          <a:xfrm xmlns:a="http://schemas.openxmlformats.org/drawingml/2006/main">
            <a:off x="6382512" y="4151376"/>
            <a:ext cx="140817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Aptos"/>
                <a:ea typeface="Aptos"/>
                <a:cs typeface="Aptos"/>
              </a:rPr>
              <a:t>Cameo Plugin</a:t>
            </a:r>
          </a:p>
        </p:txBody>
      </p:sp>
      <p:sp>
        <p:nvSpPr>
          <p:cNvPr id="25" name="Slide Number Placeholder 0">
            <a:extLst xmlns:a="http://schemas.openxmlformats.org/drawingml/2006/main">
              <a:ext uri="{FF2B5EF4-FFF2-40B4-BE49-F238E27FC236}">
                <a16:creationId xmlns:a16="http://schemas.microsoft.com/office/drawing/2014/main" id="{669BCCC0-2725-4D2E-B416-0C2D28390963}"/>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1</a:t>
            </a:fld>
          </a:p>
        </p:txBody>
      </p:sp>
    </p:spTree>
    <p:extLst>
      <p:ext uri="{BB962C8B-B14F-4D97-AF65-F5344CB8AC3E}">
        <p14:creationId xmlns:p14="http://schemas.microsoft.com/office/powerpoint/2010/main" val="1563810787"/>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A9147A3-C122-4543-9AB2-DB2B0E50C0E5}"/>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76EE01CE-7143-4A96-8C4C-2C9FF9DC7AC8}"/>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PURPOSE</a:t>
            </a:r>
          </a:p>
        </p:txBody>
      </p:sp>
      <p:sp>
        <p:nvSpPr>
          <p:cNvPr id="4" name="Text 2">
            <a:extLst xmlns:a="http://schemas.openxmlformats.org/drawingml/2006/main">
              <a:ext uri="{FF2B5EF4-FFF2-40B4-BE49-F238E27FC236}">
                <a16:creationId xmlns:a16="http://schemas.microsoft.com/office/drawing/2014/main" id="{CAB0719B-68B8-40D8-9AE0-7AA461A33DD9}"/>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What the app is built to solve</a:t>
            </a:r>
          </a:p>
        </p:txBody>
      </p:sp>
      <p:sp>
        <p:nvSpPr>
          <p:cNvPr id="5" name="Shape 3">
            <a:extLst xmlns:a="http://schemas.openxmlformats.org/drawingml/2006/main">
              <a:ext uri="{FF2B5EF4-FFF2-40B4-BE49-F238E27FC236}">
                <a16:creationId xmlns:a16="http://schemas.microsoft.com/office/drawing/2014/main" id="{5B35F8C1-1E7D-4ACC-84A7-E502F2FB8EDE}"/>
              </a:ext>
            </a:extLst>
          </p:cNvPr>
          <p:cNvSpPr>
            <a:spLocks xmlns:a="http://schemas.openxmlformats.org/drawingml/2006/main" noGrp="1"/>
          </p:cNvSpPr>
          <p:nvPr/>
        </p:nvSpPr>
        <p:spPr>
          <a:xfrm xmlns:a="http://schemas.openxmlformats.org/drawingml/2006/main">
            <a:off x="594360" y="1508760"/>
            <a:ext cx="3520440" cy="4160520"/>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Shape 4">
            <a:extLst xmlns:a="http://schemas.openxmlformats.org/drawingml/2006/main">
              <a:ext uri="{FF2B5EF4-FFF2-40B4-BE49-F238E27FC236}">
                <a16:creationId xmlns:a16="http://schemas.microsoft.com/office/drawing/2014/main" id="{0FFF58D5-7500-423D-BA0C-53CB8D87F7A9}"/>
              </a:ext>
            </a:extLst>
          </p:cNvPr>
          <p:cNvSpPr>
            <a:spLocks xmlns:a="http://schemas.openxmlformats.org/drawingml/2006/main" noGrp="1"/>
          </p:cNvSpPr>
          <p:nvPr/>
        </p:nvSpPr>
        <p:spPr>
          <a:xfrm xmlns:a="http://schemas.openxmlformats.org/drawingml/2006/main">
            <a:off x="758952" y="1673352"/>
            <a:ext cx="420624" cy="301752"/>
          </a:xfrm>
          <a:prstGeom xmlns:a="http://schemas.openxmlformats.org/drawingml/2006/main" prst="roundRect">
            <a:avLst>
              <a:gd name="adj" fmla="val 24242"/>
            </a:avLst>
          </a:prstGeom>
          <a:solidFill xmlns:a="http://schemas.openxmlformats.org/drawingml/2006/main">
            <a:srgbClr val="2563EB"/>
          </a:solidFill>
          <a:ln xmlns:a="http://schemas.openxmlformats.org/drawingml/2006/main" w="12700">
            <a:solidFill>
              <a:srgbClr val="2563EB"/>
            </a:solidFill>
            <a:prstDash val="solid"/>
          </a:ln>
        </p:spPr>
      </p:sp>
      <p:sp>
        <p:nvSpPr>
          <p:cNvPr id="7" name="Text 5">
            <a:extLst xmlns:a="http://schemas.openxmlformats.org/drawingml/2006/main">
              <a:ext uri="{FF2B5EF4-FFF2-40B4-BE49-F238E27FC236}">
                <a16:creationId xmlns:a16="http://schemas.microsoft.com/office/drawing/2014/main" id="{A1B36BC4-8BFE-464E-8D42-08B34F174C07}"/>
              </a:ext>
            </a:extLst>
          </p:cNvPr>
          <p:cNvSpPr>
            <a:spLocks xmlns:a="http://schemas.openxmlformats.org/drawingml/2006/main" noGrp="1"/>
          </p:cNvSpPr>
          <p:nvPr/>
        </p:nvSpPr>
        <p:spPr>
          <a:xfrm xmlns:a="http://schemas.openxmlformats.org/drawingml/2006/main">
            <a:off x="758952" y="171450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1</a:t>
            </a:r>
          </a:p>
        </p:txBody>
      </p:sp>
      <p:sp>
        <p:nvSpPr>
          <p:cNvPr id="8" name="Text 6">
            <a:extLst xmlns:a="http://schemas.openxmlformats.org/drawingml/2006/main">
              <a:ext uri="{FF2B5EF4-FFF2-40B4-BE49-F238E27FC236}">
                <a16:creationId xmlns:a16="http://schemas.microsoft.com/office/drawing/2014/main" id="{1AB70686-7903-4C28-BFAC-4B6D94F69714}"/>
              </a:ext>
            </a:extLst>
          </p:cNvPr>
          <p:cNvSpPr>
            <a:spLocks xmlns:a="http://schemas.openxmlformats.org/drawingml/2006/main" noGrp="1"/>
          </p:cNvSpPr>
          <p:nvPr/>
        </p:nvSpPr>
        <p:spPr>
          <a:xfrm xmlns:a="http://schemas.openxmlformats.org/drawingml/2006/main">
            <a:off x="1298448" y="1673352"/>
            <a:ext cx="26151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One workbench over TWC</a:t>
            </a:r>
          </a:p>
        </p:txBody>
      </p:sp>
      <p:sp>
        <p:nvSpPr>
          <p:cNvPr id="9" name="Text 7">
            <a:extLst xmlns:a="http://schemas.openxmlformats.org/drawingml/2006/main">
              <a:ext uri="{FF2B5EF4-FFF2-40B4-BE49-F238E27FC236}">
                <a16:creationId xmlns:a16="http://schemas.microsoft.com/office/drawing/2014/main" id="{E6698826-21BC-41FF-A30B-EFCE3FDE7CF4}"/>
              </a:ext>
            </a:extLst>
          </p:cNvPr>
          <p:cNvSpPr>
            <a:spLocks xmlns:a="http://schemas.openxmlformats.org/drawingml/2006/main" noGrp="1"/>
          </p:cNvSpPr>
          <p:nvPr/>
        </p:nvSpPr>
        <p:spPr>
          <a:xfrm xmlns:a="http://schemas.openxmlformats.org/drawingml/2006/main">
            <a:off x="795528" y="2130552"/>
            <a:ext cx="3118104" cy="33832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50">
                <a:solidFill>
                  <a:srgbClr val="475569"/>
                </a:solidFill>
                <a:latin typeface="Aptos"/>
                <a:ea typeface="Aptos"/>
                <a:cs typeface="Aptos"/>
              </a:rPr>
              <a:t>Users get a browser-based place to select a configured Teamwork Cloud server, sign in, browse projects, inspect models, view item details, compare revisions, and work with cached model data.</a:t>
            </a:r>
          </a:p>
        </p:txBody>
      </p:sp>
      <p:sp>
        <p:nvSpPr>
          <p:cNvPr id="10" name="Shape 8">
            <a:extLst xmlns:a="http://schemas.openxmlformats.org/drawingml/2006/main">
              <a:ext uri="{FF2B5EF4-FFF2-40B4-BE49-F238E27FC236}">
                <a16:creationId xmlns:a16="http://schemas.microsoft.com/office/drawing/2014/main" id="{0D747A36-D3DF-49A6-A1A0-8C90DBB22588}"/>
              </a:ext>
            </a:extLst>
          </p:cNvPr>
          <p:cNvSpPr>
            <a:spLocks xmlns:a="http://schemas.openxmlformats.org/drawingml/2006/main" noGrp="1"/>
          </p:cNvSpPr>
          <p:nvPr/>
        </p:nvSpPr>
        <p:spPr>
          <a:xfrm xmlns:a="http://schemas.openxmlformats.org/drawingml/2006/main">
            <a:off x="4343400" y="1508760"/>
            <a:ext cx="3520440" cy="4160520"/>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1" name="Shape 9">
            <a:extLst xmlns:a="http://schemas.openxmlformats.org/drawingml/2006/main">
              <a:ext uri="{FF2B5EF4-FFF2-40B4-BE49-F238E27FC236}">
                <a16:creationId xmlns:a16="http://schemas.microsoft.com/office/drawing/2014/main" id="{F3EC8AB6-72E2-4BD0-B736-C7CDF3409348}"/>
              </a:ext>
            </a:extLst>
          </p:cNvPr>
          <p:cNvSpPr>
            <a:spLocks xmlns:a="http://schemas.openxmlformats.org/drawingml/2006/main" noGrp="1"/>
          </p:cNvSpPr>
          <p:nvPr/>
        </p:nvSpPr>
        <p:spPr>
          <a:xfrm xmlns:a="http://schemas.openxmlformats.org/drawingml/2006/main">
            <a:off x="4507992" y="1673352"/>
            <a:ext cx="420624" cy="301752"/>
          </a:xfrm>
          <a:prstGeom xmlns:a="http://schemas.openxmlformats.org/drawingml/2006/main" prst="roundRect">
            <a:avLst>
              <a:gd name="adj" fmla="val 24242"/>
            </a:avLst>
          </a:prstGeom>
          <a:solidFill xmlns:a="http://schemas.openxmlformats.org/drawingml/2006/main">
            <a:srgbClr val="14B8A6"/>
          </a:solidFill>
          <a:ln xmlns:a="http://schemas.openxmlformats.org/drawingml/2006/main" w="12700">
            <a:solidFill>
              <a:srgbClr val="14B8A6"/>
            </a:solidFill>
            <a:prstDash val="solid"/>
          </a:ln>
        </p:spPr>
      </p:sp>
      <p:sp>
        <p:nvSpPr>
          <p:cNvPr id="12" name="Text 10">
            <a:extLst xmlns:a="http://schemas.openxmlformats.org/drawingml/2006/main">
              <a:ext uri="{FF2B5EF4-FFF2-40B4-BE49-F238E27FC236}">
                <a16:creationId xmlns:a16="http://schemas.microsoft.com/office/drawing/2014/main" id="{598406D7-56DD-492F-8091-D3ACEE4CBB05}"/>
              </a:ext>
            </a:extLst>
          </p:cNvPr>
          <p:cNvSpPr>
            <a:spLocks xmlns:a="http://schemas.openxmlformats.org/drawingml/2006/main" noGrp="1"/>
          </p:cNvSpPr>
          <p:nvPr/>
        </p:nvSpPr>
        <p:spPr>
          <a:xfrm xmlns:a="http://schemas.openxmlformats.org/drawingml/2006/main">
            <a:off x="4507992" y="171450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2</a:t>
            </a:r>
          </a:p>
        </p:txBody>
      </p:sp>
      <p:sp>
        <p:nvSpPr>
          <p:cNvPr id="13" name="Text 11">
            <a:extLst xmlns:a="http://schemas.openxmlformats.org/drawingml/2006/main">
              <a:ext uri="{FF2B5EF4-FFF2-40B4-BE49-F238E27FC236}">
                <a16:creationId xmlns:a16="http://schemas.microsoft.com/office/drawing/2014/main" id="{E2D9CC0F-30A4-47E4-9289-5BE8E49F7EC4}"/>
              </a:ext>
            </a:extLst>
          </p:cNvPr>
          <p:cNvSpPr>
            <a:spLocks xmlns:a="http://schemas.openxmlformats.org/drawingml/2006/main" noGrp="1"/>
          </p:cNvSpPr>
          <p:nvPr/>
        </p:nvSpPr>
        <p:spPr>
          <a:xfrm xmlns:a="http://schemas.openxmlformats.org/drawingml/2006/main">
            <a:off x="5047488" y="1673352"/>
            <a:ext cx="26151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Backend-controlled access</a:t>
            </a:r>
          </a:p>
        </p:txBody>
      </p:sp>
      <p:sp>
        <p:nvSpPr>
          <p:cNvPr id="14" name="Text 12">
            <a:extLst xmlns:a="http://schemas.openxmlformats.org/drawingml/2006/main">
              <a:ext uri="{FF2B5EF4-FFF2-40B4-BE49-F238E27FC236}">
                <a16:creationId xmlns:a16="http://schemas.microsoft.com/office/drawing/2014/main" id="{5475032B-4395-4C3B-9167-AA4360182B68}"/>
              </a:ext>
            </a:extLst>
          </p:cNvPr>
          <p:cNvSpPr>
            <a:spLocks xmlns:a="http://schemas.openxmlformats.org/drawingml/2006/main" noGrp="1"/>
          </p:cNvSpPr>
          <p:nvPr/>
        </p:nvSpPr>
        <p:spPr>
          <a:xfrm xmlns:a="http://schemas.openxmlformats.org/drawingml/2006/main">
            <a:off x="4544568" y="2130552"/>
            <a:ext cx="3118104" cy="33832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50">
                <a:solidFill>
                  <a:srgbClr val="475569"/>
                </a:solidFill>
                <a:latin typeface="Aptos"/>
                <a:ea typeface="Aptos"/>
                <a:cs typeface="Aptos"/>
              </a:rPr>
              <a:t>The browser does not call Teamwork Cloud directly. The backend owns sessions, delegated credentials, server presets, capability probing, adapter logic, and TWC API communication.</a:t>
            </a:r>
          </a:p>
        </p:txBody>
      </p:sp>
      <p:sp>
        <p:nvSpPr>
          <p:cNvPr id="15" name="Shape 13">
            <a:extLst xmlns:a="http://schemas.openxmlformats.org/drawingml/2006/main">
              <a:ext uri="{FF2B5EF4-FFF2-40B4-BE49-F238E27FC236}">
                <a16:creationId xmlns:a16="http://schemas.microsoft.com/office/drawing/2014/main" id="{D8019938-59CF-401E-AE88-04A2D7A07556}"/>
              </a:ext>
            </a:extLst>
          </p:cNvPr>
          <p:cNvSpPr>
            <a:spLocks xmlns:a="http://schemas.openxmlformats.org/drawingml/2006/main" noGrp="1"/>
          </p:cNvSpPr>
          <p:nvPr/>
        </p:nvSpPr>
        <p:spPr>
          <a:xfrm xmlns:a="http://schemas.openxmlformats.org/drawingml/2006/main">
            <a:off x="8092440" y="1508760"/>
            <a:ext cx="3520440" cy="4160520"/>
          </a:xfrm>
          <a:prstGeom xmlns:a="http://schemas.openxmlformats.org/drawingml/2006/main" prst="roundRect">
            <a:avLst>
              <a:gd name="adj" fmla="val 3117"/>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6" name="Shape 14">
            <a:extLst xmlns:a="http://schemas.openxmlformats.org/drawingml/2006/main">
              <a:ext uri="{FF2B5EF4-FFF2-40B4-BE49-F238E27FC236}">
                <a16:creationId xmlns:a16="http://schemas.microsoft.com/office/drawing/2014/main" id="{BB96CE89-F471-4FA6-998F-8024025BBD0B}"/>
              </a:ext>
            </a:extLst>
          </p:cNvPr>
          <p:cNvSpPr>
            <a:spLocks xmlns:a="http://schemas.openxmlformats.org/drawingml/2006/main" noGrp="1"/>
          </p:cNvSpPr>
          <p:nvPr/>
        </p:nvSpPr>
        <p:spPr>
          <a:xfrm xmlns:a="http://schemas.openxmlformats.org/drawingml/2006/main">
            <a:off x="8257032" y="1673352"/>
            <a:ext cx="420624" cy="301752"/>
          </a:xfrm>
          <a:prstGeom xmlns:a="http://schemas.openxmlformats.org/drawingml/2006/main" prst="roundRect">
            <a:avLst>
              <a:gd name="adj" fmla="val 24242"/>
            </a:avLst>
          </a:prstGeom>
          <a:solidFill xmlns:a="http://schemas.openxmlformats.org/drawingml/2006/main">
            <a:srgbClr val="10B981"/>
          </a:solidFill>
          <a:ln xmlns:a="http://schemas.openxmlformats.org/drawingml/2006/main" w="12700">
            <a:solidFill>
              <a:srgbClr val="10B981"/>
            </a:solidFill>
            <a:prstDash val="solid"/>
          </a:ln>
        </p:spPr>
      </p:sp>
      <p:sp>
        <p:nvSpPr>
          <p:cNvPr id="17" name="Text 15">
            <a:extLst xmlns:a="http://schemas.openxmlformats.org/drawingml/2006/main">
              <a:ext uri="{FF2B5EF4-FFF2-40B4-BE49-F238E27FC236}">
                <a16:creationId xmlns:a16="http://schemas.microsoft.com/office/drawing/2014/main" id="{DDA5A52E-3548-4400-B65B-C53959886330}"/>
              </a:ext>
            </a:extLst>
          </p:cNvPr>
          <p:cNvSpPr>
            <a:spLocks xmlns:a="http://schemas.openxmlformats.org/drawingml/2006/main" noGrp="1"/>
          </p:cNvSpPr>
          <p:nvPr/>
        </p:nvSpPr>
        <p:spPr>
          <a:xfrm xmlns:a="http://schemas.openxmlformats.org/drawingml/2006/main">
            <a:off x="8257032" y="171450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3</a:t>
            </a:r>
          </a:p>
        </p:txBody>
      </p:sp>
      <p:sp>
        <p:nvSpPr>
          <p:cNvPr id="18" name="Text 16">
            <a:extLst xmlns:a="http://schemas.openxmlformats.org/drawingml/2006/main">
              <a:ext uri="{FF2B5EF4-FFF2-40B4-BE49-F238E27FC236}">
                <a16:creationId xmlns:a16="http://schemas.microsoft.com/office/drawing/2014/main" id="{7DEE4778-D00B-4008-8184-12698684E3D6}"/>
              </a:ext>
            </a:extLst>
          </p:cNvPr>
          <p:cNvSpPr>
            <a:spLocks xmlns:a="http://schemas.openxmlformats.org/drawingml/2006/main" noGrp="1"/>
          </p:cNvSpPr>
          <p:nvPr/>
        </p:nvSpPr>
        <p:spPr>
          <a:xfrm xmlns:a="http://schemas.openxmlformats.org/drawingml/2006/main">
            <a:off x="8796528" y="1673352"/>
            <a:ext cx="26151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Cache + automation bridge</a:t>
            </a:r>
          </a:p>
        </p:txBody>
      </p:sp>
      <p:sp>
        <p:nvSpPr>
          <p:cNvPr id="19" name="Text 17">
            <a:extLst xmlns:a="http://schemas.openxmlformats.org/drawingml/2006/main">
              <a:ext uri="{FF2B5EF4-FFF2-40B4-BE49-F238E27FC236}">
                <a16:creationId xmlns:a16="http://schemas.microsoft.com/office/drawing/2014/main" id="{D6C44CF4-7A01-48AC-B816-3A9BBDC989C2}"/>
              </a:ext>
            </a:extLst>
          </p:cNvPr>
          <p:cNvSpPr>
            <a:spLocks xmlns:a="http://schemas.openxmlformats.org/drawingml/2006/main" noGrp="1"/>
          </p:cNvSpPr>
          <p:nvPr/>
        </p:nvSpPr>
        <p:spPr>
          <a:xfrm xmlns:a="http://schemas.openxmlformats.org/drawingml/2006/main">
            <a:off x="8293608" y="2130552"/>
            <a:ext cx="3118104" cy="33832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50">
                <a:solidFill>
                  <a:srgbClr val="475569"/>
                </a:solidFill>
                <a:latin typeface="Aptos"/>
                <a:ea typeface="Aptos"/>
                <a:cs typeface="Aptos"/>
              </a:rPr>
              <a:t>The system can serve branch data from a shared cache, expose scoped developer API keys, and accept Cameo plugin snapshots or deltas for faster model access.</a:t>
            </a:r>
          </a:p>
        </p:txBody>
      </p:sp>
      <p:sp>
        <p:nvSpPr>
          <p:cNvPr id="25" name="Slide Number Placeholder 0">
            <a:extLst xmlns:a="http://schemas.openxmlformats.org/drawingml/2006/main">
              <a:ext uri="{FF2B5EF4-FFF2-40B4-BE49-F238E27FC236}">
                <a16:creationId xmlns:a16="http://schemas.microsoft.com/office/drawing/2014/main" id="{8684C850-7466-484C-933C-1EBA4015CFCD}"/>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2</a:t>
            </a:fld>
          </a:p>
        </p:txBody>
      </p:sp>
    </p:spTree>
    <p:extLst>
      <p:ext uri="{BB962C8B-B14F-4D97-AF65-F5344CB8AC3E}">
        <p14:creationId xmlns:p14="http://schemas.microsoft.com/office/powerpoint/2010/main" val="1029774734"/>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60968A-7FE7-430A-BB3A-8C05D62E0AA6}"/>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98F961FD-7545-4D98-A3F7-A3F905E6810C}"/>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SYSTEM DESIGN</a:t>
            </a:r>
          </a:p>
        </p:txBody>
      </p:sp>
      <p:sp>
        <p:nvSpPr>
          <p:cNvPr id="4" name="Text 2">
            <a:extLst xmlns:a="http://schemas.openxmlformats.org/drawingml/2006/main">
              <a:ext uri="{FF2B5EF4-FFF2-40B4-BE49-F238E27FC236}">
                <a16:creationId xmlns:a16="http://schemas.microsoft.com/office/drawing/2014/main" id="{685A38A2-3940-46AA-B9A5-BECAE5D31B45}"/>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High-level architecture</a:t>
            </a:r>
          </a:p>
        </p:txBody>
      </p:sp>
      <p:sp>
        <p:nvSpPr>
          <p:cNvPr id="5" name="Shape 3">
            <a:extLst xmlns:a="http://schemas.openxmlformats.org/drawingml/2006/main">
              <a:ext uri="{FF2B5EF4-FFF2-40B4-BE49-F238E27FC236}">
                <a16:creationId xmlns:a16="http://schemas.microsoft.com/office/drawing/2014/main" id="{D4980E18-8C7C-4468-9197-C3AE1E13564D}"/>
              </a:ext>
            </a:extLst>
          </p:cNvPr>
          <p:cNvSpPr>
            <a:spLocks xmlns:a="http://schemas.openxmlformats.org/drawingml/2006/main" noGrp="1"/>
          </p:cNvSpPr>
          <p:nvPr/>
        </p:nvSpPr>
        <p:spPr>
          <a:xfrm xmlns:a="http://schemas.openxmlformats.org/drawingml/2006/main">
            <a:off x="502920" y="1234440"/>
            <a:ext cx="2331720" cy="1143000"/>
          </a:xfrm>
          <a:prstGeom xmlns:a="http://schemas.openxmlformats.org/drawingml/2006/main" prst="roundRect">
            <a:avLst>
              <a:gd name="adj" fmla="val 9600"/>
            </a:avLst>
          </a:prstGeom>
          <a:solidFill xmlns:a="http://schemas.openxmlformats.org/drawingml/2006/main">
            <a:srgbClr val="EEF6FF"/>
          </a:solidFill>
          <a:ln xmlns:a="http://schemas.openxmlformats.org/drawingml/2006/main" w="12700">
            <a:solidFill>
              <a:srgbClr val="BFDBFE"/>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Text 4">
            <a:extLst xmlns:a="http://schemas.openxmlformats.org/drawingml/2006/main">
              <a:ext uri="{FF2B5EF4-FFF2-40B4-BE49-F238E27FC236}">
                <a16:creationId xmlns:a16="http://schemas.microsoft.com/office/drawing/2014/main" id="{BD45F1D2-4C32-4F65-8F93-9092B3A7CF5D}"/>
              </a:ext>
            </a:extLst>
          </p:cNvPr>
          <p:cNvSpPr>
            <a:spLocks xmlns:a="http://schemas.openxmlformats.org/drawingml/2006/main" noGrp="1"/>
          </p:cNvSpPr>
          <p:nvPr/>
        </p:nvSpPr>
        <p:spPr>
          <a:xfrm xmlns:a="http://schemas.openxmlformats.org/drawingml/2006/main">
            <a:off x="704088" y="1399032"/>
            <a:ext cx="19293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2563EB"/>
                </a:solidFill>
                <a:latin typeface="Aptos Display"/>
                <a:ea typeface="Aptos Display"/>
                <a:cs typeface="Aptos Display"/>
              </a:rPr>
              <a:t>User Browser</a:t>
            </a:r>
          </a:p>
        </p:txBody>
      </p:sp>
      <p:sp>
        <p:nvSpPr>
          <p:cNvPr id="7" name="Text 5">
            <a:extLst xmlns:a="http://schemas.openxmlformats.org/drawingml/2006/main">
              <a:ext uri="{FF2B5EF4-FFF2-40B4-BE49-F238E27FC236}">
                <a16:creationId xmlns:a16="http://schemas.microsoft.com/office/drawing/2014/main" id="{C38E98E2-98D7-4A35-9688-2C61C9109886}"/>
              </a:ext>
            </a:extLst>
          </p:cNvPr>
          <p:cNvSpPr>
            <a:spLocks xmlns:a="http://schemas.openxmlformats.org/drawingml/2006/main" noGrp="1"/>
          </p:cNvSpPr>
          <p:nvPr/>
        </p:nvSpPr>
        <p:spPr>
          <a:xfrm xmlns:a="http://schemas.openxmlformats.org/drawingml/2006/main">
            <a:off x="704088" y="1856232"/>
            <a:ext cx="1929384"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50">
                <a:solidFill>
                  <a:srgbClr val="475569"/>
                </a:solidFill>
                <a:latin typeface="Aptos"/>
                <a:ea typeface="Aptos"/>
                <a:cs typeface="Aptos"/>
              </a:rPr>
              <a:t>React + TypeScript</a:t>
            </a:r>
          </a:p>
          <a:p xmlns:a="http://schemas.openxmlformats.org/drawingml/2006/main">
            <a:pPr marL="0" indent="0">
              <a:buNone/>
            </a:pPr>
            <a:r>
              <a:rPr sz="1050">
                <a:solidFill>
                  <a:srgbClr val="475569"/>
                </a:solidFill>
                <a:latin typeface="Aptos"/>
                <a:ea typeface="Aptos"/>
                <a:cs typeface="Aptos"/>
              </a:rPr>
              <a:t>Material UI</a:t>
            </a:r>
          </a:p>
          <a:p xmlns:a="http://schemas.openxmlformats.org/drawingml/2006/main">
            <a:pPr marL="0" indent="0">
              <a:buNone/>
            </a:pPr>
            <a:r>
              <a:rPr sz="1050">
                <a:solidFill>
                  <a:srgbClr val="475569"/>
                </a:solidFill>
                <a:latin typeface="Aptos"/>
                <a:ea typeface="Aptos"/>
                <a:cs typeface="Aptos"/>
              </a:rPr>
              <a:t>TanStack Query</a:t>
            </a:r>
          </a:p>
        </p:txBody>
      </p:sp>
      <p:sp>
        <p:nvSpPr>
          <p:cNvPr id="8" name="Shape 6">
            <a:extLst xmlns:a="http://schemas.openxmlformats.org/drawingml/2006/main">
              <a:ext uri="{FF2B5EF4-FFF2-40B4-BE49-F238E27FC236}">
                <a16:creationId xmlns:a16="http://schemas.microsoft.com/office/drawing/2014/main" id="{A87217BD-0ADD-44BD-9396-A92E64386AFA}"/>
              </a:ext>
            </a:extLst>
          </p:cNvPr>
          <p:cNvSpPr>
            <a:spLocks xmlns:a="http://schemas.openxmlformats.org/drawingml/2006/main" noGrp="1"/>
          </p:cNvSpPr>
          <p:nvPr/>
        </p:nvSpPr>
        <p:spPr>
          <a:xfrm xmlns:a="http://schemas.openxmlformats.org/drawingml/2006/main">
            <a:off x="3383280" y="1097280"/>
            <a:ext cx="2468880" cy="1417320"/>
          </a:xfrm>
          <a:prstGeom xmlns:a="http://schemas.openxmlformats.org/drawingml/2006/main" prst="roundRect">
            <a:avLst>
              <a:gd name="adj" fmla="val 7742"/>
            </a:avLst>
          </a:prstGeom>
          <a:solidFill xmlns:a="http://schemas.openxmlformats.org/drawingml/2006/main">
            <a:srgbClr val="F0FDFA"/>
          </a:solidFill>
          <a:ln xmlns:a="http://schemas.openxmlformats.org/drawingml/2006/main" w="12700">
            <a:solidFill>
              <a:srgbClr val="99F6E4"/>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9" name="Text 7">
            <a:extLst xmlns:a="http://schemas.openxmlformats.org/drawingml/2006/main">
              <a:ext uri="{FF2B5EF4-FFF2-40B4-BE49-F238E27FC236}">
                <a16:creationId xmlns:a16="http://schemas.microsoft.com/office/drawing/2014/main" id="{25DD7457-8056-4703-BC71-B84DD9184113}"/>
              </a:ext>
            </a:extLst>
          </p:cNvPr>
          <p:cNvSpPr>
            <a:spLocks xmlns:a="http://schemas.openxmlformats.org/drawingml/2006/main" noGrp="1"/>
          </p:cNvSpPr>
          <p:nvPr/>
        </p:nvSpPr>
        <p:spPr>
          <a:xfrm xmlns:a="http://schemas.openxmlformats.org/drawingml/2006/main">
            <a:off x="3584448" y="1261872"/>
            <a:ext cx="206654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4B8A6"/>
                </a:solidFill>
                <a:latin typeface="Aptos Display"/>
                <a:ea typeface="Aptos Display"/>
                <a:cs typeface="Aptos Display"/>
              </a:rPr>
              <a:t>FastAPI Backend</a:t>
            </a:r>
          </a:p>
        </p:txBody>
      </p:sp>
      <p:sp>
        <p:nvSpPr>
          <p:cNvPr id="10" name="Text 8">
            <a:extLst xmlns:a="http://schemas.openxmlformats.org/drawingml/2006/main">
              <a:ext uri="{FF2B5EF4-FFF2-40B4-BE49-F238E27FC236}">
                <a16:creationId xmlns:a16="http://schemas.microsoft.com/office/drawing/2014/main" id="{901619DA-0AD4-4B1E-82D5-46542C6390F6}"/>
              </a:ext>
            </a:extLst>
          </p:cNvPr>
          <p:cNvSpPr>
            <a:spLocks xmlns:a="http://schemas.openxmlformats.org/drawingml/2006/main" noGrp="1"/>
          </p:cNvSpPr>
          <p:nvPr/>
        </p:nvSpPr>
        <p:spPr>
          <a:xfrm xmlns:a="http://schemas.openxmlformats.org/drawingml/2006/main">
            <a:off x="3584448" y="1719072"/>
            <a:ext cx="2066544" cy="6400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50">
                <a:solidFill>
                  <a:srgbClr val="475569"/>
                </a:solidFill>
                <a:latin typeface="Aptos"/>
                <a:ea typeface="Aptos"/>
                <a:cs typeface="Aptos"/>
              </a:rPr>
              <a:t>Routes: auth, servers, workspace, cache</a:t>
            </a:r>
          </a:p>
          <a:p xmlns:a="http://schemas.openxmlformats.org/drawingml/2006/main">
            <a:pPr marL="0" indent="0">
              <a:buNone/>
            </a:pPr>
            <a:r>
              <a:rPr sz="1050">
                <a:solidFill>
                  <a:srgbClr val="475569"/>
                </a:solidFill>
                <a:latin typeface="Aptos"/>
                <a:ea typeface="Aptos"/>
                <a:cs typeface="Aptos"/>
              </a:rPr>
              <a:t>Serves built SPA in single-origin launch</a:t>
            </a:r>
          </a:p>
        </p:txBody>
      </p:sp>
      <p:sp>
        <p:nvSpPr>
          <p:cNvPr id="11" name="Shape 9">
            <a:extLst xmlns:a="http://schemas.openxmlformats.org/drawingml/2006/main">
              <a:ext uri="{FF2B5EF4-FFF2-40B4-BE49-F238E27FC236}">
                <a16:creationId xmlns:a16="http://schemas.microsoft.com/office/drawing/2014/main" id="{D86BF824-8B8D-4816-8609-3B97FF53F647}"/>
              </a:ext>
            </a:extLst>
          </p:cNvPr>
          <p:cNvSpPr>
            <a:spLocks xmlns:a="http://schemas.openxmlformats.org/drawingml/2006/main" noGrp="1"/>
          </p:cNvSpPr>
          <p:nvPr/>
        </p:nvSpPr>
        <p:spPr>
          <a:xfrm xmlns:a="http://schemas.openxmlformats.org/drawingml/2006/main">
            <a:off x="6446520" y="777240"/>
            <a:ext cx="2331720" cy="960120"/>
          </a:xfrm>
          <a:prstGeom xmlns:a="http://schemas.openxmlformats.org/drawingml/2006/main" prst="roundRect">
            <a:avLst>
              <a:gd name="adj" fmla="val 11429"/>
            </a:avLst>
          </a:prstGeom>
          <a:solidFill xmlns:a="http://schemas.openxmlformats.org/drawingml/2006/main">
            <a:srgbClr val="F5F3FF"/>
          </a:solidFill>
          <a:ln xmlns:a="http://schemas.openxmlformats.org/drawingml/2006/main" w="12700">
            <a:solidFill>
              <a:srgbClr val="DDD6FE"/>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2" name="Text 10">
            <a:extLst xmlns:a="http://schemas.openxmlformats.org/drawingml/2006/main">
              <a:ext uri="{FF2B5EF4-FFF2-40B4-BE49-F238E27FC236}">
                <a16:creationId xmlns:a16="http://schemas.microsoft.com/office/drawing/2014/main" id="{2A28BA43-68BA-41FB-BAD3-B3C0D014A283}"/>
              </a:ext>
            </a:extLst>
          </p:cNvPr>
          <p:cNvSpPr>
            <a:spLocks xmlns:a="http://schemas.openxmlformats.org/drawingml/2006/main" noGrp="1"/>
          </p:cNvSpPr>
          <p:nvPr/>
        </p:nvSpPr>
        <p:spPr>
          <a:xfrm xmlns:a="http://schemas.openxmlformats.org/drawingml/2006/main">
            <a:off x="6647688" y="941832"/>
            <a:ext cx="19293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7C3AED"/>
                </a:solidFill>
                <a:latin typeface="Aptos Display"/>
                <a:ea typeface="Aptos Display"/>
                <a:cs typeface="Aptos Display"/>
              </a:rPr>
              <a:t>TWC / AuthServer</a:t>
            </a:r>
          </a:p>
        </p:txBody>
      </p:sp>
      <p:sp>
        <p:nvSpPr>
          <p:cNvPr id="13" name="Text 11">
            <a:extLst xmlns:a="http://schemas.openxmlformats.org/drawingml/2006/main">
              <a:ext uri="{FF2B5EF4-FFF2-40B4-BE49-F238E27FC236}">
                <a16:creationId xmlns:a16="http://schemas.microsoft.com/office/drawing/2014/main" id="{C81B6E8B-5256-4065-857B-5DACB7638368}"/>
              </a:ext>
            </a:extLst>
          </p:cNvPr>
          <p:cNvSpPr>
            <a:spLocks xmlns:a="http://schemas.openxmlformats.org/drawingml/2006/main" noGrp="1"/>
          </p:cNvSpPr>
          <p:nvPr/>
        </p:nvSpPr>
        <p:spPr>
          <a:xfrm xmlns:a="http://schemas.openxmlformats.org/drawingml/2006/main">
            <a:off x="6647688" y="1399032"/>
            <a:ext cx="1929384" cy="1828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56984"/>
          </a:bodyPr>
          <a:lstStyle xmlns:a="http://schemas.openxmlformats.org/drawingml/2006/main"/>
          <a:p xmlns:a="http://schemas.openxmlformats.org/drawingml/2006/main">
            <a:pPr marL="0" indent="0">
              <a:buNone/>
            </a:pPr>
            <a:r>
              <a:rPr sz="1050">
                <a:solidFill>
                  <a:srgbClr val="475569"/>
                </a:solidFill>
                <a:latin typeface="Aptos"/>
                <a:ea typeface="Aptos"/>
                <a:cs typeface="Aptos"/>
              </a:rPr>
              <a:t>OIDC code flow</a:t>
            </a:r>
          </a:p>
          <a:p xmlns:a="http://schemas.openxmlformats.org/drawingml/2006/main">
            <a:pPr marL="0" indent="0">
              <a:buNone/>
            </a:pPr>
            <a:r>
              <a:rPr sz="1050">
                <a:solidFill>
                  <a:srgbClr val="475569"/>
                </a:solidFill>
                <a:latin typeface="Aptos"/>
                <a:ea typeface="Aptos"/>
                <a:cs typeface="Aptos"/>
              </a:rPr>
              <a:t>Token fallback</a:t>
            </a:r>
          </a:p>
        </p:txBody>
      </p:sp>
      <p:sp>
        <p:nvSpPr>
          <p:cNvPr id="14" name="Shape 12">
            <a:extLst xmlns:a="http://schemas.openxmlformats.org/drawingml/2006/main">
              <a:ext uri="{FF2B5EF4-FFF2-40B4-BE49-F238E27FC236}">
                <a16:creationId xmlns:a16="http://schemas.microsoft.com/office/drawing/2014/main" id="{24E57ABF-CD4E-4B91-8406-EF7ACAE5FF58}"/>
              </a:ext>
            </a:extLst>
          </p:cNvPr>
          <p:cNvSpPr>
            <a:spLocks xmlns:a="http://schemas.openxmlformats.org/drawingml/2006/main" noGrp="1"/>
          </p:cNvSpPr>
          <p:nvPr/>
        </p:nvSpPr>
        <p:spPr>
          <a:xfrm xmlns:a="http://schemas.openxmlformats.org/drawingml/2006/main">
            <a:off x="6446520" y="2057400"/>
            <a:ext cx="2331720" cy="960120"/>
          </a:xfrm>
          <a:prstGeom xmlns:a="http://schemas.openxmlformats.org/drawingml/2006/main" prst="roundRect">
            <a:avLst>
              <a:gd name="adj" fmla="val 11429"/>
            </a:avLst>
          </a:prstGeom>
          <a:solidFill xmlns:a="http://schemas.openxmlformats.org/drawingml/2006/main">
            <a:srgbClr val="EFF6FF"/>
          </a:solidFill>
          <a:ln xmlns:a="http://schemas.openxmlformats.org/drawingml/2006/main" w="12700">
            <a:solidFill>
              <a:srgbClr val="BFDBFE"/>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5" name="Text 13">
            <a:extLst xmlns:a="http://schemas.openxmlformats.org/drawingml/2006/main">
              <a:ext uri="{FF2B5EF4-FFF2-40B4-BE49-F238E27FC236}">
                <a16:creationId xmlns:a16="http://schemas.microsoft.com/office/drawing/2014/main" id="{1AA950F4-BF7F-43EC-9C91-061752FDE73F}"/>
              </a:ext>
            </a:extLst>
          </p:cNvPr>
          <p:cNvSpPr>
            <a:spLocks xmlns:a="http://schemas.openxmlformats.org/drawingml/2006/main" noGrp="1"/>
          </p:cNvSpPr>
          <p:nvPr/>
        </p:nvSpPr>
        <p:spPr>
          <a:xfrm xmlns:a="http://schemas.openxmlformats.org/drawingml/2006/main">
            <a:off x="6647688" y="2221992"/>
            <a:ext cx="19293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2563EB"/>
                </a:solidFill>
                <a:latin typeface="Aptos Display"/>
                <a:ea typeface="Aptos Display"/>
                <a:cs typeface="Aptos Display"/>
              </a:rPr>
              <a:t>Teamwork Cloud API</a:t>
            </a:r>
          </a:p>
        </p:txBody>
      </p:sp>
      <p:sp>
        <p:nvSpPr>
          <p:cNvPr id="16" name="Text 14">
            <a:extLst xmlns:a="http://schemas.openxmlformats.org/drawingml/2006/main">
              <a:ext uri="{FF2B5EF4-FFF2-40B4-BE49-F238E27FC236}">
                <a16:creationId xmlns:a16="http://schemas.microsoft.com/office/drawing/2014/main" id="{3184A5BB-2D23-4E3D-ADDF-0B97B330050C}"/>
              </a:ext>
            </a:extLst>
          </p:cNvPr>
          <p:cNvSpPr>
            <a:spLocks xmlns:a="http://schemas.openxmlformats.org/drawingml/2006/main" noGrp="1"/>
          </p:cNvSpPr>
          <p:nvPr/>
        </p:nvSpPr>
        <p:spPr>
          <a:xfrm xmlns:a="http://schemas.openxmlformats.org/drawingml/2006/main">
            <a:off x="6647688" y="2679192"/>
            <a:ext cx="1929384" cy="1828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50">
                <a:solidFill>
                  <a:srgbClr val="475569"/>
                </a:solidFill>
                <a:latin typeface="Aptos"/>
                <a:ea typeface="Aptos"/>
                <a:cs typeface="Aptos"/>
              </a:rPr>
              <a:t>/osmc REST</a:t>
            </a:r>
          </a:p>
          <a:p xmlns:a="http://schemas.openxmlformats.org/drawingml/2006/main">
            <a:pPr marL="0" indent="0">
              <a:buNone/>
            </a:pPr>
            <a:r>
              <a:rPr sz="1050">
                <a:solidFill>
                  <a:srgbClr val="475569"/>
                </a:solidFill>
                <a:latin typeface="Aptos"/>
                <a:ea typeface="Aptos"/>
                <a:cs typeface="Aptos"/>
              </a:rPr>
              <a:t>2022xR2 / 2024xR3 adapters</a:t>
            </a:r>
          </a:p>
        </p:txBody>
      </p:sp>
      <p:sp>
        <p:nvSpPr>
          <p:cNvPr id="17" name="Shape 15">
            <a:extLst xmlns:a="http://schemas.openxmlformats.org/drawingml/2006/main">
              <a:ext uri="{FF2B5EF4-FFF2-40B4-BE49-F238E27FC236}">
                <a16:creationId xmlns:a16="http://schemas.microsoft.com/office/drawing/2014/main" id="{88B14D3E-2C92-4739-8397-F2310DEB034A}"/>
              </a:ext>
            </a:extLst>
          </p:cNvPr>
          <p:cNvSpPr>
            <a:spLocks xmlns:a="http://schemas.openxmlformats.org/drawingml/2006/main" noGrp="1"/>
          </p:cNvSpPr>
          <p:nvPr/>
        </p:nvSpPr>
        <p:spPr>
          <a:xfrm xmlns:a="http://schemas.openxmlformats.org/drawingml/2006/main">
            <a:off x="9281160" y="1417320"/>
            <a:ext cx="2240280" cy="1234440"/>
          </a:xfrm>
          <a:prstGeom xmlns:a="http://schemas.openxmlformats.org/drawingml/2006/main" prst="roundRect">
            <a:avLst>
              <a:gd name="adj" fmla="val 8889"/>
            </a:avLst>
          </a:prstGeom>
          <a:solidFill xmlns:a="http://schemas.openxmlformats.org/drawingml/2006/main">
            <a:srgbClr val="F8FAFC"/>
          </a:solidFill>
          <a:ln xmlns:a="http://schemas.openxmlformats.org/drawingml/2006/main" w="12700">
            <a:solidFill>
              <a:srgbClr val="CBD5E1"/>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8" name="Text 16">
            <a:extLst xmlns:a="http://schemas.openxmlformats.org/drawingml/2006/main">
              <a:ext uri="{FF2B5EF4-FFF2-40B4-BE49-F238E27FC236}">
                <a16:creationId xmlns:a16="http://schemas.microsoft.com/office/drawing/2014/main" id="{47BA9544-C102-49AC-9421-A5B0F8AA7AA0}"/>
              </a:ext>
            </a:extLst>
          </p:cNvPr>
          <p:cNvSpPr>
            <a:spLocks xmlns:a="http://schemas.openxmlformats.org/drawingml/2006/main" noGrp="1"/>
          </p:cNvSpPr>
          <p:nvPr/>
        </p:nvSpPr>
        <p:spPr>
          <a:xfrm xmlns:a="http://schemas.openxmlformats.org/drawingml/2006/main">
            <a:off x="9482328" y="1581912"/>
            <a:ext cx="183794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334155"/>
                </a:solidFill>
                <a:latin typeface="Aptos Display"/>
                <a:ea typeface="Aptos Display"/>
                <a:cs typeface="Aptos Display"/>
              </a:rPr>
              <a:t>SQLite / Redis</a:t>
            </a:r>
          </a:p>
        </p:txBody>
      </p:sp>
      <p:sp>
        <p:nvSpPr>
          <p:cNvPr id="19" name="Text 17">
            <a:extLst xmlns:a="http://schemas.openxmlformats.org/drawingml/2006/main">
              <a:ext uri="{FF2B5EF4-FFF2-40B4-BE49-F238E27FC236}">
                <a16:creationId xmlns:a16="http://schemas.microsoft.com/office/drawing/2014/main" id="{1CAC4CD1-7080-4CD8-8779-E279275EF30F}"/>
              </a:ext>
            </a:extLst>
          </p:cNvPr>
          <p:cNvSpPr>
            <a:spLocks xmlns:a="http://schemas.openxmlformats.org/drawingml/2006/main" noGrp="1"/>
          </p:cNvSpPr>
          <p:nvPr/>
        </p:nvSpPr>
        <p:spPr>
          <a:xfrm xmlns:a="http://schemas.openxmlformats.org/drawingml/2006/main">
            <a:off x="9482328" y="2039112"/>
            <a:ext cx="1837944"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50">
                <a:solidFill>
                  <a:srgbClr val="475569"/>
                </a:solidFill>
                <a:latin typeface="Aptos"/>
                <a:ea typeface="Aptos"/>
                <a:cs typeface="Aptos"/>
              </a:rPr>
              <a:t>Preset servers</a:t>
            </a:r>
          </a:p>
          <a:p xmlns:a="http://schemas.openxmlformats.org/drawingml/2006/main">
            <a:pPr marL="0" indent="0">
              <a:buNone/>
            </a:pPr>
            <a:r>
              <a:rPr sz="1050">
                <a:solidFill>
                  <a:srgbClr val="475569"/>
                </a:solidFill>
                <a:latin typeface="Aptos"/>
                <a:ea typeface="Aptos"/>
                <a:cs typeface="Aptos"/>
              </a:rPr>
              <a:t>User state</a:t>
            </a:r>
          </a:p>
          <a:p xmlns:a="http://schemas.openxmlformats.org/drawingml/2006/main">
            <a:pPr marL="0" indent="0">
              <a:buNone/>
            </a:pPr>
            <a:r>
              <a:rPr sz="1050">
                <a:solidFill>
                  <a:srgbClr val="475569"/>
                </a:solidFill>
                <a:latin typeface="Aptos"/>
                <a:ea typeface="Aptos"/>
                <a:cs typeface="Aptos"/>
              </a:rPr>
              <a:t>Cache records</a:t>
            </a:r>
          </a:p>
          <a:p xmlns:a="http://schemas.openxmlformats.org/drawingml/2006/main">
            <a:pPr marL="0" indent="0">
              <a:buNone/>
            </a:pPr>
            <a:r>
              <a:rPr sz="1050">
                <a:solidFill>
                  <a:srgbClr val="475569"/>
                </a:solidFill>
                <a:latin typeface="Aptos"/>
                <a:ea typeface="Aptos"/>
                <a:cs typeface="Aptos"/>
              </a:rPr>
              <a:t>Optional Redis sessions</a:t>
            </a:r>
          </a:p>
        </p:txBody>
      </p:sp>
      <p:sp>
        <p:nvSpPr>
          <p:cNvPr id="20" name="Shape 18">
            <a:extLst xmlns:a="http://schemas.openxmlformats.org/drawingml/2006/main">
              <a:ext uri="{FF2B5EF4-FFF2-40B4-BE49-F238E27FC236}">
                <a16:creationId xmlns:a16="http://schemas.microsoft.com/office/drawing/2014/main" id="{E18F2A5A-487D-43E8-9DF9-8C7F7BB8596F}"/>
              </a:ext>
            </a:extLst>
          </p:cNvPr>
          <p:cNvSpPr>
            <a:spLocks xmlns:a="http://schemas.openxmlformats.org/drawingml/2006/main" noGrp="1"/>
          </p:cNvSpPr>
          <p:nvPr/>
        </p:nvSpPr>
        <p:spPr>
          <a:xfrm xmlns:a="http://schemas.openxmlformats.org/drawingml/2006/main">
            <a:off x="841248" y="3886200"/>
            <a:ext cx="2331720" cy="1051560"/>
          </a:xfrm>
          <a:prstGeom xmlns:a="http://schemas.openxmlformats.org/drawingml/2006/main" prst="roundRect">
            <a:avLst>
              <a:gd name="adj" fmla="val 10435"/>
            </a:avLst>
          </a:prstGeom>
          <a:solidFill xmlns:a="http://schemas.openxmlformats.org/drawingml/2006/main">
            <a:srgbClr val="FFFBEB"/>
          </a:solidFill>
          <a:ln xmlns:a="http://schemas.openxmlformats.org/drawingml/2006/main" w="12700">
            <a:solidFill>
              <a:srgbClr val="FDE68A"/>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21" name="Text 19">
            <a:extLst xmlns:a="http://schemas.openxmlformats.org/drawingml/2006/main">
              <a:ext uri="{FF2B5EF4-FFF2-40B4-BE49-F238E27FC236}">
                <a16:creationId xmlns:a16="http://schemas.microsoft.com/office/drawing/2014/main" id="{73E5DE90-FC1B-4FCE-8461-996367CB702D}"/>
              </a:ext>
            </a:extLst>
          </p:cNvPr>
          <p:cNvSpPr>
            <a:spLocks xmlns:a="http://schemas.openxmlformats.org/drawingml/2006/main" noGrp="1"/>
          </p:cNvSpPr>
          <p:nvPr/>
        </p:nvSpPr>
        <p:spPr>
          <a:xfrm xmlns:a="http://schemas.openxmlformats.org/drawingml/2006/main">
            <a:off x="1042416" y="4050792"/>
            <a:ext cx="19293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F59E0B"/>
                </a:solidFill>
                <a:latin typeface="Aptos Display"/>
                <a:ea typeface="Aptos Display"/>
                <a:cs typeface="Aptos Display"/>
              </a:rPr>
              <a:t>Cameo Plugin</a:t>
            </a:r>
          </a:p>
        </p:txBody>
      </p:sp>
      <p:sp>
        <p:nvSpPr>
          <p:cNvPr id="22" name="Text 20">
            <a:extLst xmlns:a="http://schemas.openxmlformats.org/drawingml/2006/main">
              <a:ext uri="{FF2B5EF4-FFF2-40B4-BE49-F238E27FC236}">
                <a16:creationId xmlns:a16="http://schemas.microsoft.com/office/drawing/2014/main" id="{2AD9ABC9-3189-4A6C-90CB-0A3EEE1C30FE}"/>
              </a:ext>
            </a:extLst>
          </p:cNvPr>
          <p:cNvSpPr>
            <a:spLocks xmlns:a="http://schemas.openxmlformats.org/drawingml/2006/main" noGrp="1"/>
          </p:cNvSpPr>
          <p:nvPr/>
        </p:nvSpPr>
        <p:spPr>
          <a:xfrm xmlns:a="http://schemas.openxmlformats.org/drawingml/2006/main">
            <a:off x="1042416" y="4507992"/>
            <a:ext cx="1929384" cy="2743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85556"/>
          </a:bodyPr>
          <a:lstStyle xmlns:a="http://schemas.openxmlformats.org/drawingml/2006/main"/>
          <a:p xmlns:a="http://schemas.openxmlformats.org/drawingml/2006/main">
            <a:pPr marL="0" indent="0">
              <a:buNone/>
            </a:pPr>
            <a:r>
              <a:rPr sz="1050">
                <a:solidFill>
                  <a:srgbClr val="475569"/>
                </a:solidFill>
                <a:latin typeface="Aptos"/>
                <a:ea typeface="Aptos"/>
                <a:cs typeface="Aptos"/>
              </a:rPr>
              <a:t>Snapshot on open</a:t>
            </a:r>
          </a:p>
          <a:p xmlns:a="http://schemas.openxmlformats.org/drawingml/2006/main">
            <a:pPr marL="0" indent="0">
              <a:buNone/>
            </a:pPr>
            <a:r>
              <a:rPr sz="1050">
                <a:solidFill>
                  <a:srgbClr val="475569"/>
                </a:solidFill>
                <a:latin typeface="Aptos"/>
                <a:ea typeface="Aptos"/>
                <a:cs typeface="Aptos"/>
              </a:rPr>
              <a:t>Delta on save/close</a:t>
            </a:r>
          </a:p>
        </p:txBody>
      </p:sp>
      <p:sp>
        <p:nvSpPr>
          <p:cNvPr id="23" name="Shape 21">
            <a:extLst xmlns:a="http://schemas.openxmlformats.org/drawingml/2006/main">
              <a:ext uri="{FF2B5EF4-FFF2-40B4-BE49-F238E27FC236}">
                <a16:creationId xmlns:a16="http://schemas.microsoft.com/office/drawing/2014/main" id="{D93FBA45-86AD-435F-9712-E676B0A1E80E}"/>
              </a:ext>
            </a:extLst>
          </p:cNvPr>
          <p:cNvSpPr>
            <a:spLocks xmlns:a="http://schemas.openxmlformats.org/drawingml/2006/main" noGrp="1"/>
          </p:cNvSpPr>
          <p:nvPr/>
        </p:nvSpPr>
        <p:spPr>
          <a:xfrm xmlns:a="http://schemas.openxmlformats.org/drawingml/2006/main">
            <a:off x="3840480" y="3794760"/>
            <a:ext cx="2606040" cy="123444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2700">
            <a:solidFill>
              <a:srgbClr val="A7F3D0"/>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24" name="Text 22">
            <a:extLst xmlns:a="http://schemas.openxmlformats.org/drawingml/2006/main">
              <a:ext uri="{FF2B5EF4-FFF2-40B4-BE49-F238E27FC236}">
                <a16:creationId xmlns:a16="http://schemas.microsoft.com/office/drawing/2014/main" id="{5700B7D2-5B04-46B7-B528-EA24B7603D05}"/>
              </a:ext>
            </a:extLst>
          </p:cNvPr>
          <p:cNvSpPr>
            <a:spLocks xmlns:a="http://schemas.openxmlformats.org/drawingml/2006/main" noGrp="1"/>
          </p:cNvSpPr>
          <p:nvPr/>
        </p:nvSpPr>
        <p:spPr>
          <a:xfrm xmlns:a="http://schemas.openxmlformats.org/drawingml/2006/main">
            <a:off x="4041648" y="3959352"/>
            <a:ext cx="22037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0B981"/>
                </a:solidFill>
                <a:latin typeface="Aptos Display"/>
                <a:ea typeface="Aptos Display"/>
                <a:cs typeface="Aptos Display"/>
              </a:rPr>
              <a:t>Cache Ingest API</a:t>
            </a:r>
          </a:p>
        </p:txBody>
      </p:sp>
      <p:sp>
        <p:nvSpPr>
          <p:cNvPr id="25" name="Text 23">
            <a:extLst xmlns:a="http://schemas.openxmlformats.org/drawingml/2006/main">
              <a:ext uri="{FF2B5EF4-FFF2-40B4-BE49-F238E27FC236}">
                <a16:creationId xmlns:a16="http://schemas.microsoft.com/office/drawing/2014/main" id="{D04F46AF-D325-4751-BAD3-577369B12A61}"/>
              </a:ext>
            </a:extLst>
          </p:cNvPr>
          <p:cNvSpPr>
            <a:spLocks xmlns:a="http://schemas.openxmlformats.org/drawingml/2006/main" noGrp="1"/>
          </p:cNvSpPr>
          <p:nvPr/>
        </p:nvSpPr>
        <p:spPr>
          <a:xfrm xmlns:a="http://schemas.openxmlformats.org/drawingml/2006/main">
            <a:off x="4041648" y="4416552"/>
            <a:ext cx="2203704"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95132"/>
          </a:bodyPr>
          <a:lstStyle xmlns:a="http://schemas.openxmlformats.org/drawingml/2006/main"/>
          <a:p xmlns:a="http://schemas.openxmlformats.org/drawingml/2006/main">
            <a:pPr marL="0" indent="0">
              <a:buNone/>
            </a:pPr>
            <a:r>
              <a:rPr sz="1050">
                <a:solidFill>
                  <a:srgbClr val="475569"/>
                </a:solidFill>
                <a:latin typeface="Aptos"/>
                <a:ea typeface="Aptos"/>
                <a:cs typeface="Aptos"/>
              </a:rPr>
              <a:t>Branch snapshots</a:t>
            </a:r>
          </a:p>
          <a:p xmlns:a="http://schemas.openxmlformats.org/drawingml/2006/main">
            <a:pPr marL="0" indent="0">
              <a:buNone/>
            </a:pPr>
            <a:r>
              <a:rPr sz="1050">
                <a:solidFill>
                  <a:srgbClr val="475569"/>
                </a:solidFill>
                <a:latin typeface="Aptos"/>
                <a:ea typeface="Aptos"/>
                <a:cs typeface="Aptos"/>
              </a:rPr>
              <a:t>Branch deltas</a:t>
            </a:r>
          </a:p>
          <a:p xmlns:a="http://schemas.openxmlformats.org/drawingml/2006/main">
            <a:pPr marL="0" indent="0">
              <a:buNone/>
            </a:pPr>
            <a:r>
              <a:rPr sz="1050">
                <a:solidFill>
                  <a:srgbClr val="475569"/>
                </a:solidFill>
                <a:latin typeface="Aptos"/>
                <a:ea typeface="Aptos"/>
                <a:cs typeface="Aptos"/>
              </a:rPr>
              <a:t>Bearer token protected</a:t>
            </a:r>
          </a:p>
        </p:txBody>
      </p:sp>
      <p:sp>
        <p:nvSpPr>
          <p:cNvPr id="26" name="Shape 24">
            <a:extLst xmlns:a="http://schemas.openxmlformats.org/drawingml/2006/main">
              <a:ext uri="{FF2B5EF4-FFF2-40B4-BE49-F238E27FC236}">
                <a16:creationId xmlns:a16="http://schemas.microsoft.com/office/drawing/2014/main" id="{8FDD7428-1A69-4F98-A3BD-475D5C36D347}"/>
              </a:ext>
            </a:extLst>
          </p:cNvPr>
          <p:cNvSpPr>
            <a:spLocks xmlns:a="http://schemas.openxmlformats.org/drawingml/2006/main" noGrp="1"/>
          </p:cNvSpPr>
          <p:nvPr/>
        </p:nvSpPr>
        <p:spPr>
          <a:xfrm xmlns:a="http://schemas.openxmlformats.org/drawingml/2006/main">
            <a:off x="7040880" y="3794760"/>
            <a:ext cx="2468880" cy="1234440"/>
          </a:xfrm>
          <a:prstGeom xmlns:a="http://schemas.openxmlformats.org/drawingml/2006/main" prst="roundRect">
            <a:avLst>
              <a:gd name="adj" fmla="val 8889"/>
            </a:avLst>
          </a:prstGeom>
          <a:solidFill xmlns:a="http://schemas.openxmlformats.org/drawingml/2006/main">
            <a:srgbClr val="F1F5F9"/>
          </a:solidFill>
          <a:ln xmlns:a="http://schemas.openxmlformats.org/drawingml/2006/main" w="12700">
            <a:solidFill>
              <a:srgbClr val="CBD5E1"/>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27" name="Text 25">
            <a:extLst xmlns:a="http://schemas.openxmlformats.org/drawingml/2006/main">
              <a:ext uri="{FF2B5EF4-FFF2-40B4-BE49-F238E27FC236}">
                <a16:creationId xmlns:a16="http://schemas.microsoft.com/office/drawing/2014/main" id="{5730EECE-091F-4AD2-AE0A-31A8E2F31D0F}"/>
              </a:ext>
            </a:extLst>
          </p:cNvPr>
          <p:cNvSpPr>
            <a:spLocks xmlns:a="http://schemas.openxmlformats.org/drawingml/2006/main" noGrp="1"/>
          </p:cNvSpPr>
          <p:nvPr/>
        </p:nvSpPr>
        <p:spPr>
          <a:xfrm xmlns:a="http://schemas.openxmlformats.org/drawingml/2006/main">
            <a:off x="7242048" y="3959352"/>
            <a:ext cx="206654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Developer API</a:t>
            </a:r>
          </a:p>
        </p:txBody>
      </p:sp>
      <p:sp>
        <p:nvSpPr>
          <p:cNvPr id="28" name="Text 26">
            <a:extLst xmlns:a="http://schemas.openxmlformats.org/drawingml/2006/main">
              <a:ext uri="{FF2B5EF4-FFF2-40B4-BE49-F238E27FC236}">
                <a16:creationId xmlns:a16="http://schemas.microsoft.com/office/drawing/2014/main" id="{E9A39671-7F43-4019-A116-CF69E5F3EF6D}"/>
              </a:ext>
            </a:extLst>
          </p:cNvPr>
          <p:cNvSpPr>
            <a:spLocks xmlns:a="http://schemas.openxmlformats.org/drawingml/2006/main" noGrp="1"/>
          </p:cNvSpPr>
          <p:nvPr/>
        </p:nvSpPr>
        <p:spPr>
          <a:xfrm xmlns:a="http://schemas.openxmlformats.org/drawingml/2006/main">
            <a:off x="7242048" y="4416552"/>
            <a:ext cx="2066544" cy="4572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95132"/>
          </a:bodyPr>
          <a:lstStyle xmlns:a="http://schemas.openxmlformats.org/drawingml/2006/main"/>
          <a:p xmlns:a="http://schemas.openxmlformats.org/drawingml/2006/main">
            <a:pPr marL="0" indent="0">
              <a:buNone/>
            </a:pPr>
            <a:r>
              <a:rPr sz="1050">
                <a:solidFill>
                  <a:srgbClr val="475569"/>
                </a:solidFill>
                <a:latin typeface="Aptos"/>
                <a:ea typeface="Aptos"/>
                <a:cs typeface="Aptos"/>
              </a:rPr>
              <a:t>Scoped API keys</a:t>
            </a:r>
          </a:p>
          <a:p xmlns:a="http://schemas.openxmlformats.org/drawingml/2006/main">
            <a:pPr marL="0" indent="0">
              <a:buNone/>
            </a:pPr>
            <a:r>
              <a:rPr sz="1050">
                <a:solidFill>
                  <a:srgbClr val="475569"/>
                </a:solidFill>
                <a:latin typeface="Aptos"/>
                <a:ea typeface="Aptos"/>
                <a:cs typeface="Aptos"/>
              </a:rPr>
              <a:t>read / write / edit</a:t>
            </a:r>
          </a:p>
          <a:p xmlns:a="http://schemas.openxmlformats.org/drawingml/2006/main">
            <a:pPr marL="0" indent="0">
              <a:buNone/>
            </a:pPr>
            <a:r>
              <a:rPr sz="1050">
                <a:solidFill>
                  <a:srgbClr val="475569"/>
                </a:solidFill>
                <a:latin typeface="Aptos"/>
                <a:ea typeface="Aptos"/>
                <a:cs typeface="Aptos"/>
              </a:rPr>
              <a:t>Script + AI tool access</a:t>
            </a:r>
          </a:p>
        </p:txBody>
      </p:sp>
      <p:sp>
        <p:nvSpPr>
          <p:cNvPr id="29" name="Shape 27">
            <a:extLst xmlns:a="http://schemas.openxmlformats.org/drawingml/2006/main">
              <a:ext uri="{FF2B5EF4-FFF2-40B4-BE49-F238E27FC236}">
                <a16:creationId xmlns:a16="http://schemas.microsoft.com/office/drawing/2014/main" id="{872CD20E-4883-4414-9F63-21853258CFC1}"/>
              </a:ext>
            </a:extLst>
          </p:cNvPr>
          <p:cNvSpPr>
            <a:spLocks xmlns:a="http://schemas.openxmlformats.org/drawingml/2006/main" noGrp="1"/>
          </p:cNvSpPr>
          <p:nvPr/>
        </p:nvSpPr>
        <p:spPr>
          <a:xfrm xmlns:a="http://schemas.openxmlformats.org/drawingml/2006/main">
            <a:off x="2834640" y="1810512"/>
            <a:ext cx="548640" cy="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30" name="Shape 28">
            <a:extLst xmlns:a="http://schemas.openxmlformats.org/drawingml/2006/main">
              <a:ext uri="{FF2B5EF4-FFF2-40B4-BE49-F238E27FC236}">
                <a16:creationId xmlns:a16="http://schemas.microsoft.com/office/drawing/2014/main" id="{D6838731-E7A6-4CBF-BA13-A3A9EFE9E951}"/>
              </a:ext>
            </a:extLst>
          </p:cNvPr>
          <p:cNvSpPr>
            <a:spLocks xmlns:a="http://schemas.openxmlformats.org/drawingml/2006/main" noGrp="1"/>
          </p:cNvSpPr>
          <p:nvPr/>
        </p:nvSpPr>
        <p:spPr>
          <a:xfrm xmlns:a="http://schemas.openxmlformats.org/drawingml/2006/main">
            <a:off x="5852160" y="1554480"/>
            <a:ext cx="594360" cy="-274320"/>
          </a:xfrm>
          <a:prstGeom xmlns:a="http://schemas.openxmlformats.org/drawingml/2006/main" prst="line">
            <a:avLst/>
          </a:prstGeom>
          <a:noFill xmlns:a="http://schemas.openxmlformats.org/drawingml/2006/main"/>
          <a:ln xmlns:a="http://schemas.openxmlformats.org/drawingml/2006/main" w="26670">
            <a:solidFill>
              <a:srgbClr val="7C3AED"/>
            </a:solidFill>
            <a:prstDash val="solid"/>
            <a:headEnd type="none"/>
            <a:tailEnd type="triangle"/>
          </a:ln>
        </p:spPr>
      </p:sp>
      <p:sp>
        <p:nvSpPr>
          <p:cNvPr id="31" name="Shape 29">
            <a:extLst xmlns:a="http://schemas.openxmlformats.org/drawingml/2006/main">
              <a:ext uri="{FF2B5EF4-FFF2-40B4-BE49-F238E27FC236}">
                <a16:creationId xmlns:a16="http://schemas.microsoft.com/office/drawing/2014/main" id="{6DC4A523-6CE1-434F-8200-93E283FD5462}"/>
              </a:ext>
            </a:extLst>
          </p:cNvPr>
          <p:cNvSpPr>
            <a:spLocks xmlns:a="http://schemas.openxmlformats.org/drawingml/2006/main" noGrp="1"/>
          </p:cNvSpPr>
          <p:nvPr/>
        </p:nvSpPr>
        <p:spPr>
          <a:xfrm xmlns:a="http://schemas.openxmlformats.org/drawingml/2006/main">
            <a:off x="5852160" y="1828800"/>
            <a:ext cx="594360" cy="68580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32" name="Shape 30">
            <a:extLst xmlns:a="http://schemas.openxmlformats.org/drawingml/2006/main">
              <a:ext uri="{FF2B5EF4-FFF2-40B4-BE49-F238E27FC236}">
                <a16:creationId xmlns:a16="http://schemas.microsoft.com/office/drawing/2014/main" id="{3FE5A82A-E1E0-4DD0-97EE-869A8F2C17EF}"/>
              </a:ext>
            </a:extLst>
          </p:cNvPr>
          <p:cNvSpPr>
            <a:spLocks xmlns:a="http://schemas.openxmlformats.org/drawingml/2006/main" noGrp="1"/>
          </p:cNvSpPr>
          <p:nvPr/>
        </p:nvSpPr>
        <p:spPr>
          <a:xfrm xmlns:a="http://schemas.openxmlformats.org/drawingml/2006/main">
            <a:off x="8778240" y="1645920"/>
            <a:ext cx="502920" cy="228600"/>
          </a:xfrm>
          <a:prstGeom xmlns:a="http://schemas.openxmlformats.org/drawingml/2006/main" prst="line">
            <a:avLst/>
          </a:prstGeom>
          <a:noFill xmlns:a="http://schemas.openxmlformats.org/drawingml/2006/main"/>
          <a:ln xmlns:a="http://schemas.openxmlformats.org/drawingml/2006/main" w="26670">
            <a:solidFill>
              <a:srgbClr val="334155"/>
            </a:solidFill>
            <a:prstDash val="solid"/>
            <a:headEnd type="none"/>
            <a:tailEnd type="triangle"/>
          </a:ln>
        </p:spPr>
      </p:sp>
      <p:sp>
        <p:nvSpPr>
          <p:cNvPr id="33" name="Shape 31">
            <a:extLst xmlns:a="http://schemas.openxmlformats.org/drawingml/2006/main">
              <a:ext uri="{FF2B5EF4-FFF2-40B4-BE49-F238E27FC236}">
                <a16:creationId xmlns:a16="http://schemas.microsoft.com/office/drawing/2014/main" id="{56DC2265-FB04-4283-BFC6-6628A6A226FB}"/>
              </a:ext>
            </a:extLst>
          </p:cNvPr>
          <p:cNvSpPr>
            <a:spLocks xmlns:a="http://schemas.openxmlformats.org/drawingml/2006/main" noGrp="1"/>
          </p:cNvSpPr>
          <p:nvPr/>
        </p:nvSpPr>
        <p:spPr>
          <a:xfrm xmlns:a="http://schemas.openxmlformats.org/drawingml/2006/main">
            <a:off x="3172968" y="4407408"/>
            <a:ext cx="667512" cy="0"/>
          </a:xfrm>
          <a:prstGeom xmlns:a="http://schemas.openxmlformats.org/drawingml/2006/main" prst="line">
            <a:avLst/>
          </a:prstGeom>
          <a:noFill xmlns:a="http://schemas.openxmlformats.org/drawingml/2006/main"/>
          <a:ln xmlns:a="http://schemas.openxmlformats.org/drawingml/2006/main" w="26670">
            <a:solidFill>
              <a:srgbClr val="10B981"/>
            </a:solidFill>
            <a:prstDash val="solid"/>
            <a:headEnd type="none"/>
            <a:tailEnd type="triangle"/>
          </a:ln>
        </p:spPr>
      </p:sp>
      <p:sp>
        <p:nvSpPr>
          <p:cNvPr id="34" name="Shape 32">
            <a:extLst xmlns:a="http://schemas.openxmlformats.org/drawingml/2006/main">
              <a:ext uri="{FF2B5EF4-FFF2-40B4-BE49-F238E27FC236}">
                <a16:creationId xmlns:a16="http://schemas.microsoft.com/office/drawing/2014/main" id="{C76CCB58-7767-49BC-8207-13D7EF51CBAA}"/>
              </a:ext>
            </a:extLst>
          </p:cNvPr>
          <p:cNvSpPr>
            <a:spLocks xmlns:a="http://schemas.openxmlformats.org/drawingml/2006/main" noGrp="1"/>
          </p:cNvSpPr>
          <p:nvPr/>
        </p:nvSpPr>
        <p:spPr>
          <a:xfrm xmlns:a="http://schemas.openxmlformats.org/drawingml/2006/main">
            <a:off x="6336792" y="4407408"/>
            <a:ext cx="704088" cy="0"/>
          </a:xfrm>
          <a:prstGeom xmlns:a="http://schemas.openxmlformats.org/drawingml/2006/main" prst="line">
            <a:avLst/>
          </a:prstGeom>
          <a:noFill xmlns:a="http://schemas.openxmlformats.org/drawingml/2006/main"/>
          <a:ln xmlns:a="http://schemas.openxmlformats.org/drawingml/2006/main" w="26670">
            <a:solidFill>
              <a:srgbClr val="10B981"/>
            </a:solidFill>
            <a:prstDash val="solid"/>
            <a:headEnd type="none"/>
            <a:tailEnd type="triangle"/>
          </a:ln>
        </p:spPr>
      </p:sp>
      <p:sp>
        <p:nvSpPr>
          <p:cNvPr id="35" name="Shape 33">
            <a:extLst xmlns:a="http://schemas.openxmlformats.org/drawingml/2006/main">
              <a:ext uri="{FF2B5EF4-FFF2-40B4-BE49-F238E27FC236}">
                <a16:creationId xmlns:a16="http://schemas.microsoft.com/office/drawing/2014/main" id="{5DCBEB92-36EF-43BA-837C-CB6ACF2485F0}"/>
              </a:ext>
            </a:extLst>
          </p:cNvPr>
          <p:cNvSpPr>
            <a:spLocks xmlns:a="http://schemas.openxmlformats.org/drawingml/2006/main" noGrp="1"/>
          </p:cNvSpPr>
          <p:nvPr/>
        </p:nvSpPr>
        <p:spPr>
          <a:xfrm xmlns:a="http://schemas.openxmlformats.org/drawingml/2006/main">
            <a:off x="5577840" y="2834640"/>
            <a:ext cx="-502920" cy="960120"/>
          </a:xfrm>
          <a:prstGeom xmlns:a="http://schemas.openxmlformats.org/drawingml/2006/main" prst="line">
            <a:avLst/>
          </a:prstGeom>
          <a:noFill xmlns:a="http://schemas.openxmlformats.org/drawingml/2006/main"/>
          <a:ln xmlns:a="http://schemas.openxmlformats.org/drawingml/2006/main" w="26670">
            <a:solidFill>
              <a:srgbClr val="10B981"/>
            </a:solidFill>
            <a:prstDash val="solid"/>
            <a:headEnd type="none"/>
            <a:tailEnd type="triangle"/>
          </a:ln>
        </p:spPr>
      </p:sp>
      <p:sp>
        <p:nvSpPr>
          <p:cNvPr id="36" name="Slide Number Placeholder 0">
            <a:extLst xmlns:a="http://schemas.openxmlformats.org/drawingml/2006/main">
              <a:ext uri="{FF2B5EF4-FFF2-40B4-BE49-F238E27FC236}">
                <a16:creationId xmlns:a16="http://schemas.microsoft.com/office/drawing/2014/main" id="{FD0C93ED-2954-4E10-BBA7-1405DBA23594}"/>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3</a:t>
            </a:fld>
          </a:p>
        </p:txBody>
      </p:sp>
    </p:spTree>
    <p:extLst>
      <p:ext uri="{BB962C8B-B14F-4D97-AF65-F5344CB8AC3E}">
        <p14:creationId xmlns:p14="http://schemas.microsoft.com/office/powerpoint/2010/main" val="370532076"/>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6AB5238-BB71-469C-AA1A-52F6B88BBFBE}"/>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00CFB847-0EBE-467A-B028-7233F1BF415A}"/>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AUTHENTICATION</a:t>
            </a:r>
          </a:p>
        </p:txBody>
      </p:sp>
      <p:sp>
        <p:nvSpPr>
          <p:cNvPr id="4" name="Text 2">
            <a:extLst xmlns:a="http://schemas.openxmlformats.org/drawingml/2006/main">
              <a:ext uri="{FF2B5EF4-FFF2-40B4-BE49-F238E27FC236}">
                <a16:creationId xmlns:a16="http://schemas.microsoft.com/office/drawing/2014/main" id="{C2E0834B-23B1-44C2-BB23-636075201BB5}"/>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User sign-in and server selection flow</a:t>
            </a:r>
          </a:p>
        </p:txBody>
      </p:sp>
      <p:sp>
        <p:nvSpPr>
          <p:cNvPr id="5" name="Shape 3">
            <a:extLst xmlns:a="http://schemas.openxmlformats.org/drawingml/2006/main">
              <a:ext uri="{FF2B5EF4-FFF2-40B4-BE49-F238E27FC236}">
                <a16:creationId xmlns:a16="http://schemas.microsoft.com/office/drawing/2014/main" id="{B1960B48-3311-4022-AE83-47E226E5BC31}"/>
              </a:ext>
            </a:extLst>
          </p:cNvPr>
          <p:cNvSpPr>
            <a:spLocks xmlns:a="http://schemas.openxmlformats.org/drawingml/2006/main" noGrp="1"/>
          </p:cNvSpPr>
          <p:nvPr/>
        </p:nvSpPr>
        <p:spPr>
          <a:xfrm xmlns:a="http://schemas.openxmlformats.org/drawingml/2006/main">
            <a:off x="594360" y="1828800"/>
            <a:ext cx="1993392" cy="2148840"/>
          </a:xfrm>
          <a:prstGeom xmlns:a="http://schemas.openxmlformats.org/drawingml/2006/main" prst="roundRect">
            <a:avLst>
              <a:gd name="adj" fmla="val 5505"/>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Shape 4">
            <a:extLst xmlns:a="http://schemas.openxmlformats.org/drawingml/2006/main">
              <a:ext uri="{FF2B5EF4-FFF2-40B4-BE49-F238E27FC236}">
                <a16:creationId xmlns:a16="http://schemas.microsoft.com/office/drawing/2014/main" id="{DEACF63D-D86B-4672-9013-FF971A554976}"/>
              </a:ext>
            </a:extLst>
          </p:cNvPr>
          <p:cNvSpPr>
            <a:spLocks xmlns:a="http://schemas.openxmlformats.org/drawingml/2006/main" noGrp="1"/>
          </p:cNvSpPr>
          <p:nvPr/>
        </p:nvSpPr>
        <p:spPr>
          <a:xfrm xmlns:a="http://schemas.openxmlformats.org/drawingml/2006/main">
            <a:off x="758952" y="1993392"/>
            <a:ext cx="420624" cy="301752"/>
          </a:xfrm>
          <a:prstGeom xmlns:a="http://schemas.openxmlformats.org/drawingml/2006/main" prst="roundRect">
            <a:avLst>
              <a:gd name="adj" fmla="val 24242"/>
            </a:avLst>
          </a:prstGeom>
          <a:solidFill xmlns:a="http://schemas.openxmlformats.org/drawingml/2006/main">
            <a:srgbClr val="2563EB"/>
          </a:solidFill>
          <a:ln xmlns:a="http://schemas.openxmlformats.org/drawingml/2006/main" w="12700">
            <a:solidFill>
              <a:srgbClr val="2563EB"/>
            </a:solidFill>
            <a:prstDash val="solid"/>
          </a:ln>
        </p:spPr>
      </p:sp>
      <p:sp>
        <p:nvSpPr>
          <p:cNvPr id="7" name="Text 5">
            <a:extLst xmlns:a="http://schemas.openxmlformats.org/drawingml/2006/main">
              <a:ext uri="{FF2B5EF4-FFF2-40B4-BE49-F238E27FC236}">
                <a16:creationId xmlns:a16="http://schemas.microsoft.com/office/drawing/2014/main" id="{4B0E78C6-E0C5-4751-A20C-242D44DC1124}"/>
              </a:ext>
            </a:extLst>
          </p:cNvPr>
          <p:cNvSpPr>
            <a:spLocks xmlns:a="http://schemas.openxmlformats.org/drawingml/2006/main" noGrp="1"/>
          </p:cNvSpPr>
          <p:nvPr/>
        </p:nvSpPr>
        <p:spPr>
          <a:xfrm xmlns:a="http://schemas.openxmlformats.org/drawingml/2006/main">
            <a:off x="758952" y="203454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1</a:t>
            </a:r>
          </a:p>
        </p:txBody>
      </p:sp>
      <p:sp>
        <p:nvSpPr>
          <p:cNvPr id="8" name="Text 6">
            <a:extLst xmlns:a="http://schemas.openxmlformats.org/drawingml/2006/main">
              <a:ext uri="{FF2B5EF4-FFF2-40B4-BE49-F238E27FC236}">
                <a16:creationId xmlns:a16="http://schemas.microsoft.com/office/drawing/2014/main" id="{86ABCBCB-32B3-4C18-A62A-37ED4A7EF3B7}"/>
              </a:ext>
            </a:extLst>
          </p:cNvPr>
          <p:cNvSpPr>
            <a:spLocks xmlns:a="http://schemas.openxmlformats.org/drawingml/2006/main" noGrp="1"/>
          </p:cNvSpPr>
          <p:nvPr/>
        </p:nvSpPr>
        <p:spPr>
          <a:xfrm xmlns:a="http://schemas.openxmlformats.org/drawingml/2006/main">
            <a:off x="1298448" y="1993392"/>
            <a:ext cx="1088136"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Landing page</a:t>
            </a:r>
          </a:p>
        </p:txBody>
      </p:sp>
      <p:sp>
        <p:nvSpPr>
          <p:cNvPr id="9" name="Text 7">
            <a:extLst xmlns:a="http://schemas.openxmlformats.org/drawingml/2006/main">
              <a:ext uri="{FF2B5EF4-FFF2-40B4-BE49-F238E27FC236}">
                <a16:creationId xmlns:a16="http://schemas.microsoft.com/office/drawing/2014/main" id="{8E26D76D-8200-4D11-B253-810D86CD4125}"/>
              </a:ext>
            </a:extLst>
          </p:cNvPr>
          <p:cNvSpPr>
            <a:spLocks xmlns:a="http://schemas.openxmlformats.org/drawingml/2006/main" noGrp="1"/>
          </p:cNvSpPr>
          <p:nvPr/>
        </p:nvSpPr>
        <p:spPr>
          <a:xfrm xmlns:a="http://schemas.openxmlformats.org/drawingml/2006/main">
            <a:off x="795528" y="2450592"/>
            <a:ext cx="1591056"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User chooses an enabled preset Teamwork Cloud server.</a:t>
            </a:r>
          </a:p>
        </p:txBody>
      </p:sp>
      <p:sp>
        <p:nvSpPr>
          <p:cNvPr id="10" name="Shape 8">
            <a:extLst xmlns:a="http://schemas.openxmlformats.org/drawingml/2006/main">
              <a:ext uri="{FF2B5EF4-FFF2-40B4-BE49-F238E27FC236}">
                <a16:creationId xmlns:a16="http://schemas.microsoft.com/office/drawing/2014/main" id="{DFAE9CB4-E9FD-4917-8B00-820625F74138}"/>
              </a:ext>
            </a:extLst>
          </p:cNvPr>
          <p:cNvSpPr>
            <a:spLocks xmlns:a="http://schemas.openxmlformats.org/drawingml/2006/main" noGrp="1"/>
          </p:cNvSpPr>
          <p:nvPr/>
        </p:nvSpPr>
        <p:spPr>
          <a:xfrm xmlns:a="http://schemas.openxmlformats.org/drawingml/2006/main">
            <a:off x="2587752" y="2898648"/>
            <a:ext cx="338328" cy="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11" name="Shape 9">
            <a:extLst xmlns:a="http://schemas.openxmlformats.org/drawingml/2006/main">
              <a:ext uri="{FF2B5EF4-FFF2-40B4-BE49-F238E27FC236}">
                <a16:creationId xmlns:a16="http://schemas.microsoft.com/office/drawing/2014/main" id="{4249BA72-D5AE-4B32-A4FF-050EF1CD415C}"/>
              </a:ext>
            </a:extLst>
          </p:cNvPr>
          <p:cNvSpPr>
            <a:spLocks xmlns:a="http://schemas.openxmlformats.org/drawingml/2006/main" noGrp="1"/>
          </p:cNvSpPr>
          <p:nvPr/>
        </p:nvSpPr>
        <p:spPr>
          <a:xfrm xmlns:a="http://schemas.openxmlformats.org/drawingml/2006/main">
            <a:off x="2926080" y="1828800"/>
            <a:ext cx="1993392" cy="2148840"/>
          </a:xfrm>
          <a:prstGeom xmlns:a="http://schemas.openxmlformats.org/drawingml/2006/main" prst="roundRect">
            <a:avLst>
              <a:gd name="adj" fmla="val 5505"/>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2" name="Shape 10">
            <a:extLst xmlns:a="http://schemas.openxmlformats.org/drawingml/2006/main">
              <a:ext uri="{FF2B5EF4-FFF2-40B4-BE49-F238E27FC236}">
                <a16:creationId xmlns:a16="http://schemas.microsoft.com/office/drawing/2014/main" id="{036EAC95-DFEC-4C58-9BD1-3B5E4169E133}"/>
              </a:ext>
            </a:extLst>
          </p:cNvPr>
          <p:cNvSpPr>
            <a:spLocks xmlns:a="http://schemas.openxmlformats.org/drawingml/2006/main" noGrp="1"/>
          </p:cNvSpPr>
          <p:nvPr/>
        </p:nvSpPr>
        <p:spPr>
          <a:xfrm xmlns:a="http://schemas.openxmlformats.org/drawingml/2006/main">
            <a:off x="3090672" y="1993392"/>
            <a:ext cx="420624" cy="301752"/>
          </a:xfrm>
          <a:prstGeom xmlns:a="http://schemas.openxmlformats.org/drawingml/2006/main" prst="roundRect">
            <a:avLst>
              <a:gd name="adj" fmla="val 24242"/>
            </a:avLst>
          </a:prstGeom>
          <a:solidFill xmlns:a="http://schemas.openxmlformats.org/drawingml/2006/main">
            <a:srgbClr val="7C3AED"/>
          </a:solidFill>
          <a:ln xmlns:a="http://schemas.openxmlformats.org/drawingml/2006/main" w="12700">
            <a:solidFill>
              <a:srgbClr val="7C3AED"/>
            </a:solidFill>
            <a:prstDash val="solid"/>
          </a:ln>
        </p:spPr>
      </p:sp>
      <p:sp>
        <p:nvSpPr>
          <p:cNvPr id="13" name="Text 11">
            <a:extLst xmlns:a="http://schemas.openxmlformats.org/drawingml/2006/main">
              <a:ext uri="{FF2B5EF4-FFF2-40B4-BE49-F238E27FC236}">
                <a16:creationId xmlns:a16="http://schemas.microsoft.com/office/drawing/2014/main" id="{13913A50-251A-4004-8E7E-2F44187BD2DE}"/>
              </a:ext>
            </a:extLst>
          </p:cNvPr>
          <p:cNvSpPr>
            <a:spLocks xmlns:a="http://schemas.openxmlformats.org/drawingml/2006/main" noGrp="1"/>
          </p:cNvSpPr>
          <p:nvPr/>
        </p:nvSpPr>
        <p:spPr>
          <a:xfrm xmlns:a="http://schemas.openxmlformats.org/drawingml/2006/main">
            <a:off x="3090672" y="203454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2</a:t>
            </a:r>
          </a:p>
        </p:txBody>
      </p:sp>
      <p:sp>
        <p:nvSpPr>
          <p:cNvPr id="14" name="Text 12">
            <a:extLst xmlns:a="http://schemas.openxmlformats.org/drawingml/2006/main">
              <a:ext uri="{FF2B5EF4-FFF2-40B4-BE49-F238E27FC236}">
                <a16:creationId xmlns:a16="http://schemas.microsoft.com/office/drawing/2014/main" id="{0A2CE630-18CE-4A59-8C81-A54E113E7B48}"/>
              </a:ext>
            </a:extLst>
          </p:cNvPr>
          <p:cNvSpPr>
            <a:spLocks xmlns:a="http://schemas.openxmlformats.org/drawingml/2006/main" noGrp="1"/>
          </p:cNvSpPr>
          <p:nvPr/>
        </p:nvSpPr>
        <p:spPr>
          <a:xfrm xmlns:a="http://schemas.openxmlformats.org/drawingml/2006/main">
            <a:off x="3630168" y="1993392"/>
            <a:ext cx="1088136"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Sign In via TWC</a:t>
            </a:r>
          </a:p>
        </p:txBody>
      </p:sp>
      <p:sp>
        <p:nvSpPr>
          <p:cNvPr id="15" name="Text 13">
            <a:extLst xmlns:a="http://schemas.openxmlformats.org/drawingml/2006/main">
              <a:ext uri="{FF2B5EF4-FFF2-40B4-BE49-F238E27FC236}">
                <a16:creationId xmlns:a16="http://schemas.microsoft.com/office/drawing/2014/main" id="{4B9C135C-BAC1-4505-B170-EF728D7DF11B}"/>
              </a:ext>
            </a:extLst>
          </p:cNvPr>
          <p:cNvSpPr>
            <a:spLocks xmlns:a="http://schemas.openxmlformats.org/drawingml/2006/main" noGrp="1"/>
          </p:cNvSpPr>
          <p:nvPr/>
        </p:nvSpPr>
        <p:spPr>
          <a:xfrm xmlns:a="http://schemas.openxmlformats.org/drawingml/2006/main">
            <a:off x="3127248" y="2450592"/>
            <a:ext cx="1591056"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950">
                <a:solidFill>
                  <a:srgbClr val="475569"/>
                </a:solidFill>
                <a:latin typeface="Aptos"/>
                <a:ea typeface="Aptos"/>
                <a:cs typeface="Aptos"/>
              </a:rPr>
              <a:t>Backend redirects to the selected TWC Authentication Server.</a:t>
            </a:r>
          </a:p>
        </p:txBody>
      </p:sp>
      <p:sp>
        <p:nvSpPr>
          <p:cNvPr id="16" name="Shape 14">
            <a:extLst xmlns:a="http://schemas.openxmlformats.org/drawingml/2006/main">
              <a:ext uri="{FF2B5EF4-FFF2-40B4-BE49-F238E27FC236}">
                <a16:creationId xmlns:a16="http://schemas.microsoft.com/office/drawing/2014/main" id="{64EF3DD4-830E-4AFF-8B02-79B14D3149F5}"/>
              </a:ext>
            </a:extLst>
          </p:cNvPr>
          <p:cNvSpPr>
            <a:spLocks xmlns:a="http://schemas.openxmlformats.org/drawingml/2006/main" noGrp="1"/>
          </p:cNvSpPr>
          <p:nvPr/>
        </p:nvSpPr>
        <p:spPr>
          <a:xfrm xmlns:a="http://schemas.openxmlformats.org/drawingml/2006/main">
            <a:off x="4919472" y="2898648"/>
            <a:ext cx="338328" cy="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BD02F238-AC5A-4642-BF85-65C9ED6BC33C}"/>
              </a:ext>
            </a:extLst>
          </p:cNvPr>
          <p:cNvSpPr>
            <a:spLocks xmlns:a="http://schemas.openxmlformats.org/drawingml/2006/main" noGrp="1"/>
          </p:cNvSpPr>
          <p:nvPr/>
        </p:nvSpPr>
        <p:spPr>
          <a:xfrm xmlns:a="http://schemas.openxmlformats.org/drawingml/2006/main">
            <a:off x="5257800" y="1828800"/>
            <a:ext cx="1993392" cy="2148840"/>
          </a:xfrm>
          <a:prstGeom xmlns:a="http://schemas.openxmlformats.org/drawingml/2006/main" prst="roundRect">
            <a:avLst>
              <a:gd name="adj" fmla="val 5505"/>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8" name="Shape 16">
            <a:extLst xmlns:a="http://schemas.openxmlformats.org/drawingml/2006/main">
              <a:ext uri="{FF2B5EF4-FFF2-40B4-BE49-F238E27FC236}">
                <a16:creationId xmlns:a16="http://schemas.microsoft.com/office/drawing/2014/main" id="{DFF541EB-6181-4C5C-B448-C3152EBC535C}"/>
              </a:ext>
            </a:extLst>
          </p:cNvPr>
          <p:cNvSpPr>
            <a:spLocks xmlns:a="http://schemas.openxmlformats.org/drawingml/2006/main" noGrp="1"/>
          </p:cNvSpPr>
          <p:nvPr/>
        </p:nvSpPr>
        <p:spPr>
          <a:xfrm xmlns:a="http://schemas.openxmlformats.org/drawingml/2006/main">
            <a:off x="5422392" y="1993392"/>
            <a:ext cx="420624" cy="301752"/>
          </a:xfrm>
          <a:prstGeom xmlns:a="http://schemas.openxmlformats.org/drawingml/2006/main" prst="roundRect">
            <a:avLst>
              <a:gd name="adj" fmla="val 24242"/>
            </a:avLst>
          </a:prstGeom>
          <a:solidFill xmlns:a="http://schemas.openxmlformats.org/drawingml/2006/main">
            <a:srgbClr val="14B8A6"/>
          </a:solidFill>
          <a:ln xmlns:a="http://schemas.openxmlformats.org/drawingml/2006/main" w="12700">
            <a:solidFill>
              <a:srgbClr val="14B8A6"/>
            </a:solidFill>
            <a:prstDash val="solid"/>
          </a:ln>
        </p:spPr>
      </p:sp>
      <p:sp>
        <p:nvSpPr>
          <p:cNvPr id="19" name="Text 17">
            <a:extLst xmlns:a="http://schemas.openxmlformats.org/drawingml/2006/main">
              <a:ext uri="{FF2B5EF4-FFF2-40B4-BE49-F238E27FC236}">
                <a16:creationId xmlns:a16="http://schemas.microsoft.com/office/drawing/2014/main" id="{12E4AF54-BB12-4B33-9CD0-2BE2DFC0C87C}"/>
              </a:ext>
            </a:extLst>
          </p:cNvPr>
          <p:cNvSpPr>
            <a:spLocks xmlns:a="http://schemas.openxmlformats.org/drawingml/2006/main" noGrp="1"/>
          </p:cNvSpPr>
          <p:nvPr/>
        </p:nvSpPr>
        <p:spPr>
          <a:xfrm xmlns:a="http://schemas.openxmlformats.org/drawingml/2006/main">
            <a:off x="5422392" y="203454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3</a:t>
            </a:r>
          </a:p>
        </p:txBody>
      </p:sp>
      <p:sp>
        <p:nvSpPr>
          <p:cNvPr id="20" name="Text 18">
            <a:extLst xmlns:a="http://schemas.openxmlformats.org/drawingml/2006/main">
              <a:ext uri="{FF2B5EF4-FFF2-40B4-BE49-F238E27FC236}">
                <a16:creationId xmlns:a16="http://schemas.microsoft.com/office/drawing/2014/main" id="{1884CC5C-4BCB-4997-A1B9-2F92CBD2F9EC}"/>
              </a:ext>
            </a:extLst>
          </p:cNvPr>
          <p:cNvSpPr>
            <a:spLocks xmlns:a="http://schemas.openxmlformats.org/drawingml/2006/main" noGrp="1"/>
          </p:cNvSpPr>
          <p:nvPr/>
        </p:nvSpPr>
        <p:spPr>
          <a:xfrm xmlns:a="http://schemas.openxmlformats.org/drawingml/2006/main">
            <a:off x="5961888" y="1993392"/>
            <a:ext cx="1088136"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Callback</a:t>
            </a:r>
          </a:p>
        </p:txBody>
      </p:sp>
      <p:sp>
        <p:nvSpPr>
          <p:cNvPr id="21" name="Text 19">
            <a:extLst xmlns:a="http://schemas.openxmlformats.org/drawingml/2006/main">
              <a:ext uri="{FF2B5EF4-FFF2-40B4-BE49-F238E27FC236}">
                <a16:creationId xmlns:a16="http://schemas.microsoft.com/office/drawing/2014/main" id="{6E30DD8C-C3E5-46FF-921D-6699AAEDED00}"/>
              </a:ext>
            </a:extLst>
          </p:cNvPr>
          <p:cNvSpPr>
            <a:spLocks xmlns:a="http://schemas.openxmlformats.org/drawingml/2006/main" noGrp="1"/>
          </p:cNvSpPr>
          <p:nvPr/>
        </p:nvSpPr>
        <p:spPr>
          <a:xfrm xmlns:a="http://schemas.openxmlformats.org/drawingml/2006/main">
            <a:off x="5458968" y="2450592"/>
            <a:ext cx="1591056"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950">
                <a:solidFill>
                  <a:srgbClr val="475569"/>
                </a:solidFill>
                <a:latin typeface="Aptos"/>
                <a:ea typeface="Aptos"/>
                <a:cs typeface="Aptos"/>
              </a:rPr>
              <a:t>Backend exchanges the authorization code for tokens.</a:t>
            </a:r>
          </a:p>
        </p:txBody>
      </p:sp>
      <p:sp>
        <p:nvSpPr>
          <p:cNvPr id="22" name="Shape 20">
            <a:extLst xmlns:a="http://schemas.openxmlformats.org/drawingml/2006/main">
              <a:ext uri="{FF2B5EF4-FFF2-40B4-BE49-F238E27FC236}">
                <a16:creationId xmlns:a16="http://schemas.microsoft.com/office/drawing/2014/main" id="{96DE7091-9E7A-4F9A-BB96-8060FC82CDC4}"/>
              </a:ext>
            </a:extLst>
          </p:cNvPr>
          <p:cNvSpPr>
            <a:spLocks xmlns:a="http://schemas.openxmlformats.org/drawingml/2006/main" noGrp="1"/>
          </p:cNvSpPr>
          <p:nvPr/>
        </p:nvSpPr>
        <p:spPr>
          <a:xfrm xmlns:a="http://schemas.openxmlformats.org/drawingml/2006/main">
            <a:off x="7251192" y="2898648"/>
            <a:ext cx="338328" cy="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23" name="Shape 21">
            <a:extLst xmlns:a="http://schemas.openxmlformats.org/drawingml/2006/main">
              <a:ext uri="{FF2B5EF4-FFF2-40B4-BE49-F238E27FC236}">
                <a16:creationId xmlns:a16="http://schemas.microsoft.com/office/drawing/2014/main" id="{CBAA449B-0359-48EA-9842-7CD4A9A3DF9E}"/>
              </a:ext>
            </a:extLst>
          </p:cNvPr>
          <p:cNvSpPr>
            <a:spLocks xmlns:a="http://schemas.openxmlformats.org/drawingml/2006/main" noGrp="1"/>
          </p:cNvSpPr>
          <p:nvPr/>
        </p:nvSpPr>
        <p:spPr>
          <a:xfrm xmlns:a="http://schemas.openxmlformats.org/drawingml/2006/main">
            <a:off x="7589520" y="1828800"/>
            <a:ext cx="1993392" cy="2148840"/>
          </a:xfrm>
          <a:prstGeom xmlns:a="http://schemas.openxmlformats.org/drawingml/2006/main" prst="roundRect">
            <a:avLst>
              <a:gd name="adj" fmla="val 5505"/>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24" name="Shape 22">
            <a:extLst xmlns:a="http://schemas.openxmlformats.org/drawingml/2006/main">
              <a:ext uri="{FF2B5EF4-FFF2-40B4-BE49-F238E27FC236}">
                <a16:creationId xmlns:a16="http://schemas.microsoft.com/office/drawing/2014/main" id="{69975C80-09A4-4DB1-A376-8D629979CF0D}"/>
              </a:ext>
            </a:extLst>
          </p:cNvPr>
          <p:cNvSpPr>
            <a:spLocks xmlns:a="http://schemas.openxmlformats.org/drawingml/2006/main" noGrp="1"/>
          </p:cNvSpPr>
          <p:nvPr/>
        </p:nvSpPr>
        <p:spPr>
          <a:xfrm xmlns:a="http://schemas.openxmlformats.org/drawingml/2006/main">
            <a:off x="7754112" y="1993392"/>
            <a:ext cx="420624" cy="301752"/>
          </a:xfrm>
          <a:prstGeom xmlns:a="http://schemas.openxmlformats.org/drawingml/2006/main" prst="roundRect">
            <a:avLst>
              <a:gd name="adj" fmla="val 24242"/>
            </a:avLst>
          </a:prstGeom>
          <a:solidFill xmlns:a="http://schemas.openxmlformats.org/drawingml/2006/main">
            <a:srgbClr val="10B981"/>
          </a:solidFill>
          <a:ln xmlns:a="http://schemas.openxmlformats.org/drawingml/2006/main" w="12700">
            <a:solidFill>
              <a:srgbClr val="10B981"/>
            </a:solidFill>
            <a:prstDash val="solid"/>
          </a:ln>
        </p:spPr>
      </p:sp>
      <p:sp>
        <p:nvSpPr>
          <p:cNvPr id="25" name="Text 23">
            <a:extLst xmlns:a="http://schemas.openxmlformats.org/drawingml/2006/main">
              <a:ext uri="{FF2B5EF4-FFF2-40B4-BE49-F238E27FC236}">
                <a16:creationId xmlns:a16="http://schemas.microsoft.com/office/drawing/2014/main" id="{CA0BECD1-82E4-441F-8714-EA9C344C3406}"/>
              </a:ext>
            </a:extLst>
          </p:cNvPr>
          <p:cNvSpPr>
            <a:spLocks xmlns:a="http://schemas.openxmlformats.org/drawingml/2006/main" noGrp="1"/>
          </p:cNvSpPr>
          <p:nvPr/>
        </p:nvSpPr>
        <p:spPr>
          <a:xfrm xmlns:a="http://schemas.openxmlformats.org/drawingml/2006/main">
            <a:off x="7754112" y="203454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4</a:t>
            </a:r>
          </a:p>
        </p:txBody>
      </p:sp>
      <p:sp>
        <p:nvSpPr>
          <p:cNvPr id="26" name="Text 24">
            <a:extLst xmlns:a="http://schemas.openxmlformats.org/drawingml/2006/main">
              <a:ext uri="{FF2B5EF4-FFF2-40B4-BE49-F238E27FC236}">
                <a16:creationId xmlns:a16="http://schemas.microsoft.com/office/drawing/2014/main" id="{6008E0F4-1856-4B68-953C-666EEEFAEBDD}"/>
              </a:ext>
            </a:extLst>
          </p:cNvPr>
          <p:cNvSpPr>
            <a:spLocks xmlns:a="http://schemas.openxmlformats.org/drawingml/2006/main" noGrp="1"/>
          </p:cNvSpPr>
          <p:nvPr/>
        </p:nvSpPr>
        <p:spPr>
          <a:xfrm xmlns:a="http://schemas.openxmlformats.org/drawingml/2006/main">
            <a:off x="8293608" y="1993392"/>
            <a:ext cx="1088136"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Validate user</a:t>
            </a:r>
          </a:p>
        </p:txBody>
      </p:sp>
      <p:sp>
        <p:nvSpPr>
          <p:cNvPr id="27" name="Text 25">
            <a:extLst xmlns:a="http://schemas.openxmlformats.org/drawingml/2006/main">
              <a:ext uri="{FF2B5EF4-FFF2-40B4-BE49-F238E27FC236}">
                <a16:creationId xmlns:a16="http://schemas.microsoft.com/office/drawing/2014/main" id="{BE43224C-183A-47FB-8BE8-3CF9BC176159}"/>
              </a:ext>
            </a:extLst>
          </p:cNvPr>
          <p:cNvSpPr>
            <a:spLocks xmlns:a="http://schemas.openxmlformats.org/drawingml/2006/main" noGrp="1"/>
          </p:cNvSpPr>
          <p:nvPr/>
        </p:nvSpPr>
        <p:spPr>
          <a:xfrm xmlns:a="http://schemas.openxmlformats.org/drawingml/2006/main">
            <a:off x="7790688" y="2450592"/>
            <a:ext cx="1591056"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Backend validates identity through the current-user endpoint.</a:t>
            </a:r>
          </a:p>
        </p:txBody>
      </p:sp>
      <p:sp>
        <p:nvSpPr>
          <p:cNvPr id="28" name="Shape 26">
            <a:extLst xmlns:a="http://schemas.openxmlformats.org/drawingml/2006/main">
              <a:ext uri="{FF2B5EF4-FFF2-40B4-BE49-F238E27FC236}">
                <a16:creationId xmlns:a16="http://schemas.microsoft.com/office/drawing/2014/main" id="{FD95A0A8-84F9-4007-8367-F79C86F11233}"/>
              </a:ext>
            </a:extLst>
          </p:cNvPr>
          <p:cNvSpPr>
            <a:spLocks xmlns:a="http://schemas.openxmlformats.org/drawingml/2006/main" noGrp="1"/>
          </p:cNvSpPr>
          <p:nvPr/>
        </p:nvSpPr>
        <p:spPr>
          <a:xfrm xmlns:a="http://schemas.openxmlformats.org/drawingml/2006/main">
            <a:off x="9582912" y="2898648"/>
            <a:ext cx="338328" cy="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29" name="Shape 27">
            <a:extLst xmlns:a="http://schemas.openxmlformats.org/drawingml/2006/main">
              <a:ext uri="{FF2B5EF4-FFF2-40B4-BE49-F238E27FC236}">
                <a16:creationId xmlns:a16="http://schemas.microsoft.com/office/drawing/2014/main" id="{12E892A4-27AC-43B8-8313-6E9F48E067AD}"/>
              </a:ext>
            </a:extLst>
          </p:cNvPr>
          <p:cNvSpPr>
            <a:spLocks xmlns:a="http://schemas.openxmlformats.org/drawingml/2006/main" noGrp="1"/>
          </p:cNvSpPr>
          <p:nvPr/>
        </p:nvSpPr>
        <p:spPr>
          <a:xfrm xmlns:a="http://schemas.openxmlformats.org/drawingml/2006/main">
            <a:off x="9921240" y="1828800"/>
            <a:ext cx="1993392" cy="2148840"/>
          </a:xfrm>
          <a:prstGeom xmlns:a="http://schemas.openxmlformats.org/drawingml/2006/main" prst="roundRect">
            <a:avLst>
              <a:gd name="adj" fmla="val 5505"/>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30" name="Shape 28">
            <a:extLst xmlns:a="http://schemas.openxmlformats.org/drawingml/2006/main">
              <a:ext uri="{FF2B5EF4-FFF2-40B4-BE49-F238E27FC236}">
                <a16:creationId xmlns:a16="http://schemas.microsoft.com/office/drawing/2014/main" id="{E38121CC-F6EA-4E28-BDFC-4B20E6895D1F}"/>
              </a:ext>
            </a:extLst>
          </p:cNvPr>
          <p:cNvSpPr>
            <a:spLocks xmlns:a="http://schemas.openxmlformats.org/drawingml/2006/main" noGrp="1"/>
          </p:cNvSpPr>
          <p:nvPr/>
        </p:nvSpPr>
        <p:spPr>
          <a:xfrm xmlns:a="http://schemas.openxmlformats.org/drawingml/2006/main">
            <a:off x="10085832" y="1993392"/>
            <a:ext cx="420624" cy="301752"/>
          </a:xfrm>
          <a:prstGeom xmlns:a="http://schemas.openxmlformats.org/drawingml/2006/main" prst="roundRect">
            <a:avLst>
              <a:gd name="adj" fmla="val 24242"/>
            </a:avLst>
          </a:prstGeom>
          <a:solidFill xmlns:a="http://schemas.openxmlformats.org/drawingml/2006/main">
            <a:srgbClr val="F59E0B"/>
          </a:solidFill>
          <a:ln xmlns:a="http://schemas.openxmlformats.org/drawingml/2006/main" w="12700">
            <a:solidFill>
              <a:srgbClr val="F59E0B"/>
            </a:solidFill>
            <a:prstDash val="solid"/>
          </a:ln>
        </p:spPr>
      </p:sp>
      <p:sp>
        <p:nvSpPr>
          <p:cNvPr id="31" name="Text 29">
            <a:extLst xmlns:a="http://schemas.openxmlformats.org/drawingml/2006/main">
              <a:ext uri="{FF2B5EF4-FFF2-40B4-BE49-F238E27FC236}">
                <a16:creationId xmlns:a16="http://schemas.microsoft.com/office/drawing/2014/main" id="{D1E3A99E-387D-4773-B116-5525E60A6365}"/>
              </a:ext>
            </a:extLst>
          </p:cNvPr>
          <p:cNvSpPr>
            <a:spLocks xmlns:a="http://schemas.openxmlformats.org/drawingml/2006/main" noGrp="1"/>
          </p:cNvSpPr>
          <p:nvPr/>
        </p:nvSpPr>
        <p:spPr>
          <a:xfrm xmlns:a="http://schemas.openxmlformats.org/drawingml/2006/main">
            <a:off x="10085832" y="203454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5</a:t>
            </a:r>
          </a:p>
        </p:txBody>
      </p:sp>
      <p:sp>
        <p:nvSpPr>
          <p:cNvPr id="32" name="Text 30">
            <a:extLst xmlns:a="http://schemas.openxmlformats.org/drawingml/2006/main">
              <a:ext uri="{FF2B5EF4-FFF2-40B4-BE49-F238E27FC236}">
                <a16:creationId xmlns:a16="http://schemas.microsoft.com/office/drawing/2014/main" id="{E22B2E7E-730B-445E-8F67-70A94DDFD9DA}"/>
              </a:ext>
            </a:extLst>
          </p:cNvPr>
          <p:cNvSpPr>
            <a:spLocks xmlns:a="http://schemas.openxmlformats.org/drawingml/2006/main" noGrp="1"/>
          </p:cNvSpPr>
          <p:nvPr/>
        </p:nvSpPr>
        <p:spPr>
          <a:xfrm xmlns:a="http://schemas.openxmlformats.org/drawingml/2006/main">
            <a:off x="10625328" y="1993392"/>
            <a:ext cx="1088136"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Session ready</a:t>
            </a:r>
          </a:p>
        </p:txBody>
      </p:sp>
      <p:sp>
        <p:nvSpPr>
          <p:cNvPr id="33" name="Text 31">
            <a:extLst xmlns:a="http://schemas.openxmlformats.org/drawingml/2006/main">
              <a:ext uri="{FF2B5EF4-FFF2-40B4-BE49-F238E27FC236}">
                <a16:creationId xmlns:a16="http://schemas.microsoft.com/office/drawing/2014/main" id="{1246E7DC-A04F-45CE-A5AE-454952140ACA}"/>
              </a:ext>
            </a:extLst>
          </p:cNvPr>
          <p:cNvSpPr>
            <a:spLocks xmlns:a="http://schemas.openxmlformats.org/drawingml/2006/main" noGrp="1"/>
          </p:cNvSpPr>
          <p:nvPr/>
        </p:nvSpPr>
        <p:spPr>
          <a:xfrm xmlns:a="http://schemas.openxmlformats.org/drawingml/2006/main">
            <a:off x="10122408" y="2450592"/>
            <a:ext cx="1591056"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Secure HTTP-only session returns a workspace snapshot to the UI.</a:t>
            </a:r>
          </a:p>
        </p:txBody>
      </p:sp>
      <p:sp>
        <p:nvSpPr>
          <p:cNvPr id="34" name="Shape 32">
            <a:extLst xmlns:a="http://schemas.openxmlformats.org/drawingml/2006/main">
              <a:ext uri="{FF2B5EF4-FFF2-40B4-BE49-F238E27FC236}">
                <a16:creationId xmlns:a16="http://schemas.microsoft.com/office/drawing/2014/main" id="{19E211DF-DE62-436F-9790-983D5A3F88F5}"/>
              </a:ext>
            </a:extLst>
          </p:cNvPr>
          <p:cNvSpPr>
            <a:spLocks xmlns:a="http://schemas.openxmlformats.org/drawingml/2006/main" noGrp="1"/>
          </p:cNvSpPr>
          <p:nvPr/>
        </p:nvSpPr>
        <p:spPr>
          <a:xfrm xmlns:a="http://schemas.openxmlformats.org/drawingml/2006/main">
            <a:off x="914400" y="4800600"/>
            <a:ext cx="10332720" cy="713232"/>
          </a:xfrm>
          <a:prstGeom xmlns:a="http://schemas.openxmlformats.org/drawingml/2006/main" prst="roundRect">
            <a:avLst>
              <a:gd name="adj" fmla="val 17949"/>
            </a:avLst>
          </a:prstGeom>
          <a:solidFill xmlns:a="http://schemas.openxmlformats.org/drawingml/2006/main">
            <a:srgbClr val="EAF2FF"/>
          </a:solidFill>
          <a:ln xmlns:a="http://schemas.openxmlformats.org/drawingml/2006/main" w="12700">
            <a:solidFill>
              <a:srgbClr val="BFDBFE"/>
            </a:solidFill>
            <a:prstDash val="solid"/>
          </a:ln>
        </p:spPr>
      </p:sp>
      <p:sp>
        <p:nvSpPr>
          <p:cNvPr id="35" name="Text 33">
            <a:extLst xmlns:a="http://schemas.openxmlformats.org/drawingml/2006/main">
              <a:ext uri="{FF2B5EF4-FFF2-40B4-BE49-F238E27FC236}">
                <a16:creationId xmlns:a16="http://schemas.microsoft.com/office/drawing/2014/main" id="{C04088EC-2D58-4D42-83E2-EE6B8221EF70}"/>
              </a:ext>
            </a:extLst>
          </p:cNvPr>
          <p:cNvSpPr>
            <a:spLocks xmlns:a="http://schemas.openxmlformats.org/drawingml/2006/main" noGrp="1"/>
          </p:cNvSpPr>
          <p:nvPr/>
        </p:nvSpPr>
        <p:spPr>
          <a:xfrm xmlns:a="http://schemas.openxmlformats.org/drawingml/2006/main">
            <a:off x="1097280" y="5010912"/>
            <a:ext cx="9966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B1F3A"/>
                </a:solidFill>
                <a:latin typeface="Aptos"/>
                <a:ea typeface="Aptos"/>
                <a:cs typeface="Aptos"/>
              </a:rPr>
              <a:t>Fallback path: users can still use an explicit TWC token when AuthServer login is not available or needs troubleshooting.</a:t>
            </a:r>
          </a:p>
        </p:txBody>
      </p:sp>
      <p:sp>
        <p:nvSpPr>
          <p:cNvPr id="36" name="Slide Number Placeholder 0">
            <a:extLst xmlns:a="http://schemas.openxmlformats.org/drawingml/2006/main">
              <a:ext uri="{FF2B5EF4-FFF2-40B4-BE49-F238E27FC236}">
                <a16:creationId xmlns:a16="http://schemas.microsoft.com/office/drawing/2014/main" id="{43ADABF5-5859-40B7-B05A-232FB5B49E8B}"/>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4</a:t>
            </a:fld>
          </a:p>
        </p:txBody>
      </p:sp>
    </p:spTree>
    <p:extLst>
      <p:ext uri="{BB962C8B-B14F-4D97-AF65-F5344CB8AC3E}">
        <p14:creationId xmlns:p14="http://schemas.microsoft.com/office/powerpoint/2010/main" val="1376815090"/>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6DEAE2E-B413-424E-BAC7-9325D09CF6C0}"/>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25C685BD-1EEC-4FB7-941D-052BF251FBBC}"/>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USER INTERFACE</a:t>
            </a:r>
          </a:p>
        </p:txBody>
      </p:sp>
      <p:sp>
        <p:nvSpPr>
          <p:cNvPr id="4" name="Text 2">
            <a:extLst xmlns:a="http://schemas.openxmlformats.org/drawingml/2006/main">
              <a:ext uri="{FF2B5EF4-FFF2-40B4-BE49-F238E27FC236}">
                <a16:creationId xmlns:a16="http://schemas.microsoft.com/office/drawing/2014/main" id="{6050B844-B732-429A-9BE8-CC49D7839FAB}"/>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Frontend experience: workspace tabs</a:t>
            </a:r>
          </a:p>
        </p:txBody>
      </p:sp>
      <p:sp>
        <p:nvSpPr>
          <p:cNvPr id="5" name="Shape 3">
            <a:extLst xmlns:a="http://schemas.openxmlformats.org/drawingml/2006/main">
              <a:ext uri="{FF2B5EF4-FFF2-40B4-BE49-F238E27FC236}">
                <a16:creationId xmlns:a16="http://schemas.microsoft.com/office/drawing/2014/main" id="{45C44C0E-0FAD-4427-A7F0-73871D0A9356}"/>
              </a:ext>
            </a:extLst>
          </p:cNvPr>
          <p:cNvSpPr>
            <a:spLocks xmlns:a="http://schemas.openxmlformats.org/drawingml/2006/main" noGrp="1"/>
          </p:cNvSpPr>
          <p:nvPr/>
        </p:nvSpPr>
        <p:spPr>
          <a:xfrm xmlns:a="http://schemas.openxmlformats.org/drawingml/2006/main">
            <a:off x="685800" y="1234440"/>
            <a:ext cx="5074920" cy="868680"/>
          </a:xfrm>
          <a:prstGeom xmlns:a="http://schemas.openxmlformats.org/drawingml/2006/main" prst="roundRect">
            <a:avLst>
              <a:gd name="adj" fmla="val 12632"/>
            </a:avLst>
          </a:prstGeom>
          <a:solidFill xmlns:a="http://schemas.openxmlformats.org/drawingml/2006/main">
            <a:srgbClr val="FFFFFF"/>
          </a:solidFill>
          <a:ln xmlns:a="http://schemas.openxmlformats.org/drawingml/2006/main" w="12700">
            <a:solidFill>
              <a:srgbClr val="D9E2EC"/>
            </a:solidFill>
            <a:prstDash val="solid"/>
          </a:ln>
        </p:spPr>
      </p:sp>
      <p:sp>
        <p:nvSpPr>
          <p:cNvPr id="6" name="Text 4">
            <a:extLst xmlns:a="http://schemas.openxmlformats.org/drawingml/2006/main">
              <a:ext uri="{FF2B5EF4-FFF2-40B4-BE49-F238E27FC236}">
                <a16:creationId xmlns:a16="http://schemas.microsoft.com/office/drawing/2014/main" id="{02E4B4EF-E98E-4A0A-A036-C3B6EBC38788}"/>
              </a:ext>
            </a:extLst>
          </p:cNvPr>
          <p:cNvSpPr>
            <a:spLocks xmlns:a="http://schemas.openxmlformats.org/drawingml/2006/main" noGrp="1"/>
          </p:cNvSpPr>
          <p:nvPr/>
        </p:nvSpPr>
        <p:spPr>
          <a:xfrm xmlns:a="http://schemas.openxmlformats.org/drawingml/2006/main">
            <a:off x="886968" y="1399032"/>
            <a:ext cx="46725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200" b="1">
                <a:solidFill>
                  <a:srgbClr val="2563EB"/>
                </a:solidFill>
                <a:latin typeface="Aptos Display"/>
                <a:ea typeface="Aptos Display"/>
                <a:cs typeface="Aptos Display"/>
              </a:rPr>
              <a:t>Dashboard</a:t>
            </a:r>
          </a:p>
        </p:txBody>
      </p:sp>
      <p:sp>
        <p:nvSpPr>
          <p:cNvPr id="7" name="Text 5">
            <a:extLst xmlns:a="http://schemas.openxmlformats.org/drawingml/2006/main">
              <a:ext uri="{FF2B5EF4-FFF2-40B4-BE49-F238E27FC236}">
                <a16:creationId xmlns:a16="http://schemas.microsoft.com/office/drawing/2014/main" id="{761A78AB-89B9-4E98-9045-A1C6264A96C3}"/>
              </a:ext>
            </a:extLst>
          </p:cNvPr>
          <p:cNvSpPr>
            <a:spLocks xmlns:a="http://schemas.openxmlformats.org/drawingml/2006/main" noGrp="1"/>
          </p:cNvSpPr>
          <p:nvPr/>
        </p:nvSpPr>
        <p:spPr>
          <a:xfrm xmlns:a="http://schemas.openxmlformats.org/drawingml/2006/main">
            <a:off x="886968" y="1856232"/>
            <a:ext cx="4672584" cy="914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850">
                <a:solidFill>
                  <a:srgbClr val="475569"/>
                </a:solidFill>
                <a:latin typeface="Aptos"/>
                <a:ea typeface="Aptos"/>
                <a:cs typeface="Aptos"/>
              </a:rPr>
              <a:t>Session status, server context, quick overview, capability summary.</a:t>
            </a:r>
          </a:p>
        </p:txBody>
      </p:sp>
      <p:sp>
        <p:nvSpPr>
          <p:cNvPr id="8" name="Shape 6">
            <a:extLst xmlns:a="http://schemas.openxmlformats.org/drawingml/2006/main">
              <a:ext uri="{FF2B5EF4-FFF2-40B4-BE49-F238E27FC236}">
                <a16:creationId xmlns:a16="http://schemas.microsoft.com/office/drawing/2014/main" id="{377E6D2E-41E1-4DA1-B48C-2980532B0A3D}"/>
              </a:ext>
            </a:extLst>
          </p:cNvPr>
          <p:cNvSpPr>
            <a:spLocks xmlns:a="http://schemas.openxmlformats.org/drawingml/2006/main" noGrp="1"/>
          </p:cNvSpPr>
          <p:nvPr/>
        </p:nvSpPr>
        <p:spPr>
          <a:xfrm xmlns:a="http://schemas.openxmlformats.org/drawingml/2006/main">
            <a:off x="685800" y="2368296"/>
            <a:ext cx="5074920" cy="868680"/>
          </a:xfrm>
          <a:prstGeom xmlns:a="http://schemas.openxmlformats.org/drawingml/2006/main" prst="roundRect">
            <a:avLst>
              <a:gd name="adj" fmla="val 12632"/>
            </a:avLst>
          </a:prstGeom>
          <a:solidFill xmlns:a="http://schemas.openxmlformats.org/drawingml/2006/main">
            <a:srgbClr val="F8FAFC"/>
          </a:solidFill>
          <a:ln xmlns:a="http://schemas.openxmlformats.org/drawingml/2006/main" w="12700">
            <a:solidFill>
              <a:srgbClr val="D9E2EC"/>
            </a:solidFill>
            <a:prstDash val="solid"/>
          </a:ln>
        </p:spPr>
      </p:sp>
      <p:sp>
        <p:nvSpPr>
          <p:cNvPr id="9" name="Text 7">
            <a:extLst xmlns:a="http://schemas.openxmlformats.org/drawingml/2006/main">
              <a:ext uri="{FF2B5EF4-FFF2-40B4-BE49-F238E27FC236}">
                <a16:creationId xmlns:a16="http://schemas.microsoft.com/office/drawing/2014/main" id="{AE05FEBF-7075-47F8-808D-31F5D8695C35}"/>
              </a:ext>
            </a:extLst>
          </p:cNvPr>
          <p:cNvSpPr>
            <a:spLocks xmlns:a="http://schemas.openxmlformats.org/drawingml/2006/main" noGrp="1"/>
          </p:cNvSpPr>
          <p:nvPr/>
        </p:nvSpPr>
        <p:spPr>
          <a:xfrm xmlns:a="http://schemas.openxmlformats.org/drawingml/2006/main">
            <a:off x="886968" y="2532888"/>
            <a:ext cx="46725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200" b="1">
                <a:solidFill>
                  <a:srgbClr val="2563EB"/>
                </a:solidFill>
                <a:latin typeface="Aptos Display"/>
                <a:ea typeface="Aptos Display"/>
                <a:cs typeface="Aptos Display"/>
              </a:rPr>
              <a:t>Project Browser</a:t>
            </a:r>
          </a:p>
        </p:txBody>
      </p:sp>
      <p:sp>
        <p:nvSpPr>
          <p:cNvPr id="10" name="Text 8">
            <a:extLst xmlns:a="http://schemas.openxmlformats.org/drawingml/2006/main">
              <a:ext uri="{FF2B5EF4-FFF2-40B4-BE49-F238E27FC236}">
                <a16:creationId xmlns:a16="http://schemas.microsoft.com/office/drawing/2014/main" id="{C5483C74-FF2C-43A8-83E7-36AE65101D38}"/>
              </a:ext>
            </a:extLst>
          </p:cNvPr>
          <p:cNvSpPr>
            <a:spLocks xmlns:a="http://schemas.openxmlformats.org/drawingml/2006/main" noGrp="1"/>
          </p:cNvSpPr>
          <p:nvPr/>
        </p:nvSpPr>
        <p:spPr>
          <a:xfrm xmlns:a="http://schemas.openxmlformats.org/drawingml/2006/main">
            <a:off x="886968" y="2990088"/>
            <a:ext cx="4672584" cy="914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850">
                <a:solidFill>
                  <a:srgbClr val="475569"/>
                </a:solidFill>
                <a:latin typeface="Aptos"/>
                <a:ea typeface="Aptos"/>
                <a:cs typeface="Aptos"/>
              </a:rPr>
              <a:t>Browse available projects and branch structure.</a:t>
            </a:r>
          </a:p>
        </p:txBody>
      </p:sp>
      <p:sp>
        <p:nvSpPr>
          <p:cNvPr id="11" name="Shape 9">
            <a:extLst xmlns:a="http://schemas.openxmlformats.org/drawingml/2006/main">
              <a:ext uri="{FF2B5EF4-FFF2-40B4-BE49-F238E27FC236}">
                <a16:creationId xmlns:a16="http://schemas.microsoft.com/office/drawing/2014/main" id="{941F87F6-CEC4-4B09-A44F-C50EB923B2CB}"/>
              </a:ext>
            </a:extLst>
          </p:cNvPr>
          <p:cNvSpPr>
            <a:spLocks xmlns:a="http://schemas.openxmlformats.org/drawingml/2006/main" noGrp="1"/>
          </p:cNvSpPr>
          <p:nvPr/>
        </p:nvSpPr>
        <p:spPr>
          <a:xfrm xmlns:a="http://schemas.openxmlformats.org/drawingml/2006/main">
            <a:off x="685800" y="3502152"/>
            <a:ext cx="5074920" cy="868680"/>
          </a:xfrm>
          <a:prstGeom xmlns:a="http://schemas.openxmlformats.org/drawingml/2006/main" prst="roundRect">
            <a:avLst>
              <a:gd name="adj" fmla="val 12632"/>
            </a:avLst>
          </a:prstGeom>
          <a:solidFill xmlns:a="http://schemas.openxmlformats.org/drawingml/2006/main">
            <a:srgbClr val="FFFFFF"/>
          </a:solidFill>
          <a:ln xmlns:a="http://schemas.openxmlformats.org/drawingml/2006/main" w="12700">
            <a:solidFill>
              <a:srgbClr val="D9E2EC"/>
            </a:solidFill>
            <a:prstDash val="solid"/>
          </a:ln>
        </p:spPr>
      </p:sp>
      <p:sp>
        <p:nvSpPr>
          <p:cNvPr id="12" name="Text 10">
            <a:extLst xmlns:a="http://schemas.openxmlformats.org/drawingml/2006/main">
              <a:ext uri="{FF2B5EF4-FFF2-40B4-BE49-F238E27FC236}">
                <a16:creationId xmlns:a16="http://schemas.microsoft.com/office/drawing/2014/main" id="{643E7FB7-9AD7-4392-9F64-CB0EE3D231CA}"/>
              </a:ext>
            </a:extLst>
          </p:cNvPr>
          <p:cNvSpPr>
            <a:spLocks xmlns:a="http://schemas.openxmlformats.org/drawingml/2006/main" noGrp="1"/>
          </p:cNvSpPr>
          <p:nvPr/>
        </p:nvSpPr>
        <p:spPr>
          <a:xfrm xmlns:a="http://schemas.openxmlformats.org/drawingml/2006/main">
            <a:off x="886968" y="3666744"/>
            <a:ext cx="46725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200" b="1">
                <a:solidFill>
                  <a:srgbClr val="2563EB"/>
                </a:solidFill>
                <a:latin typeface="Aptos Display"/>
                <a:ea typeface="Aptos Display"/>
                <a:cs typeface="Aptos Display"/>
              </a:rPr>
              <a:t>Model Browser</a:t>
            </a:r>
          </a:p>
        </p:txBody>
      </p:sp>
      <p:sp>
        <p:nvSpPr>
          <p:cNvPr id="13" name="Text 11">
            <a:extLst xmlns:a="http://schemas.openxmlformats.org/drawingml/2006/main">
              <a:ext uri="{FF2B5EF4-FFF2-40B4-BE49-F238E27FC236}">
                <a16:creationId xmlns:a16="http://schemas.microsoft.com/office/drawing/2014/main" id="{D17E4BB5-F1EA-4F77-A089-4EC8CE7804D4}"/>
              </a:ext>
            </a:extLst>
          </p:cNvPr>
          <p:cNvSpPr>
            <a:spLocks xmlns:a="http://schemas.openxmlformats.org/drawingml/2006/main" noGrp="1"/>
          </p:cNvSpPr>
          <p:nvPr/>
        </p:nvSpPr>
        <p:spPr>
          <a:xfrm xmlns:a="http://schemas.openxmlformats.org/drawingml/2006/main">
            <a:off x="886968" y="4123944"/>
            <a:ext cx="4672584" cy="914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70196"/>
          </a:bodyPr>
          <a:lstStyle xmlns:a="http://schemas.openxmlformats.org/drawingml/2006/main"/>
          <a:p xmlns:a="http://schemas.openxmlformats.org/drawingml/2006/main">
            <a:pPr marL="0" indent="0">
              <a:buNone/>
            </a:pPr>
            <a:r>
              <a:rPr sz="850">
                <a:solidFill>
                  <a:srgbClr val="475569"/>
                </a:solidFill>
                <a:latin typeface="Aptos"/>
                <a:ea typeface="Aptos"/>
                <a:cs typeface="Aptos"/>
              </a:rPr>
              <a:t>Browse the complete published Cameo tree in native containment order.</a:t>
            </a:r>
          </a:p>
        </p:txBody>
      </p:sp>
      <p:sp>
        <p:nvSpPr>
          <p:cNvPr id="14" name="Shape 12">
            <a:extLst xmlns:a="http://schemas.openxmlformats.org/drawingml/2006/main">
              <a:ext uri="{FF2B5EF4-FFF2-40B4-BE49-F238E27FC236}">
                <a16:creationId xmlns:a16="http://schemas.microsoft.com/office/drawing/2014/main" id="{31B8ECAD-38DC-4B31-97AF-FBA82C6F16B6}"/>
              </a:ext>
            </a:extLst>
          </p:cNvPr>
          <p:cNvSpPr>
            <a:spLocks xmlns:a="http://schemas.openxmlformats.org/drawingml/2006/main" noGrp="1"/>
          </p:cNvSpPr>
          <p:nvPr/>
        </p:nvSpPr>
        <p:spPr>
          <a:xfrm xmlns:a="http://schemas.openxmlformats.org/drawingml/2006/main">
            <a:off x="685800" y="4636008"/>
            <a:ext cx="5074920" cy="868680"/>
          </a:xfrm>
          <a:prstGeom xmlns:a="http://schemas.openxmlformats.org/drawingml/2006/main" prst="roundRect">
            <a:avLst>
              <a:gd name="adj" fmla="val 12632"/>
            </a:avLst>
          </a:prstGeom>
          <a:solidFill xmlns:a="http://schemas.openxmlformats.org/drawingml/2006/main">
            <a:srgbClr val="F8FAFC"/>
          </a:solidFill>
          <a:ln xmlns:a="http://schemas.openxmlformats.org/drawingml/2006/main" w="12700">
            <a:solidFill>
              <a:srgbClr val="D9E2EC"/>
            </a:solidFill>
            <a:prstDash val="solid"/>
          </a:ln>
        </p:spPr>
      </p:sp>
      <p:sp>
        <p:nvSpPr>
          <p:cNvPr id="15" name="Text 13">
            <a:extLst xmlns:a="http://schemas.openxmlformats.org/drawingml/2006/main">
              <a:ext uri="{FF2B5EF4-FFF2-40B4-BE49-F238E27FC236}">
                <a16:creationId xmlns:a16="http://schemas.microsoft.com/office/drawing/2014/main" id="{36D40E3F-195F-44C3-ACB1-98E8B1A8EB65}"/>
              </a:ext>
            </a:extLst>
          </p:cNvPr>
          <p:cNvSpPr>
            <a:spLocks xmlns:a="http://schemas.openxmlformats.org/drawingml/2006/main" noGrp="1"/>
          </p:cNvSpPr>
          <p:nvPr/>
        </p:nvSpPr>
        <p:spPr>
          <a:xfrm xmlns:a="http://schemas.openxmlformats.org/drawingml/2006/main">
            <a:off x="886968" y="4800600"/>
            <a:ext cx="46725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200" b="1">
                <a:solidFill>
                  <a:srgbClr val="2563EB"/>
                </a:solidFill>
                <a:latin typeface="Aptos Display"/>
                <a:ea typeface="Aptos Display"/>
                <a:cs typeface="Aptos Display"/>
              </a:rPr>
              <a:t>Item Details</a:t>
            </a:r>
          </a:p>
        </p:txBody>
      </p:sp>
      <p:sp>
        <p:nvSpPr>
          <p:cNvPr id="16" name="Text 14">
            <a:extLst xmlns:a="http://schemas.openxmlformats.org/drawingml/2006/main">
              <a:ext uri="{FF2B5EF4-FFF2-40B4-BE49-F238E27FC236}">
                <a16:creationId xmlns:a16="http://schemas.microsoft.com/office/drawing/2014/main" id="{FEEC122D-25F2-4E04-B7D0-FDA7E3303A1D}"/>
              </a:ext>
            </a:extLst>
          </p:cNvPr>
          <p:cNvSpPr>
            <a:spLocks xmlns:a="http://schemas.openxmlformats.org/drawingml/2006/main" noGrp="1"/>
          </p:cNvSpPr>
          <p:nvPr/>
        </p:nvSpPr>
        <p:spPr>
          <a:xfrm xmlns:a="http://schemas.openxmlformats.org/drawingml/2006/main">
            <a:off x="886968" y="5257800"/>
            <a:ext cx="4672584" cy="914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70196"/>
          </a:bodyPr>
          <a:lstStyle xmlns:a="http://schemas.openxmlformats.org/drawingml/2006/main"/>
          <a:p xmlns:a="http://schemas.openxmlformats.org/drawingml/2006/main">
            <a:pPr marL="0" indent="0">
              <a:buNone/>
            </a:pPr>
            <a:r>
              <a:rPr sz="850">
                <a:solidFill>
                  <a:srgbClr val="475569"/>
                </a:solidFill>
                <a:latin typeface="Aptos"/>
                <a:ea typeface="Aptos"/>
                <a:cs typeface="Aptos"/>
              </a:rPr>
              <a:t>Inspect every native metamodel property, default, derived value, relation, and diagram.</a:t>
            </a:r>
          </a:p>
        </p:txBody>
      </p:sp>
      <p:sp>
        <p:nvSpPr>
          <p:cNvPr id="17" name="Shape 15">
            <a:extLst xmlns:a="http://schemas.openxmlformats.org/drawingml/2006/main">
              <a:ext uri="{FF2B5EF4-FFF2-40B4-BE49-F238E27FC236}">
                <a16:creationId xmlns:a16="http://schemas.microsoft.com/office/drawing/2014/main" id="{0AB76F3B-4A24-42ED-A07F-874ACD79A8A7}"/>
              </a:ext>
            </a:extLst>
          </p:cNvPr>
          <p:cNvSpPr>
            <a:spLocks xmlns:a="http://schemas.openxmlformats.org/drawingml/2006/main" noGrp="1"/>
          </p:cNvSpPr>
          <p:nvPr/>
        </p:nvSpPr>
        <p:spPr>
          <a:xfrm xmlns:a="http://schemas.openxmlformats.org/drawingml/2006/main">
            <a:off x="6263640" y="1234440"/>
            <a:ext cx="5074920" cy="868680"/>
          </a:xfrm>
          <a:prstGeom xmlns:a="http://schemas.openxmlformats.org/drawingml/2006/main" prst="roundRect">
            <a:avLst>
              <a:gd name="adj" fmla="val 12632"/>
            </a:avLst>
          </a:prstGeom>
          <a:solidFill xmlns:a="http://schemas.openxmlformats.org/drawingml/2006/main">
            <a:srgbClr val="FFFFFF"/>
          </a:solidFill>
          <a:ln xmlns:a="http://schemas.openxmlformats.org/drawingml/2006/main" w="12700">
            <a:solidFill>
              <a:srgbClr val="D9E2EC"/>
            </a:solidFill>
            <a:prstDash val="solid"/>
          </a:ln>
        </p:spPr>
      </p:sp>
      <p:sp>
        <p:nvSpPr>
          <p:cNvPr id="18" name="Text 16">
            <a:extLst xmlns:a="http://schemas.openxmlformats.org/drawingml/2006/main">
              <a:ext uri="{FF2B5EF4-FFF2-40B4-BE49-F238E27FC236}">
                <a16:creationId xmlns:a16="http://schemas.microsoft.com/office/drawing/2014/main" id="{B07AFACD-9542-4F73-BB64-F0E8AC2E9DBD}"/>
              </a:ext>
            </a:extLst>
          </p:cNvPr>
          <p:cNvSpPr>
            <a:spLocks xmlns:a="http://schemas.openxmlformats.org/drawingml/2006/main" noGrp="1"/>
          </p:cNvSpPr>
          <p:nvPr/>
        </p:nvSpPr>
        <p:spPr>
          <a:xfrm xmlns:a="http://schemas.openxmlformats.org/drawingml/2006/main">
            <a:off x="6464808" y="1399032"/>
            <a:ext cx="46725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200" b="1">
                <a:solidFill>
                  <a:srgbClr val="14B8A6"/>
                </a:solidFill>
                <a:latin typeface="Aptos Display"/>
                <a:ea typeface="Aptos Display"/>
                <a:cs typeface="Aptos Display"/>
              </a:rPr>
              <a:t>Compare</a:t>
            </a:r>
          </a:p>
        </p:txBody>
      </p:sp>
      <p:sp>
        <p:nvSpPr>
          <p:cNvPr id="19" name="Text 17">
            <a:extLst xmlns:a="http://schemas.openxmlformats.org/drawingml/2006/main">
              <a:ext uri="{FF2B5EF4-FFF2-40B4-BE49-F238E27FC236}">
                <a16:creationId xmlns:a16="http://schemas.microsoft.com/office/drawing/2014/main" id="{0EF882CF-2EE9-49E8-8211-D9A8C7AD7895}"/>
              </a:ext>
            </a:extLst>
          </p:cNvPr>
          <p:cNvSpPr>
            <a:spLocks xmlns:a="http://schemas.openxmlformats.org/drawingml/2006/main" noGrp="1"/>
          </p:cNvSpPr>
          <p:nvPr/>
        </p:nvSpPr>
        <p:spPr>
          <a:xfrm xmlns:a="http://schemas.openxmlformats.org/drawingml/2006/main">
            <a:off x="6464808" y="1856232"/>
            <a:ext cx="4672584" cy="914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850">
                <a:solidFill>
                  <a:srgbClr val="475569"/>
                </a:solidFill>
                <a:latin typeface="Aptos"/>
                <a:ea typeface="Aptos"/>
                <a:cs typeface="Aptos"/>
              </a:rPr>
              <a:t>Compare selected revisions or items using available contract-backed workflows.</a:t>
            </a:r>
          </a:p>
        </p:txBody>
      </p:sp>
      <p:sp>
        <p:nvSpPr>
          <p:cNvPr id="20" name="Shape 18">
            <a:extLst xmlns:a="http://schemas.openxmlformats.org/drawingml/2006/main">
              <a:ext uri="{FF2B5EF4-FFF2-40B4-BE49-F238E27FC236}">
                <a16:creationId xmlns:a16="http://schemas.microsoft.com/office/drawing/2014/main" id="{AB3238F8-6411-4A0A-9B41-BFB86264EE7D}"/>
              </a:ext>
            </a:extLst>
          </p:cNvPr>
          <p:cNvSpPr>
            <a:spLocks xmlns:a="http://schemas.openxmlformats.org/drawingml/2006/main" noGrp="1"/>
          </p:cNvSpPr>
          <p:nvPr/>
        </p:nvSpPr>
        <p:spPr>
          <a:xfrm xmlns:a="http://schemas.openxmlformats.org/drawingml/2006/main">
            <a:off x="6263640" y="2368296"/>
            <a:ext cx="5074920" cy="868680"/>
          </a:xfrm>
          <a:prstGeom xmlns:a="http://schemas.openxmlformats.org/drawingml/2006/main" prst="roundRect">
            <a:avLst>
              <a:gd name="adj" fmla="val 12632"/>
            </a:avLst>
          </a:prstGeom>
          <a:solidFill xmlns:a="http://schemas.openxmlformats.org/drawingml/2006/main">
            <a:srgbClr val="F8FAFC"/>
          </a:solidFill>
          <a:ln xmlns:a="http://schemas.openxmlformats.org/drawingml/2006/main" w="12700">
            <a:solidFill>
              <a:srgbClr val="D9E2EC"/>
            </a:solidFill>
            <a:prstDash val="solid"/>
          </a:ln>
        </p:spPr>
      </p:sp>
      <p:sp>
        <p:nvSpPr>
          <p:cNvPr id="21" name="Text 19">
            <a:extLst xmlns:a="http://schemas.openxmlformats.org/drawingml/2006/main">
              <a:ext uri="{FF2B5EF4-FFF2-40B4-BE49-F238E27FC236}">
                <a16:creationId xmlns:a16="http://schemas.microsoft.com/office/drawing/2014/main" id="{7DA1A8E1-A2AD-4A4E-BF78-C3E7C3A2C788}"/>
              </a:ext>
            </a:extLst>
          </p:cNvPr>
          <p:cNvSpPr>
            <a:spLocks xmlns:a="http://schemas.openxmlformats.org/drawingml/2006/main" noGrp="1"/>
          </p:cNvSpPr>
          <p:nvPr/>
        </p:nvSpPr>
        <p:spPr>
          <a:xfrm xmlns:a="http://schemas.openxmlformats.org/drawingml/2006/main">
            <a:off x="6464808" y="2532888"/>
            <a:ext cx="46725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200" b="1">
                <a:solidFill>
                  <a:srgbClr val="14B8A6"/>
                </a:solidFill>
                <a:latin typeface="Aptos Display"/>
                <a:ea typeface="Aptos Display"/>
                <a:cs typeface="Aptos Display"/>
              </a:rPr>
              <a:t>Developer API</a:t>
            </a:r>
          </a:p>
        </p:txBody>
      </p:sp>
      <p:sp>
        <p:nvSpPr>
          <p:cNvPr id="22" name="Text 20">
            <a:extLst xmlns:a="http://schemas.openxmlformats.org/drawingml/2006/main">
              <a:ext uri="{FF2B5EF4-FFF2-40B4-BE49-F238E27FC236}">
                <a16:creationId xmlns:a16="http://schemas.microsoft.com/office/drawing/2014/main" id="{67A6F9A9-F5D4-4DBB-AD5E-0D9176DF4187}"/>
              </a:ext>
            </a:extLst>
          </p:cNvPr>
          <p:cNvSpPr>
            <a:spLocks xmlns:a="http://schemas.openxmlformats.org/drawingml/2006/main" noGrp="1"/>
          </p:cNvSpPr>
          <p:nvPr/>
        </p:nvSpPr>
        <p:spPr>
          <a:xfrm xmlns:a="http://schemas.openxmlformats.org/drawingml/2006/main">
            <a:off x="6464808" y="2990088"/>
            <a:ext cx="4672584" cy="914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70196"/>
          </a:bodyPr>
          <a:lstStyle xmlns:a="http://schemas.openxmlformats.org/drawingml/2006/main"/>
          <a:p xmlns:a="http://schemas.openxmlformats.org/drawingml/2006/main">
            <a:pPr marL="0" indent="0">
              <a:buNone/>
            </a:pPr>
            <a:r>
              <a:rPr sz="850">
                <a:solidFill>
                  <a:srgbClr val="475569"/>
                </a:solidFill>
                <a:latin typeface="Aptos"/>
                <a:ea typeface="Aptos"/>
                <a:cs typeface="Aptos"/>
              </a:rPr>
              <a:t>Create scoped keys and copy full-tree or native-specification Python examples.</a:t>
            </a:r>
          </a:p>
        </p:txBody>
      </p:sp>
      <p:sp>
        <p:nvSpPr>
          <p:cNvPr id="23" name="Shape 21">
            <a:extLst xmlns:a="http://schemas.openxmlformats.org/drawingml/2006/main">
              <a:ext uri="{FF2B5EF4-FFF2-40B4-BE49-F238E27FC236}">
                <a16:creationId xmlns:a16="http://schemas.microsoft.com/office/drawing/2014/main" id="{42033911-422D-4DC5-BEED-3CF5916D7196}"/>
              </a:ext>
            </a:extLst>
          </p:cNvPr>
          <p:cNvSpPr>
            <a:spLocks xmlns:a="http://schemas.openxmlformats.org/drawingml/2006/main" noGrp="1"/>
          </p:cNvSpPr>
          <p:nvPr/>
        </p:nvSpPr>
        <p:spPr>
          <a:xfrm xmlns:a="http://schemas.openxmlformats.org/drawingml/2006/main">
            <a:off x="6263640" y="3502152"/>
            <a:ext cx="5074920" cy="868680"/>
          </a:xfrm>
          <a:prstGeom xmlns:a="http://schemas.openxmlformats.org/drawingml/2006/main" prst="roundRect">
            <a:avLst>
              <a:gd name="adj" fmla="val 12632"/>
            </a:avLst>
          </a:prstGeom>
          <a:solidFill xmlns:a="http://schemas.openxmlformats.org/drawingml/2006/main">
            <a:srgbClr val="FFFFFF"/>
          </a:solidFill>
          <a:ln xmlns:a="http://schemas.openxmlformats.org/drawingml/2006/main" w="12700">
            <a:solidFill>
              <a:srgbClr val="D9E2EC"/>
            </a:solidFill>
            <a:prstDash val="solid"/>
          </a:ln>
        </p:spPr>
      </p:sp>
      <p:sp>
        <p:nvSpPr>
          <p:cNvPr id="24" name="Text 22">
            <a:extLst xmlns:a="http://schemas.openxmlformats.org/drawingml/2006/main">
              <a:ext uri="{FF2B5EF4-FFF2-40B4-BE49-F238E27FC236}">
                <a16:creationId xmlns:a16="http://schemas.microsoft.com/office/drawing/2014/main" id="{6D19B23B-763B-4722-9284-BF51335C67BB}"/>
              </a:ext>
            </a:extLst>
          </p:cNvPr>
          <p:cNvSpPr>
            <a:spLocks xmlns:a="http://schemas.openxmlformats.org/drawingml/2006/main" noGrp="1"/>
          </p:cNvSpPr>
          <p:nvPr/>
        </p:nvSpPr>
        <p:spPr>
          <a:xfrm xmlns:a="http://schemas.openxmlformats.org/drawingml/2006/main">
            <a:off x="6464808" y="3666744"/>
            <a:ext cx="46725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200" b="1">
                <a:solidFill>
                  <a:srgbClr val="14B8A6"/>
                </a:solidFill>
                <a:latin typeface="Aptos Display"/>
                <a:ea typeface="Aptos Display"/>
                <a:cs typeface="Aptos Display"/>
              </a:rPr>
              <a:t>API Explorer</a:t>
            </a:r>
          </a:p>
        </p:txBody>
      </p:sp>
      <p:sp>
        <p:nvSpPr>
          <p:cNvPr id="25" name="Text 23">
            <a:extLst xmlns:a="http://schemas.openxmlformats.org/drawingml/2006/main">
              <a:ext uri="{FF2B5EF4-FFF2-40B4-BE49-F238E27FC236}">
                <a16:creationId xmlns:a16="http://schemas.microsoft.com/office/drawing/2014/main" id="{CA67A090-EF17-4DA3-ABFE-7CD8F3B82488}"/>
              </a:ext>
            </a:extLst>
          </p:cNvPr>
          <p:cNvSpPr>
            <a:spLocks xmlns:a="http://schemas.openxmlformats.org/drawingml/2006/main" noGrp="1"/>
          </p:cNvSpPr>
          <p:nvPr/>
        </p:nvSpPr>
        <p:spPr>
          <a:xfrm xmlns:a="http://schemas.openxmlformats.org/drawingml/2006/main">
            <a:off x="6464808" y="4123944"/>
            <a:ext cx="4672584" cy="914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850">
                <a:solidFill>
                  <a:srgbClr val="475569"/>
                </a:solidFill>
                <a:latin typeface="Aptos"/>
                <a:ea typeface="Aptos"/>
                <a:cs typeface="Aptos"/>
              </a:rPr>
              <a:t>Admin-only contract operation explorer backed by the bundled Swagger manifest.</a:t>
            </a:r>
          </a:p>
        </p:txBody>
      </p:sp>
      <p:sp>
        <p:nvSpPr>
          <p:cNvPr id="26" name="Shape 24">
            <a:extLst xmlns:a="http://schemas.openxmlformats.org/drawingml/2006/main">
              <a:ext uri="{FF2B5EF4-FFF2-40B4-BE49-F238E27FC236}">
                <a16:creationId xmlns:a16="http://schemas.microsoft.com/office/drawing/2014/main" id="{49B5308B-0E98-416E-BD0F-4616720141AE}"/>
              </a:ext>
            </a:extLst>
          </p:cNvPr>
          <p:cNvSpPr>
            <a:spLocks xmlns:a="http://schemas.openxmlformats.org/drawingml/2006/main" noGrp="1"/>
          </p:cNvSpPr>
          <p:nvPr/>
        </p:nvSpPr>
        <p:spPr>
          <a:xfrm xmlns:a="http://schemas.openxmlformats.org/drawingml/2006/main">
            <a:off x="6263640" y="4636008"/>
            <a:ext cx="5074920" cy="868680"/>
          </a:xfrm>
          <a:prstGeom xmlns:a="http://schemas.openxmlformats.org/drawingml/2006/main" prst="roundRect">
            <a:avLst>
              <a:gd name="adj" fmla="val 12632"/>
            </a:avLst>
          </a:prstGeom>
          <a:solidFill xmlns:a="http://schemas.openxmlformats.org/drawingml/2006/main">
            <a:srgbClr val="F8FAFC"/>
          </a:solidFill>
          <a:ln xmlns:a="http://schemas.openxmlformats.org/drawingml/2006/main" w="12700">
            <a:solidFill>
              <a:srgbClr val="D9E2EC"/>
            </a:solidFill>
            <a:prstDash val="solid"/>
          </a:ln>
        </p:spPr>
      </p:sp>
      <p:sp>
        <p:nvSpPr>
          <p:cNvPr id="27" name="Text 25">
            <a:extLst xmlns:a="http://schemas.openxmlformats.org/drawingml/2006/main">
              <a:ext uri="{FF2B5EF4-FFF2-40B4-BE49-F238E27FC236}">
                <a16:creationId xmlns:a16="http://schemas.microsoft.com/office/drawing/2014/main" id="{07BC8313-2AC5-456A-96A1-275DC87BC723}"/>
              </a:ext>
            </a:extLst>
          </p:cNvPr>
          <p:cNvSpPr>
            <a:spLocks xmlns:a="http://schemas.openxmlformats.org/drawingml/2006/main" noGrp="1"/>
          </p:cNvSpPr>
          <p:nvPr/>
        </p:nvSpPr>
        <p:spPr>
          <a:xfrm xmlns:a="http://schemas.openxmlformats.org/drawingml/2006/main">
            <a:off x="6464808" y="4800600"/>
            <a:ext cx="46725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200" b="1">
                <a:solidFill>
                  <a:srgbClr val="14B8A6"/>
                </a:solidFill>
                <a:latin typeface="Aptos Display"/>
                <a:ea typeface="Aptos Display"/>
                <a:cs typeface="Aptos Display"/>
              </a:rPr>
              <a:t>Workbench Agent</a:t>
            </a:r>
          </a:p>
        </p:txBody>
      </p:sp>
      <p:sp>
        <p:nvSpPr>
          <p:cNvPr id="28" name="Text 26">
            <a:extLst xmlns:a="http://schemas.openxmlformats.org/drawingml/2006/main">
              <a:ext uri="{FF2B5EF4-FFF2-40B4-BE49-F238E27FC236}">
                <a16:creationId xmlns:a16="http://schemas.microsoft.com/office/drawing/2014/main" id="{6162017C-5B05-4EE8-B432-97EA2203EE65}"/>
              </a:ext>
            </a:extLst>
          </p:cNvPr>
          <p:cNvSpPr>
            <a:spLocks xmlns:a="http://schemas.openxmlformats.org/drawingml/2006/main" noGrp="1"/>
          </p:cNvSpPr>
          <p:nvPr/>
        </p:nvSpPr>
        <p:spPr>
          <a:xfrm xmlns:a="http://schemas.openxmlformats.org/drawingml/2006/main">
            <a:off x="6464808" y="5257800"/>
            <a:ext cx="4672584" cy="914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70196"/>
          </a:bodyPr>
          <a:lstStyle xmlns:a="http://schemas.openxmlformats.org/drawingml/2006/main"/>
          <a:p xmlns:a="http://schemas.openxmlformats.org/drawingml/2006/main">
            <a:pPr marL="0" indent="0">
              <a:buNone/>
            </a:pPr>
            <a:r>
              <a:rPr sz="850">
                <a:solidFill>
                  <a:srgbClr val="475569"/>
                </a:solidFill>
                <a:latin typeface="Aptos"/>
                <a:ea typeface="Aptos"/>
                <a:cs typeface="Aptos"/>
              </a:rPr>
              <a:t>Use any OWUI model with persistent 3DS guidance plus the selected branch model.</a:t>
            </a:r>
          </a:p>
        </p:txBody>
      </p:sp>
      <p:sp>
        <p:nvSpPr>
          <p:cNvPr id="29" name="Slide Number Placeholder 0">
            <a:extLst xmlns:a="http://schemas.openxmlformats.org/drawingml/2006/main">
              <a:ext uri="{FF2B5EF4-FFF2-40B4-BE49-F238E27FC236}">
                <a16:creationId xmlns:a16="http://schemas.microsoft.com/office/drawing/2014/main" id="{DEC0DC4B-86E9-4824-BAAE-DD0D8B8CD29F}"/>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5</a:t>
            </a:fld>
          </a:p>
        </p:txBody>
      </p:sp>
    </p:spTree>
    <p:extLst>
      <p:ext uri="{BB962C8B-B14F-4D97-AF65-F5344CB8AC3E}">
        <p14:creationId xmlns:p14="http://schemas.microsoft.com/office/powerpoint/2010/main" val="2001891429"/>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EEA430C-3373-49C7-9E7C-7862C88FE414}"/>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6B86D9F4-1BFF-49E1-80CD-4A0243A44F79}"/>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FASTAPI SERVICE LAYER</a:t>
            </a:r>
          </a:p>
        </p:txBody>
      </p:sp>
      <p:sp>
        <p:nvSpPr>
          <p:cNvPr id="4" name="Text 2">
            <a:extLst xmlns:a="http://schemas.openxmlformats.org/drawingml/2006/main">
              <a:ext uri="{FF2B5EF4-FFF2-40B4-BE49-F238E27FC236}">
                <a16:creationId xmlns:a16="http://schemas.microsoft.com/office/drawing/2014/main" id="{AEB730CD-F8B3-44E5-A831-899E1D74BB86}"/>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Backend responsibilities</a:t>
            </a:r>
          </a:p>
        </p:txBody>
      </p:sp>
      <p:sp>
        <p:nvSpPr>
          <p:cNvPr id="5" name="Shape 3">
            <a:extLst xmlns:a="http://schemas.openxmlformats.org/drawingml/2006/main">
              <a:ext uri="{FF2B5EF4-FFF2-40B4-BE49-F238E27FC236}">
                <a16:creationId xmlns:a16="http://schemas.microsoft.com/office/drawing/2014/main" id="{D2A83633-AAFE-4E70-B375-6EB7F6622602}"/>
              </a:ext>
            </a:extLst>
          </p:cNvPr>
          <p:cNvSpPr>
            <a:spLocks xmlns:a="http://schemas.openxmlformats.org/drawingml/2006/main" noGrp="1"/>
          </p:cNvSpPr>
          <p:nvPr/>
        </p:nvSpPr>
        <p:spPr>
          <a:xfrm xmlns:a="http://schemas.openxmlformats.org/drawingml/2006/main">
            <a:off x="594360" y="1325880"/>
            <a:ext cx="2743200" cy="452628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Text 4">
            <a:extLst xmlns:a="http://schemas.openxmlformats.org/drawingml/2006/main">
              <a:ext uri="{FF2B5EF4-FFF2-40B4-BE49-F238E27FC236}">
                <a16:creationId xmlns:a16="http://schemas.microsoft.com/office/drawing/2014/main" id="{E85B060C-A324-4C9F-A656-B96C7E9BD767}"/>
              </a:ext>
            </a:extLst>
          </p:cNvPr>
          <p:cNvSpPr>
            <a:spLocks xmlns:a="http://schemas.openxmlformats.org/drawingml/2006/main" noGrp="1"/>
          </p:cNvSpPr>
          <p:nvPr/>
        </p:nvSpPr>
        <p:spPr>
          <a:xfrm xmlns:a="http://schemas.openxmlformats.org/drawingml/2006/main">
            <a:off x="795528" y="1490472"/>
            <a:ext cx="234086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2563EB"/>
                </a:solidFill>
                <a:latin typeface="Aptos Display"/>
                <a:ea typeface="Aptos Display"/>
                <a:cs typeface="Aptos Display"/>
              </a:rPr>
              <a:t>API route groups</a:t>
            </a:r>
          </a:p>
        </p:txBody>
      </p:sp>
      <p:sp>
        <p:nvSpPr>
          <p:cNvPr id="7" name="Text 5">
            <a:extLst xmlns:a="http://schemas.openxmlformats.org/drawingml/2006/main">
              <a:ext uri="{FF2B5EF4-FFF2-40B4-BE49-F238E27FC236}">
                <a16:creationId xmlns:a16="http://schemas.microsoft.com/office/drawing/2014/main" id="{A8EB9DFD-888A-4465-AFFE-8EAAB99711E4}"/>
              </a:ext>
            </a:extLst>
          </p:cNvPr>
          <p:cNvSpPr>
            <a:spLocks xmlns:a="http://schemas.openxmlformats.org/drawingml/2006/main" noGrp="1"/>
          </p:cNvSpPr>
          <p:nvPr/>
        </p:nvSpPr>
        <p:spPr>
          <a:xfrm xmlns:a="http://schemas.openxmlformats.org/drawingml/2006/main">
            <a:off x="795528" y="1947672"/>
            <a:ext cx="2340864" cy="3749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1000">
                <a:solidFill>
                  <a:srgbClr val="475569"/>
                </a:solidFill>
                <a:latin typeface="Aptos"/>
                <a:ea typeface="Aptos"/>
                <a:cs typeface="Aptos"/>
              </a:rPr>
              <a:t>• /auth: OIDC signin, callback, session, token fallback</a:t>
            </a:r>
          </a:p>
          <a:p xmlns:a="http://schemas.openxmlformats.org/drawingml/2006/main">
            <a:pPr marL="0" indent="0">
              <a:buNone/>
            </a:pPr>
            <a:r>
              <a:rPr sz="1000">
                <a:solidFill>
                  <a:srgbClr val="475569"/>
                </a:solidFill>
                <a:latin typeface="Aptos"/>
                <a:ea typeface="Aptos"/>
                <a:cs typeface="Aptos"/>
              </a:rPr>
              <a:t>• /servers: preset management and health</a:t>
            </a:r>
          </a:p>
          <a:p xmlns:a="http://schemas.openxmlformats.org/drawingml/2006/main">
            <a:pPr marL="0" indent="0">
              <a:buNone/>
            </a:pPr>
            <a:r>
              <a:rPr sz="1000">
                <a:solidFill>
                  <a:srgbClr val="475569"/>
                </a:solidFill>
                <a:latin typeface="Aptos"/>
                <a:ea typeface="Aptos"/>
                <a:cs typeface="Aptos"/>
              </a:rPr>
              <a:t>• /workspace: projects, tree, items, compare, permissions, agent</a:t>
            </a:r>
          </a:p>
          <a:p xmlns:a="http://schemas.openxmlformats.org/drawingml/2006/main">
            <a:pPr marL="0" indent="0">
              <a:buNone/>
            </a:pPr>
            <a:r>
              <a:rPr sz="1000">
                <a:solidFill>
                  <a:srgbClr val="475569"/>
                </a:solidFill>
                <a:latin typeface="Aptos"/>
                <a:ea typeface="Aptos"/>
                <a:cs typeface="Aptos"/>
              </a:rPr>
              <a:t>• /cache: scoped branch data, elements, graph, and edits</a:t>
            </a:r>
          </a:p>
        </p:txBody>
      </p:sp>
      <p:sp>
        <p:nvSpPr>
          <p:cNvPr id="8" name="Shape 6">
            <a:extLst xmlns:a="http://schemas.openxmlformats.org/drawingml/2006/main">
              <a:ext uri="{FF2B5EF4-FFF2-40B4-BE49-F238E27FC236}">
                <a16:creationId xmlns:a16="http://schemas.microsoft.com/office/drawing/2014/main" id="{5E591808-8C6E-4E99-9F8E-25B0160534BE}"/>
              </a:ext>
            </a:extLst>
          </p:cNvPr>
          <p:cNvSpPr>
            <a:spLocks xmlns:a="http://schemas.openxmlformats.org/drawingml/2006/main" noGrp="1"/>
          </p:cNvSpPr>
          <p:nvPr/>
        </p:nvSpPr>
        <p:spPr>
          <a:xfrm xmlns:a="http://schemas.openxmlformats.org/drawingml/2006/main">
            <a:off x="3611880" y="1325880"/>
            <a:ext cx="2743200" cy="452628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9" name="Text 7">
            <a:extLst xmlns:a="http://schemas.openxmlformats.org/drawingml/2006/main">
              <a:ext uri="{FF2B5EF4-FFF2-40B4-BE49-F238E27FC236}">
                <a16:creationId xmlns:a16="http://schemas.microsoft.com/office/drawing/2014/main" id="{FC63A4E0-49FC-476A-8C21-49C15D6D6B28}"/>
              </a:ext>
            </a:extLst>
          </p:cNvPr>
          <p:cNvSpPr>
            <a:spLocks xmlns:a="http://schemas.openxmlformats.org/drawingml/2006/main" noGrp="1"/>
          </p:cNvSpPr>
          <p:nvPr/>
        </p:nvSpPr>
        <p:spPr>
          <a:xfrm xmlns:a="http://schemas.openxmlformats.org/drawingml/2006/main">
            <a:off x="3813048" y="1490472"/>
            <a:ext cx="234086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4B8A6"/>
                </a:solidFill>
                <a:latin typeface="Aptos Display"/>
                <a:ea typeface="Aptos Display"/>
                <a:cs typeface="Aptos Display"/>
              </a:rPr>
              <a:t>Platform service</a:t>
            </a:r>
          </a:p>
        </p:txBody>
      </p:sp>
      <p:sp>
        <p:nvSpPr>
          <p:cNvPr id="10" name="Text 8">
            <a:extLst xmlns:a="http://schemas.openxmlformats.org/drawingml/2006/main">
              <a:ext uri="{FF2B5EF4-FFF2-40B4-BE49-F238E27FC236}">
                <a16:creationId xmlns:a16="http://schemas.microsoft.com/office/drawing/2014/main" id="{1DEAA5B1-CD1A-451F-B521-295723934C5B}"/>
              </a:ext>
            </a:extLst>
          </p:cNvPr>
          <p:cNvSpPr>
            <a:spLocks xmlns:a="http://schemas.openxmlformats.org/drawingml/2006/main" noGrp="1"/>
          </p:cNvSpPr>
          <p:nvPr/>
        </p:nvSpPr>
        <p:spPr>
          <a:xfrm xmlns:a="http://schemas.openxmlformats.org/drawingml/2006/main">
            <a:off x="3813048" y="1947672"/>
            <a:ext cx="2340864" cy="3749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00">
                <a:solidFill>
                  <a:srgbClr val="475569"/>
                </a:solidFill>
                <a:latin typeface="Aptos"/>
                <a:ea typeface="Aptos"/>
                <a:cs typeface="Aptos"/>
              </a:rPr>
              <a:t>Central orchestration layer: server profile selection, user session snapshots, capability refresh, live TWC adapter calls, model-cache operations, preferences, jobs, developer keys, and agent settings.</a:t>
            </a:r>
          </a:p>
        </p:txBody>
      </p:sp>
      <p:sp>
        <p:nvSpPr>
          <p:cNvPr id="11" name="Shape 9">
            <a:extLst xmlns:a="http://schemas.openxmlformats.org/drawingml/2006/main">
              <a:ext uri="{FF2B5EF4-FFF2-40B4-BE49-F238E27FC236}">
                <a16:creationId xmlns:a16="http://schemas.microsoft.com/office/drawing/2014/main" id="{4DC81B70-18D7-43BA-964E-8616E108A4AC}"/>
              </a:ext>
            </a:extLst>
          </p:cNvPr>
          <p:cNvSpPr>
            <a:spLocks xmlns:a="http://schemas.openxmlformats.org/drawingml/2006/main" noGrp="1"/>
          </p:cNvSpPr>
          <p:nvPr/>
        </p:nvSpPr>
        <p:spPr>
          <a:xfrm xmlns:a="http://schemas.openxmlformats.org/drawingml/2006/main">
            <a:off x="6629400" y="1325880"/>
            <a:ext cx="2377440" cy="4526280"/>
          </a:xfrm>
          <a:prstGeom xmlns:a="http://schemas.openxmlformats.org/drawingml/2006/main" prst="roundRect">
            <a:avLst>
              <a:gd name="adj" fmla="val 4615"/>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2" name="Text 10">
            <a:extLst xmlns:a="http://schemas.openxmlformats.org/drawingml/2006/main">
              <a:ext uri="{FF2B5EF4-FFF2-40B4-BE49-F238E27FC236}">
                <a16:creationId xmlns:a16="http://schemas.microsoft.com/office/drawing/2014/main" id="{576B16C1-3A89-428F-B47D-A7140B1EED8F}"/>
              </a:ext>
            </a:extLst>
          </p:cNvPr>
          <p:cNvSpPr>
            <a:spLocks xmlns:a="http://schemas.openxmlformats.org/drawingml/2006/main" noGrp="1"/>
          </p:cNvSpPr>
          <p:nvPr/>
        </p:nvSpPr>
        <p:spPr>
          <a:xfrm xmlns:a="http://schemas.openxmlformats.org/drawingml/2006/main">
            <a:off x="6830568" y="1490472"/>
            <a:ext cx="19751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7C3AED"/>
                </a:solidFill>
                <a:latin typeface="Aptos Display"/>
                <a:ea typeface="Aptos Display"/>
                <a:cs typeface="Aptos Display"/>
              </a:rPr>
              <a:t>Adapters</a:t>
            </a:r>
          </a:p>
        </p:txBody>
      </p:sp>
      <p:sp>
        <p:nvSpPr>
          <p:cNvPr id="13" name="Text 11">
            <a:extLst xmlns:a="http://schemas.openxmlformats.org/drawingml/2006/main">
              <a:ext uri="{FF2B5EF4-FFF2-40B4-BE49-F238E27FC236}">
                <a16:creationId xmlns:a16="http://schemas.microsoft.com/office/drawing/2014/main" id="{E05AD4C7-23E3-4579-AA43-34D2C93737D6}"/>
              </a:ext>
            </a:extLst>
          </p:cNvPr>
          <p:cNvSpPr>
            <a:spLocks xmlns:a="http://schemas.openxmlformats.org/drawingml/2006/main" noGrp="1"/>
          </p:cNvSpPr>
          <p:nvPr/>
        </p:nvSpPr>
        <p:spPr>
          <a:xfrm xmlns:a="http://schemas.openxmlformats.org/drawingml/2006/main">
            <a:off x="6830568" y="1947672"/>
            <a:ext cx="1975104" cy="3749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00">
                <a:solidFill>
                  <a:srgbClr val="475569"/>
                </a:solidFill>
                <a:latin typeface="Aptos"/>
                <a:ea typeface="Aptos"/>
                <a:cs typeface="Aptos"/>
              </a:rPr>
              <a:t>Version-specific adapter boundary for TWC 2022xR2 and 2024xR3. Keeps endpoint probing, payload normalization, pagination, and contract execution away from the UI.</a:t>
            </a:r>
          </a:p>
        </p:txBody>
      </p:sp>
      <p:sp>
        <p:nvSpPr>
          <p:cNvPr id="14" name="Shape 12">
            <a:extLst xmlns:a="http://schemas.openxmlformats.org/drawingml/2006/main">
              <a:ext uri="{FF2B5EF4-FFF2-40B4-BE49-F238E27FC236}">
                <a16:creationId xmlns:a16="http://schemas.microsoft.com/office/drawing/2014/main" id="{566F9FAB-AE50-4572-B746-2FB1D30EBAB2}"/>
              </a:ext>
            </a:extLst>
          </p:cNvPr>
          <p:cNvSpPr>
            <a:spLocks xmlns:a="http://schemas.openxmlformats.org/drawingml/2006/main" noGrp="1"/>
          </p:cNvSpPr>
          <p:nvPr/>
        </p:nvSpPr>
        <p:spPr>
          <a:xfrm xmlns:a="http://schemas.openxmlformats.org/drawingml/2006/main">
            <a:off x="9281160" y="1325880"/>
            <a:ext cx="2331720" cy="452628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5" name="Text 13">
            <a:extLst xmlns:a="http://schemas.openxmlformats.org/drawingml/2006/main">
              <a:ext uri="{FF2B5EF4-FFF2-40B4-BE49-F238E27FC236}">
                <a16:creationId xmlns:a16="http://schemas.microsoft.com/office/drawing/2014/main" id="{A42A311F-5CDA-48B1-8910-8C0B61B95EBB}"/>
              </a:ext>
            </a:extLst>
          </p:cNvPr>
          <p:cNvSpPr>
            <a:spLocks xmlns:a="http://schemas.openxmlformats.org/drawingml/2006/main" noGrp="1"/>
          </p:cNvSpPr>
          <p:nvPr/>
        </p:nvSpPr>
        <p:spPr>
          <a:xfrm xmlns:a="http://schemas.openxmlformats.org/drawingml/2006/main">
            <a:off x="9482328" y="1490472"/>
            <a:ext cx="19293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0B981"/>
                </a:solidFill>
                <a:latin typeface="Aptos Display"/>
                <a:ea typeface="Aptos Display"/>
                <a:cs typeface="Aptos Display"/>
              </a:rPr>
              <a:t>Storage</a:t>
            </a:r>
          </a:p>
        </p:txBody>
      </p:sp>
      <p:sp>
        <p:nvSpPr>
          <p:cNvPr id="16" name="Text 14">
            <a:extLst xmlns:a="http://schemas.openxmlformats.org/drawingml/2006/main">
              <a:ext uri="{FF2B5EF4-FFF2-40B4-BE49-F238E27FC236}">
                <a16:creationId xmlns:a16="http://schemas.microsoft.com/office/drawing/2014/main" id="{E186F2BD-5806-4FDD-B2D5-14A8429665D5}"/>
              </a:ext>
            </a:extLst>
          </p:cNvPr>
          <p:cNvSpPr>
            <a:spLocks xmlns:a="http://schemas.openxmlformats.org/drawingml/2006/main" noGrp="1"/>
          </p:cNvSpPr>
          <p:nvPr/>
        </p:nvSpPr>
        <p:spPr>
          <a:xfrm xmlns:a="http://schemas.openxmlformats.org/drawingml/2006/main">
            <a:off x="9482328" y="1947672"/>
            <a:ext cx="1929384" cy="3749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000">
                <a:solidFill>
                  <a:srgbClr val="475569"/>
                </a:solidFill>
                <a:latin typeface="Aptos"/>
                <a:ea typeface="Aptos"/>
                <a:cs typeface="Aptos"/>
              </a:rPr>
              <a:t>SQLite repository stores preset servers, user-selected server state, session-related cache, branch cache, model records, API keys, plugin ingest token, and configuration state.</a:t>
            </a:r>
          </a:p>
        </p:txBody>
      </p:sp>
      <p:sp>
        <p:nvSpPr>
          <p:cNvPr id="25" name="Slide Number Placeholder 0">
            <a:extLst xmlns:a="http://schemas.openxmlformats.org/drawingml/2006/main">
              <a:ext uri="{FF2B5EF4-FFF2-40B4-BE49-F238E27FC236}">
                <a16:creationId xmlns:a16="http://schemas.microsoft.com/office/drawing/2014/main" id="{6C698D5C-19F4-4FC8-84BD-16A4D6A2C413}"/>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6</a:t>
            </a:fld>
          </a:p>
        </p:txBody>
      </p:sp>
    </p:spTree>
    <p:extLst>
      <p:ext uri="{BB962C8B-B14F-4D97-AF65-F5344CB8AC3E}">
        <p14:creationId xmlns:p14="http://schemas.microsoft.com/office/powerpoint/2010/main" val="263232341"/>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8ACD6C3-06F1-4A23-A0EB-34F300684D5A}"/>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5CC094AF-3E6A-4DF4-8148-3FF40465A6D2}"/>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API DISCIPLINE</a:t>
            </a:r>
          </a:p>
        </p:txBody>
      </p:sp>
      <p:sp>
        <p:nvSpPr>
          <p:cNvPr id="4" name="Text 2">
            <a:extLst xmlns:a="http://schemas.openxmlformats.org/drawingml/2006/main">
              <a:ext uri="{FF2B5EF4-FFF2-40B4-BE49-F238E27FC236}">
                <a16:creationId xmlns:a16="http://schemas.microsoft.com/office/drawing/2014/main" id="{8C9D2A5B-3C5F-4621-8A24-BAF8AD645965}"/>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Verified Teamwork Cloud contract boundary</a:t>
            </a:r>
          </a:p>
        </p:txBody>
      </p:sp>
      <p:sp>
        <p:nvSpPr>
          <p:cNvPr id="5" name="Shape 3">
            <a:extLst xmlns:a="http://schemas.openxmlformats.org/drawingml/2006/main">
              <a:ext uri="{FF2B5EF4-FFF2-40B4-BE49-F238E27FC236}">
                <a16:creationId xmlns:a16="http://schemas.microsoft.com/office/drawing/2014/main" id="{C7BE4B74-88A4-4F2B-B656-95F1E9AB6A51}"/>
              </a:ext>
            </a:extLst>
          </p:cNvPr>
          <p:cNvSpPr>
            <a:spLocks xmlns:a="http://schemas.openxmlformats.org/drawingml/2006/main" noGrp="1"/>
          </p:cNvSpPr>
          <p:nvPr/>
        </p:nvSpPr>
        <p:spPr>
          <a:xfrm xmlns:a="http://schemas.openxmlformats.org/drawingml/2006/main">
            <a:off x="640080" y="1417320"/>
            <a:ext cx="5349240" cy="425196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Text 4">
            <a:extLst xmlns:a="http://schemas.openxmlformats.org/drawingml/2006/main">
              <a:ext uri="{FF2B5EF4-FFF2-40B4-BE49-F238E27FC236}">
                <a16:creationId xmlns:a16="http://schemas.microsoft.com/office/drawing/2014/main" id="{CEBF4EE0-0106-4324-866C-1D6D80C3FD2D}"/>
              </a:ext>
            </a:extLst>
          </p:cNvPr>
          <p:cNvSpPr>
            <a:spLocks xmlns:a="http://schemas.openxmlformats.org/drawingml/2006/main" noGrp="1"/>
          </p:cNvSpPr>
          <p:nvPr/>
        </p:nvSpPr>
        <p:spPr>
          <a:xfrm xmlns:a="http://schemas.openxmlformats.org/drawingml/2006/main">
            <a:off x="841248" y="1581912"/>
            <a:ext cx="49469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2563EB"/>
                </a:solidFill>
                <a:latin typeface="Aptos Display"/>
                <a:ea typeface="Aptos Display"/>
                <a:cs typeface="Aptos Display"/>
              </a:rPr>
              <a:t>What the app intentionally uses</a:t>
            </a:r>
          </a:p>
        </p:txBody>
      </p:sp>
      <p:sp>
        <p:nvSpPr>
          <p:cNvPr id="7" name="Text 5">
            <a:extLst xmlns:a="http://schemas.openxmlformats.org/drawingml/2006/main">
              <a:ext uri="{FF2B5EF4-FFF2-40B4-BE49-F238E27FC236}">
                <a16:creationId xmlns:a16="http://schemas.microsoft.com/office/drawing/2014/main" id="{4A1B5147-4F23-4A18-B339-3C6692DEB1D0}"/>
              </a:ext>
            </a:extLst>
          </p:cNvPr>
          <p:cNvSpPr>
            <a:spLocks xmlns:a="http://schemas.openxmlformats.org/drawingml/2006/main" noGrp="1"/>
          </p:cNvSpPr>
          <p:nvPr/>
        </p:nvSpPr>
        <p:spPr>
          <a:xfrm xmlns:a="http://schemas.openxmlformats.org/drawingml/2006/main">
            <a:off x="841248" y="2039112"/>
            <a:ext cx="4946904" cy="34747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200">
                <a:solidFill>
                  <a:srgbClr val="475569"/>
                </a:solidFill>
                <a:latin typeface="Aptos"/>
                <a:ea typeface="Aptos"/>
                <a:cs typeface="Aptos"/>
              </a:rPr>
              <a:t>• Verified Swagger in contracts/RealSwagger.json</a:t>
            </a:r>
          </a:p>
          <a:p xmlns:a="http://schemas.openxmlformats.org/drawingml/2006/main">
            <a:pPr marL="0" indent="0">
              <a:buNone/>
            </a:pPr>
            <a:r>
              <a:rPr sz="1200">
                <a:solidFill>
                  <a:srgbClr val="475569"/>
                </a:solidFill>
                <a:latin typeface="Aptos"/>
                <a:ea typeface="Aptos"/>
                <a:cs typeface="Aptos"/>
              </a:rPr>
              <a:t>• Workspaces, resources, branches, models, elements</a:t>
            </a:r>
          </a:p>
          <a:p xmlns:a="http://schemas.openxmlformats.org/drawingml/2006/main">
            <a:pPr marL="0" indent="0">
              <a:buNone/>
            </a:pPr>
            <a:r>
              <a:rPr sz="1200">
                <a:solidFill>
                  <a:srgbClr val="475569"/>
                </a:solidFill>
                <a:latin typeface="Aptos"/>
                <a:ea typeface="Aptos"/>
                <a:cs typeface="Aptos"/>
              </a:rPr>
              <a:t>• Revision diff</a:t>
            </a:r>
          </a:p>
          <a:p xmlns:a="http://schemas.openxmlformats.org/drawingml/2006/main">
            <a:pPr marL="0" indent="0">
              <a:buNone/>
            </a:pPr>
            <a:r>
              <a:rPr sz="1200">
                <a:solidFill>
                  <a:srgbClr val="475569"/>
                </a:solidFill>
                <a:latin typeface="Aptos"/>
                <a:ea typeface="Aptos"/>
                <a:cs typeface="Aptos"/>
              </a:rPr>
              <a:t>• Current-user validation</a:t>
            </a:r>
          </a:p>
          <a:p xmlns:a="http://schemas.openxmlformats.org/drawingml/2006/main">
            <a:pPr marL="0" indent="0">
              <a:buNone/>
            </a:pPr>
            <a:r>
              <a:rPr sz="1200">
                <a:solidFill>
                  <a:srgbClr val="475569"/>
                </a:solidFill>
                <a:latin typeface="Aptos"/>
                <a:ea typeface="Aptos"/>
                <a:cs typeface="Aptos"/>
              </a:rPr>
              <a:t>• Branch artifacts and batch element retrieval where exposed</a:t>
            </a:r>
          </a:p>
          <a:p xmlns:a="http://schemas.openxmlformats.org/drawingml/2006/main">
            <a:pPr marL="0" indent="0">
              <a:buNone/>
            </a:pPr>
            <a:r>
              <a:rPr sz="1200">
                <a:solidFill>
                  <a:srgbClr val="475569"/>
                </a:solidFill>
                <a:latin typeface="Aptos"/>
                <a:ea typeface="Aptos"/>
                <a:cs typeface="Aptos"/>
              </a:rPr>
              <a:t>• Contract-driven API Explorer for admin testing</a:t>
            </a:r>
          </a:p>
        </p:txBody>
      </p:sp>
      <p:sp>
        <p:nvSpPr>
          <p:cNvPr id="8" name="Shape 6">
            <a:extLst xmlns:a="http://schemas.openxmlformats.org/drawingml/2006/main">
              <a:ext uri="{FF2B5EF4-FFF2-40B4-BE49-F238E27FC236}">
                <a16:creationId xmlns:a16="http://schemas.microsoft.com/office/drawing/2014/main" id="{219763F5-225B-4393-8952-182E4B192B43}"/>
              </a:ext>
            </a:extLst>
          </p:cNvPr>
          <p:cNvSpPr>
            <a:spLocks xmlns:a="http://schemas.openxmlformats.org/drawingml/2006/main" noGrp="1"/>
          </p:cNvSpPr>
          <p:nvPr/>
        </p:nvSpPr>
        <p:spPr>
          <a:xfrm xmlns:a="http://schemas.openxmlformats.org/drawingml/2006/main">
            <a:off x="6309360" y="1417320"/>
            <a:ext cx="5212080" cy="4251960"/>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9" name="Text 7">
            <a:extLst xmlns:a="http://schemas.openxmlformats.org/drawingml/2006/main">
              <a:ext uri="{FF2B5EF4-FFF2-40B4-BE49-F238E27FC236}">
                <a16:creationId xmlns:a16="http://schemas.microsoft.com/office/drawing/2014/main" id="{6B759E58-9794-4568-9E36-8BFE80C99799}"/>
              </a:ext>
            </a:extLst>
          </p:cNvPr>
          <p:cNvSpPr>
            <a:spLocks xmlns:a="http://schemas.openxmlformats.org/drawingml/2006/main" noGrp="1"/>
          </p:cNvSpPr>
          <p:nvPr/>
        </p:nvSpPr>
        <p:spPr>
          <a:xfrm xmlns:a="http://schemas.openxmlformats.org/drawingml/2006/main">
            <a:off x="6510528" y="1581912"/>
            <a:ext cx="480974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EF4444"/>
                </a:solidFill>
                <a:latin typeface="Aptos Display"/>
                <a:ea typeface="Aptos Display"/>
                <a:cs typeface="Aptos Display"/>
              </a:rPr>
              <a:t>What it avoids guessing</a:t>
            </a:r>
          </a:p>
        </p:txBody>
      </p:sp>
      <p:sp>
        <p:nvSpPr>
          <p:cNvPr id="10" name="Text 8">
            <a:extLst xmlns:a="http://schemas.openxmlformats.org/drawingml/2006/main">
              <a:ext uri="{FF2B5EF4-FFF2-40B4-BE49-F238E27FC236}">
                <a16:creationId xmlns:a16="http://schemas.microsoft.com/office/drawing/2014/main" id="{08A88892-4913-4000-82DD-B1B21408BCE7}"/>
              </a:ext>
            </a:extLst>
          </p:cNvPr>
          <p:cNvSpPr>
            <a:spLocks xmlns:a="http://schemas.openxmlformats.org/drawingml/2006/main" noGrp="1"/>
          </p:cNvSpPr>
          <p:nvPr/>
        </p:nvSpPr>
        <p:spPr>
          <a:xfrm xmlns:a="http://schemas.openxmlformats.org/drawingml/2006/main">
            <a:off x="6510528" y="2039112"/>
            <a:ext cx="4809744" cy="34747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200">
                <a:solidFill>
                  <a:srgbClr val="475569"/>
                </a:solidFill>
                <a:latin typeface="Aptos"/>
                <a:ea typeface="Aptos"/>
                <a:cs typeface="Aptos"/>
              </a:rPr>
              <a:t>• No unsupported endpoints are treated as guaranteed</a:t>
            </a:r>
          </a:p>
          <a:p xmlns:a="http://schemas.openxmlformats.org/drawingml/2006/main">
            <a:pPr marL="0" indent="0">
              <a:buNone/>
            </a:pPr>
            <a:r>
              <a:rPr sz="1200">
                <a:solidFill>
                  <a:srgbClr val="475569"/>
                </a:solidFill>
                <a:latin typeface="Aptos"/>
                <a:ea typeface="Aptos"/>
                <a:cs typeface="Aptos"/>
              </a:rPr>
              <a:t>• Simulation, collaborator workspace, attachments, comments, documents, publish/export jobs, saved searches, bookmarks, and global model search are not presented unless the Swagger surface defines them</a:t>
            </a:r>
          </a:p>
          <a:p xmlns:a="http://schemas.openxmlformats.org/drawingml/2006/main">
            <a:pPr marL="0" indent="0">
              <a:buNone/>
            </a:pPr>
            <a:r>
              <a:rPr sz="1200">
                <a:solidFill>
                  <a:srgbClr val="475569"/>
                </a:solidFill>
                <a:latin typeface="Aptos"/>
                <a:ea typeface="Aptos"/>
                <a:cs typeface="Aptos"/>
              </a:rPr>
              <a:t>• Version behavior is isolated behind adapters and capability discovery</a:t>
            </a:r>
          </a:p>
        </p:txBody>
      </p:sp>
      <p:sp>
        <p:nvSpPr>
          <p:cNvPr id="25" name="Slide Number Placeholder 0">
            <a:extLst xmlns:a="http://schemas.openxmlformats.org/drawingml/2006/main">
              <a:ext uri="{FF2B5EF4-FFF2-40B4-BE49-F238E27FC236}">
                <a16:creationId xmlns:a16="http://schemas.microsoft.com/office/drawing/2014/main" id="{FFBCAE06-BA56-4869-A466-CF216782E13D}"/>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7</a:t>
            </a:fld>
          </a:p>
        </p:txBody>
      </p:sp>
    </p:spTree>
    <p:extLst>
      <p:ext uri="{BB962C8B-B14F-4D97-AF65-F5344CB8AC3E}">
        <p14:creationId xmlns:p14="http://schemas.microsoft.com/office/powerpoint/2010/main" val="1561010507"/>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6857421-3BB5-42CB-937D-D4A23B90D7E7}"/>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5965FF40-DEAE-4BBA-8D32-8782FEE9B0A6}"/>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PERFORMANCE + AUTOMATION</a:t>
            </a:r>
          </a:p>
        </p:txBody>
      </p:sp>
      <p:sp>
        <p:nvSpPr>
          <p:cNvPr id="4" name="Text 2">
            <a:extLst xmlns:a="http://schemas.openxmlformats.org/drawingml/2006/main">
              <a:ext uri="{FF2B5EF4-FFF2-40B4-BE49-F238E27FC236}">
                <a16:creationId xmlns:a16="http://schemas.microsoft.com/office/drawing/2014/main" id="{113C8059-E327-4D39-94BE-1CC0988AE7CA}"/>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Native Cameo specifications and Developer API</a:t>
            </a:r>
          </a:p>
        </p:txBody>
      </p:sp>
      <p:sp>
        <p:nvSpPr>
          <p:cNvPr id="5" name="Shape 3">
            <a:extLst xmlns:a="http://schemas.openxmlformats.org/drawingml/2006/main">
              <a:ext uri="{FF2B5EF4-FFF2-40B4-BE49-F238E27FC236}">
                <a16:creationId xmlns:a16="http://schemas.microsoft.com/office/drawing/2014/main" id="{AA2BF7B8-EC05-49CC-904A-4786A59E1A46}"/>
              </a:ext>
            </a:extLst>
          </p:cNvPr>
          <p:cNvSpPr>
            <a:spLocks xmlns:a="http://schemas.openxmlformats.org/drawingml/2006/main" noGrp="1"/>
          </p:cNvSpPr>
          <p:nvPr/>
        </p:nvSpPr>
        <p:spPr>
          <a:xfrm xmlns:a="http://schemas.openxmlformats.org/drawingml/2006/main">
            <a:off x="594360" y="1371600"/>
            <a:ext cx="3429000" cy="434340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Text 4">
            <a:extLst xmlns:a="http://schemas.openxmlformats.org/drawingml/2006/main">
              <a:ext uri="{FF2B5EF4-FFF2-40B4-BE49-F238E27FC236}">
                <a16:creationId xmlns:a16="http://schemas.microsoft.com/office/drawing/2014/main" id="{5E7D0BAC-2794-4C8B-A51A-C05D3FD8C9C8}"/>
              </a:ext>
            </a:extLst>
          </p:cNvPr>
          <p:cNvSpPr>
            <a:spLocks xmlns:a="http://schemas.openxmlformats.org/drawingml/2006/main" noGrp="1"/>
          </p:cNvSpPr>
          <p:nvPr/>
        </p:nvSpPr>
        <p:spPr>
          <a:xfrm xmlns:a="http://schemas.openxmlformats.org/drawingml/2006/main">
            <a:off x="795528" y="1536192"/>
            <a:ext cx="302666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0B981"/>
                </a:solidFill>
                <a:latin typeface="Aptos Display"/>
                <a:ea typeface="Aptos Display"/>
                <a:cs typeface="Aptos Display"/>
              </a:rPr>
              <a:t>Branch cache model</a:t>
            </a:r>
          </a:p>
        </p:txBody>
      </p:sp>
      <p:sp>
        <p:nvSpPr>
          <p:cNvPr id="7" name="Text 5">
            <a:extLst xmlns:a="http://schemas.openxmlformats.org/drawingml/2006/main">
              <a:ext uri="{FF2B5EF4-FFF2-40B4-BE49-F238E27FC236}">
                <a16:creationId xmlns:a16="http://schemas.microsoft.com/office/drawing/2014/main" id="{9D69F626-ABD2-4BC3-8D68-FA7298957EE8}"/>
              </a:ext>
            </a:extLst>
          </p:cNvPr>
          <p:cNvSpPr>
            <a:spLocks xmlns:a="http://schemas.openxmlformats.org/drawingml/2006/main" noGrp="1"/>
          </p:cNvSpPr>
          <p:nvPr/>
        </p:nvSpPr>
        <p:spPr>
          <a:xfrm xmlns:a="http://schemas.openxmlformats.org/drawingml/2006/main">
            <a:off x="795528" y="1993392"/>
            <a:ext cx="3026664" cy="35661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200">
                <a:solidFill>
                  <a:srgbClr val="475569"/>
                </a:solidFill>
                <a:latin typeface="Aptos"/>
                <a:ea typeface="Aptos"/>
                <a:cs typeface="Aptos"/>
              </a:rPr>
              <a:t>Shared branch model payload is stored once. Per-user permission overlays stay separate, so cached access can remain scoped to the authenticated Workbench user.</a:t>
            </a:r>
          </a:p>
        </p:txBody>
      </p:sp>
      <p:sp>
        <p:nvSpPr>
          <p:cNvPr id="8" name="Shape 6">
            <a:extLst xmlns:a="http://schemas.openxmlformats.org/drawingml/2006/main">
              <a:ext uri="{FF2B5EF4-FFF2-40B4-BE49-F238E27FC236}">
                <a16:creationId xmlns:a16="http://schemas.microsoft.com/office/drawing/2014/main" id="{68EEF64D-7DB5-411E-B666-9317F54342EC}"/>
              </a:ext>
            </a:extLst>
          </p:cNvPr>
          <p:cNvSpPr>
            <a:spLocks xmlns:a="http://schemas.openxmlformats.org/drawingml/2006/main" noGrp="1"/>
          </p:cNvSpPr>
          <p:nvPr/>
        </p:nvSpPr>
        <p:spPr>
          <a:xfrm xmlns:a="http://schemas.openxmlformats.org/drawingml/2006/main">
            <a:off x="4370832" y="1371600"/>
            <a:ext cx="3429000" cy="434340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9" name="Text 7">
            <a:extLst xmlns:a="http://schemas.openxmlformats.org/drawingml/2006/main">
              <a:ext uri="{FF2B5EF4-FFF2-40B4-BE49-F238E27FC236}">
                <a16:creationId xmlns:a16="http://schemas.microsoft.com/office/drawing/2014/main" id="{7640C174-E813-4D8F-8401-249F00F72852}"/>
              </a:ext>
            </a:extLst>
          </p:cNvPr>
          <p:cNvSpPr>
            <a:spLocks xmlns:a="http://schemas.openxmlformats.org/drawingml/2006/main" noGrp="1"/>
          </p:cNvSpPr>
          <p:nvPr/>
        </p:nvSpPr>
        <p:spPr>
          <a:xfrm xmlns:a="http://schemas.openxmlformats.org/drawingml/2006/main">
            <a:off x="4572000" y="1536192"/>
            <a:ext cx="302666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2563EB"/>
                </a:solidFill>
                <a:latin typeface="Aptos Display"/>
                <a:ea typeface="Aptos Display"/>
                <a:cs typeface="Aptos Display"/>
              </a:rPr>
              <a:t>Cache endpoints</a:t>
            </a:r>
          </a:p>
        </p:txBody>
      </p:sp>
      <p:sp>
        <p:nvSpPr>
          <p:cNvPr id="10" name="Text 8">
            <a:extLst xmlns:a="http://schemas.openxmlformats.org/drawingml/2006/main">
              <a:ext uri="{FF2B5EF4-FFF2-40B4-BE49-F238E27FC236}">
                <a16:creationId xmlns:a16="http://schemas.microsoft.com/office/drawing/2014/main" id="{2CFE74CB-EADA-41EC-97F6-3BDA52884C53}"/>
              </a:ext>
            </a:extLst>
          </p:cNvPr>
          <p:cNvSpPr>
            <a:spLocks xmlns:a="http://schemas.openxmlformats.org/drawingml/2006/main" noGrp="1"/>
          </p:cNvSpPr>
          <p:nvPr/>
        </p:nvSpPr>
        <p:spPr>
          <a:xfrm xmlns:a="http://schemas.openxmlformats.org/drawingml/2006/main">
            <a:off x="4572000" y="1993392"/>
            <a:ext cx="3026664" cy="35661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1200">
                <a:solidFill>
                  <a:srgbClr val="475569"/>
                </a:solidFill>
                <a:latin typeface="Aptos"/>
                <a:ea typeface="Aptos"/>
                <a:cs typeface="Aptos"/>
              </a:rPr>
              <a:t>APIs expose the complete tree and native specification schema: all metamodel fields, defaults, derived values, ordered stereotype properties, search, graph, and edits.</a:t>
            </a:r>
          </a:p>
        </p:txBody>
      </p:sp>
      <p:sp>
        <p:nvSpPr>
          <p:cNvPr id="11" name="Shape 9">
            <a:extLst xmlns:a="http://schemas.openxmlformats.org/drawingml/2006/main">
              <a:ext uri="{FF2B5EF4-FFF2-40B4-BE49-F238E27FC236}">
                <a16:creationId xmlns:a16="http://schemas.microsoft.com/office/drawing/2014/main" id="{FA6BB5C9-E8D6-4DA0-AD37-F993DB921B8E}"/>
              </a:ext>
            </a:extLst>
          </p:cNvPr>
          <p:cNvSpPr>
            <a:spLocks xmlns:a="http://schemas.openxmlformats.org/drawingml/2006/main" noGrp="1"/>
          </p:cNvSpPr>
          <p:nvPr/>
        </p:nvSpPr>
        <p:spPr>
          <a:xfrm xmlns:a="http://schemas.openxmlformats.org/drawingml/2006/main">
            <a:off x="8138160" y="1371600"/>
            <a:ext cx="3429000" cy="434340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2" name="Text 10">
            <a:extLst xmlns:a="http://schemas.openxmlformats.org/drawingml/2006/main">
              <a:ext uri="{FF2B5EF4-FFF2-40B4-BE49-F238E27FC236}">
                <a16:creationId xmlns:a16="http://schemas.microsoft.com/office/drawing/2014/main" id="{6502E68E-A24B-4BEC-A23F-F454855D8E9C}"/>
              </a:ext>
            </a:extLst>
          </p:cNvPr>
          <p:cNvSpPr>
            <a:spLocks xmlns:a="http://schemas.openxmlformats.org/drawingml/2006/main" noGrp="1"/>
          </p:cNvSpPr>
          <p:nvPr/>
        </p:nvSpPr>
        <p:spPr>
          <a:xfrm xmlns:a="http://schemas.openxmlformats.org/drawingml/2006/main">
            <a:off x="8339328" y="1536192"/>
            <a:ext cx="302666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7C3AED"/>
                </a:solidFill>
                <a:latin typeface="Aptos Display"/>
                <a:ea typeface="Aptos Display"/>
                <a:cs typeface="Aptos Display"/>
              </a:rPr>
              <a:t>Developer API keys</a:t>
            </a:r>
          </a:p>
        </p:txBody>
      </p:sp>
      <p:sp>
        <p:nvSpPr>
          <p:cNvPr id="13" name="Text 11">
            <a:extLst xmlns:a="http://schemas.openxmlformats.org/drawingml/2006/main">
              <a:ext uri="{FF2B5EF4-FFF2-40B4-BE49-F238E27FC236}">
                <a16:creationId xmlns:a16="http://schemas.microsoft.com/office/drawing/2014/main" id="{6D04B7AB-6C94-46DF-BEDC-0D631A8FD3EF}"/>
              </a:ext>
            </a:extLst>
          </p:cNvPr>
          <p:cNvSpPr>
            <a:spLocks xmlns:a="http://schemas.openxmlformats.org/drawingml/2006/main" noGrp="1"/>
          </p:cNvSpPr>
          <p:nvPr/>
        </p:nvSpPr>
        <p:spPr>
          <a:xfrm xmlns:a="http://schemas.openxmlformats.org/drawingml/2006/main">
            <a:off x="8339328" y="1993392"/>
            <a:ext cx="3026664" cy="35661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1200">
                <a:solidFill>
                  <a:srgbClr val="475569"/>
                </a:solidFill>
                <a:latin typeface="Aptos"/>
                <a:ea typeface="Aptos"/>
                <a:cs typeface="Aptos"/>
              </a:rPr>
              <a:t>Scoped read, write, and edit keys map to the Workbench user. Runnable examples cover full trees, direct children, and native Cameo specifications.</a:t>
            </a:r>
          </a:p>
        </p:txBody>
      </p:sp>
      <p:sp>
        <p:nvSpPr>
          <p:cNvPr id="25" name="Slide Number Placeholder 0">
            <a:extLst xmlns:a="http://schemas.openxmlformats.org/drawingml/2006/main">
              <a:ext uri="{FF2B5EF4-FFF2-40B4-BE49-F238E27FC236}">
                <a16:creationId xmlns:a16="http://schemas.microsoft.com/office/drawing/2014/main" id="{AE514633-B763-4F89-B396-F2ED7C55F262}"/>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8</a:t>
            </a:fld>
          </a:p>
        </p:txBody>
      </p:sp>
    </p:spTree>
    <p:extLst>
      <p:ext uri="{BB962C8B-B14F-4D97-AF65-F5344CB8AC3E}">
        <p14:creationId xmlns:p14="http://schemas.microsoft.com/office/powerpoint/2010/main" val="1078700581"/>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A667AE8-B04F-43F7-A0A8-98044A1A6941}"/>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0BDF98E8-EF44-4E7B-BC7A-D2D485129F59}"/>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DESKTOP-TO-WEB BRIDGE</a:t>
            </a:r>
          </a:p>
        </p:txBody>
      </p:sp>
      <p:sp>
        <p:nvSpPr>
          <p:cNvPr id="4" name="Text 2">
            <a:extLst xmlns:a="http://schemas.openxmlformats.org/drawingml/2006/main">
              <a:ext uri="{FF2B5EF4-FFF2-40B4-BE49-F238E27FC236}">
                <a16:creationId xmlns:a16="http://schemas.microsoft.com/office/drawing/2014/main" id="{5D466BDA-07A5-437A-AA86-2F241496B7C7}"/>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Cameo plugin ingestion path</a:t>
            </a:r>
          </a:p>
        </p:txBody>
      </p:sp>
      <p:sp>
        <p:nvSpPr>
          <p:cNvPr id="5" name="Shape 3">
            <a:extLst xmlns:a="http://schemas.openxmlformats.org/drawingml/2006/main">
              <a:ext uri="{FF2B5EF4-FFF2-40B4-BE49-F238E27FC236}">
                <a16:creationId xmlns:a16="http://schemas.microsoft.com/office/drawing/2014/main" id="{9FB8E527-EF61-4260-913B-ABBB98D035E4}"/>
              </a:ext>
            </a:extLst>
          </p:cNvPr>
          <p:cNvSpPr>
            <a:spLocks xmlns:a="http://schemas.openxmlformats.org/drawingml/2006/main" noGrp="1"/>
          </p:cNvSpPr>
          <p:nvPr/>
        </p:nvSpPr>
        <p:spPr>
          <a:xfrm xmlns:a="http://schemas.openxmlformats.org/drawingml/2006/main">
            <a:off x="640080" y="1234440"/>
            <a:ext cx="2194560" cy="1143000"/>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Text 4">
            <a:extLst xmlns:a="http://schemas.openxmlformats.org/drawingml/2006/main">
              <a:ext uri="{FF2B5EF4-FFF2-40B4-BE49-F238E27FC236}">
                <a16:creationId xmlns:a16="http://schemas.microsoft.com/office/drawing/2014/main" id="{5E046B44-6110-40D8-BF01-F50A1EB9C81A}"/>
              </a:ext>
            </a:extLst>
          </p:cNvPr>
          <p:cNvSpPr>
            <a:spLocks xmlns:a="http://schemas.openxmlformats.org/drawingml/2006/main" noGrp="1"/>
          </p:cNvSpPr>
          <p:nvPr/>
        </p:nvSpPr>
        <p:spPr>
          <a:xfrm xmlns:a="http://schemas.openxmlformats.org/drawingml/2006/main">
            <a:off x="841248" y="1399032"/>
            <a:ext cx="179222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F59E0B"/>
                </a:solidFill>
                <a:latin typeface="Aptos Display"/>
                <a:ea typeface="Aptos Display"/>
                <a:cs typeface="Aptos Display"/>
              </a:rPr>
              <a:t>Cameo opens project</a:t>
            </a:r>
          </a:p>
        </p:txBody>
      </p:sp>
      <p:sp>
        <p:nvSpPr>
          <p:cNvPr id="7" name="Text 5">
            <a:extLst xmlns:a="http://schemas.openxmlformats.org/drawingml/2006/main">
              <a:ext uri="{FF2B5EF4-FFF2-40B4-BE49-F238E27FC236}">
                <a16:creationId xmlns:a16="http://schemas.microsoft.com/office/drawing/2014/main" id="{2BD0EB60-85F6-4F7B-A4A3-2296EEC634B6}"/>
              </a:ext>
            </a:extLst>
          </p:cNvPr>
          <p:cNvSpPr>
            <a:spLocks xmlns:a="http://schemas.openxmlformats.org/drawingml/2006/main" noGrp="1"/>
          </p:cNvSpPr>
          <p:nvPr/>
        </p:nvSpPr>
        <p:spPr>
          <a:xfrm xmlns:a="http://schemas.openxmlformats.org/drawingml/2006/main">
            <a:off x="841248" y="1856232"/>
            <a:ext cx="1792224"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90272"/>
          </a:bodyPr>
          <a:lstStyle xmlns:a="http://schemas.openxmlformats.org/drawingml/2006/main"/>
          <a:p xmlns:a="http://schemas.openxmlformats.org/drawingml/2006/main">
            <a:pPr marL="0" indent="0">
              <a:buNone/>
            </a:pPr>
            <a:r>
              <a:rPr sz="950">
                <a:solidFill>
                  <a:srgbClr val="475569"/>
                </a:solidFill>
                <a:latin typeface="Aptos"/>
                <a:ea typeface="Aptos"/>
                <a:cs typeface="Aptos"/>
              </a:rPr>
              <a:t>Plugin captures every loaded model root and its complete owned-element tree.</a:t>
            </a:r>
          </a:p>
        </p:txBody>
      </p:sp>
      <p:sp>
        <p:nvSpPr>
          <p:cNvPr id="8" name="Shape 6">
            <a:extLst xmlns:a="http://schemas.openxmlformats.org/drawingml/2006/main">
              <a:ext uri="{FF2B5EF4-FFF2-40B4-BE49-F238E27FC236}">
                <a16:creationId xmlns:a16="http://schemas.microsoft.com/office/drawing/2014/main" id="{288423FB-DF06-4B80-991E-D84C663525BB}"/>
              </a:ext>
            </a:extLst>
          </p:cNvPr>
          <p:cNvSpPr>
            <a:spLocks xmlns:a="http://schemas.openxmlformats.org/drawingml/2006/main" noGrp="1"/>
          </p:cNvSpPr>
          <p:nvPr/>
        </p:nvSpPr>
        <p:spPr>
          <a:xfrm xmlns:a="http://schemas.openxmlformats.org/drawingml/2006/main">
            <a:off x="2834640" y="1783080"/>
            <a:ext cx="502920" cy="0"/>
          </a:xfrm>
          <a:prstGeom xmlns:a="http://schemas.openxmlformats.org/drawingml/2006/main" prst="line">
            <a:avLst/>
          </a:prstGeom>
          <a:noFill xmlns:a="http://schemas.openxmlformats.org/drawingml/2006/main"/>
          <a:ln xmlns:a="http://schemas.openxmlformats.org/drawingml/2006/main" w="26670">
            <a:solidFill>
              <a:srgbClr val="F59E0B"/>
            </a:solidFill>
            <a:prstDash val="solid"/>
            <a:headEnd type="none"/>
            <a:tailEnd type="triangle"/>
          </a:ln>
        </p:spPr>
      </p:sp>
      <p:sp>
        <p:nvSpPr>
          <p:cNvPr id="9" name="Shape 7">
            <a:extLst xmlns:a="http://schemas.openxmlformats.org/drawingml/2006/main">
              <a:ext uri="{FF2B5EF4-FFF2-40B4-BE49-F238E27FC236}">
                <a16:creationId xmlns:a16="http://schemas.microsoft.com/office/drawing/2014/main" id="{50C72ACF-73DF-40C2-B35C-B3C0B9EE78E1}"/>
              </a:ext>
            </a:extLst>
          </p:cNvPr>
          <p:cNvSpPr>
            <a:spLocks xmlns:a="http://schemas.openxmlformats.org/drawingml/2006/main" noGrp="1"/>
          </p:cNvSpPr>
          <p:nvPr/>
        </p:nvSpPr>
        <p:spPr>
          <a:xfrm xmlns:a="http://schemas.openxmlformats.org/drawingml/2006/main">
            <a:off x="3337560" y="1234440"/>
            <a:ext cx="2194560" cy="1143000"/>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0" name="Text 8">
            <a:extLst xmlns:a="http://schemas.openxmlformats.org/drawingml/2006/main">
              <a:ext uri="{FF2B5EF4-FFF2-40B4-BE49-F238E27FC236}">
                <a16:creationId xmlns:a16="http://schemas.microsoft.com/office/drawing/2014/main" id="{F51E01CD-4188-44E1-AF3E-FC4A292093C1}"/>
              </a:ext>
            </a:extLst>
          </p:cNvPr>
          <p:cNvSpPr>
            <a:spLocks xmlns:a="http://schemas.openxmlformats.org/drawingml/2006/main" noGrp="1"/>
          </p:cNvSpPr>
          <p:nvPr/>
        </p:nvSpPr>
        <p:spPr>
          <a:xfrm xmlns:a="http://schemas.openxmlformats.org/drawingml/2006/main">
            <a:off x="3538728" y="1399032"/>
            <a:ext cx="179222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F59E0B"/>
                </a:solidFill>
                <a:latin typeface="Aptos Display"/>
                <a:ea typeface="Aptos Display"/>
                <a:cs typeface="Aptos Display"/>
              </a:rPr>
              <a:t>Save or close</a:t>
            </a:r>
          </a:p>
        </p:txBody>
      </p:sp>
      <p:sp>
        <p:nvSpPr>
          <p:cNvPr id="11" name="Text 9">
            <a:extLst xmlns:a="http://schemas.openxmlformats.org/drawingml/2006/main">
              <a:ext uri="{FF2B5EF4-FFF2-40B4-BE49-F238E27FC236}">
                <a16:creationId xmlns:a16="http://schemas.microsoft.com/office/drawing/2014/main" id="{E3960524-E208-421C-9ED1-9165BF8BE0AF}"/>
              </a:ext>
            </a:extLst>
          </p:cNvPr>
          <p:cNvSpPr>
            <a:spLocks xmlns:a="http://schemas.openxmlformats.org/drawingml/2006/main" noGrp="1"/>
          </p:cNvSpPr>
          <p:nvPr/>
        </p:nvSpPr>
        <p:spPr>
          <a:xfrm xmlns:a="http://schemas.openxmlformats.org/drawingml/2006/main">
            <a:off x="3538728" y="1856232"/>
            <a:ext cx="1792224"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Plugin computes delta when possible, full snapshot when needed.</a:t>
            </a:r>
          </a:p>
        </p:txBody>
      </p:sp>
      <p:sp>
        <p:nvSpPr>
          <p:cNvPr id="12" name="Shape 10">
            <a:extLst xmlns:a="http://schemas.openxmlformats.org/drawingml/2006/main">
              <a:ext uri="{FF2B5EF4-FFF2-40B4-BE49-F238E27FC236}">
                <a16:creationId xmlns:a16="http://schemas.microsoft.com/office/drawing/2014/main" id="{787666F8-8566-47D3-9DB6-011FF9993C8A}"/>
              </a:ext>
            </a:extLst>
          </p:cNvPr>
          <p:cNvSpPr>
            <a:spLocks xmlns:a="http://schemas.openxmlformats.org/drawingml/2006/main" noGrp="1"/>
          </p:cNvSpPr>
          <p:nvPr/>
        </p:nvSpPr>
        <p:spPr>
          <a:xfrm xmlns:a="http://schemas.openxmlformats.org/drawingml/2006/main">
            <a:off x="5532120" y="1783080"/>
            <a:ext cx="502920" cy="0"/>
          </a:xfrm>
          <a:prstGeom xmlns:a="http://schemas.openxmlformats.org/drawingml/2006/main" prst="line">
            <a:avLst/>
          </a:prstGeom>
          <a:noFill xmlns:a="http://schemas.openxmlformats.org/drawingml/2006/main"/>
          <a:ln xmlns:a="http://schemas.openxmlformats.org/drawingml/2006/main" w="26670">
            <a:solidFill>
              <a:srgbClr val="10B981"/>
            </a:solidFill>
            <a:prstDash val="solid"/>
            <a:headEnd type="none"/>
            <a:tailEnd type="triangle"/>
          </a:ln>
        </p:spPr>
      </p:sp>
      <p:sp>
        <p:nvSpPr>
          <p:cNvPr id="13" name="Shape 11">
            <a:extLst xmlns:a="http://schemas.openxmlformats.org/drawingml/2006/main">
              <a:ext uri="{FF2B5EF4-FFF2-40B4-BE49-F238E27FC236}">
                <a16:creationId xmlns:a16="http://schemas.microsoft.com/office/drawing/2014/main" id="{BE17BB40-FFDD-486C-AB14-AC9D5C991EC3}"/>
              </a:ext>
            </a:extLst>
          </p:cNvPr>
          <p:cNvSpPr>
            <a:spLocks xmlns:a="http://schemas.openxmlformats.org/drawingml/2006/main" noGrp="1"/>
          </p:cNvSpPr>
          <p:nvPr/>
        </p:nvSpPr>
        <p:spPr>
          <a:xfrm xmlns:a="http://schemas.openxmlformats.org/drawingml/2006/main">
            <a:off x="6035040" y="1234440"/>
            <a:ext cx="2423160" cy="1143000"/>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4" name="Text 12">
            <a:extLst xmlns:a="http://schemas.openxmlformats.org/drawingml/2006/main">
              <a:ext uri="{FF2B5EF4-FFF2-40B4-BE49-F238E27FC236}">
                <a16:creationId xmlns:a16="http://schemas.microsoft.com/office/drawing/2014/main" id="{7A3C14E1-9B4E-4229-AE59-2D33F6D4FA8E}"/>
              </a:ext>
            </a:extLst>
          </p:cNvPr>
          <p:cNvSpPr>
            <a:spLocks xmlns:a="http://schemas.openxmlformats.org/drawingml/2006/main" noGrp="1"/>
          </p:cNvSpPr>
          <p:nvPr/>
        </p:nvSpPr>
        <p:spPr>
          <a:xfrm xmlns:a="http://schemas.openxmlformats.org/drawingml/2006/main">
            <a:off x="6236208" y="1399032"/>
            <a:ext cx="202082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0B981"/>
                </a:solidFill>
                <a:latin typeface="Aptos Display"/>
                <a:ea typeface="Aptos Display"/>
                <a:cs typeface="Aptos Display"/>
              </a:rPr>
              <a:t>Workbench ingest</a:t>
            </a:r>
          </a:p>
        </p:txBody>
      </p:sp>
      <p:sp>
        <p:nvSpPr>
          <p:cNvPr id="15" name="Text 13">
            <a:extLst xmlns:a="http://schemas.openxmlformats.org/drawingml/2006/main">
              <a:ext uri="{FF2B5EF4-FFF2-40B4-BE49-F238E27FC236}">
                <a16:creationId xmlns:a16="http://schemas.microsoft.com/office/drawing/2014/main" id="{CB36CF35-1D5A-4452-A084-19BDE8360793}"/>
              </a:ext>
            </a:extLst>
          </p:cNvPr>
          <p:cNvSpPr>
            <a:spLocks xmlns:a="http://schemas.openxmlformats.org/drawingml/2006/main" noGrp="1"/>
          </p:cNvSpPr>
          <p:nvPr/>
        </p:nvSpPr>
        <p:spPr>
          <a:xfrm xmlns:a="http://schemas.openxmlformats.org/drawingml/2006/main">
            <a:off x="6236208" y="1856232"/>
            <a:ext cx="2020824"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Posts branch snapshots or deltas with bearer token auth.</a:t>
            </a:r>
          </a:p>
        </p:txBody>
      </p:sp>
      <p:sp>
        <p:nvSpPr>
          <p:cNvPr id="16" name="Shape 14">
            <a:extLst xmlns:a="http://schemas.openxmlformats.org/drawingml/2006/main">
              <a:ext uri="{FF2B5EF4-FFF2-40B4-BE49-F238E27FC236}">
                <a16:creationId xmlns:a16="http://schemas.microsoft.com/office/drawing/2014/main" id="{5AF681B1-AA79-4C1D-BB42-1465334E6CBE}"/>
              </a:ext>
            </a:extLst>
          </p:cNvPr>
          <p:cNvSpPr>
            <a:spLocks xmlns:a="http://schemas.openxmlformats.org/drawingml/2006/main" noGrp="1"/>
          </p:cNvSpPr>
          <p:nvPr/>
        </p:nvSpPr>
        <p:spPr>
          <a:xfrm xmlns:a="http://schemas.openxmlformats.org/drawingml/2006/main">
            <a:off x="8458200" y="1783080"/>
            <a:ext cx="502920" cy="0"/>
          </a:xfrm>
          <a:prstGeom xmlns:a="http://schemas.openxmlformats.org/drawingml/2006/main" prst="line">
            <a:avLst/>
          </a:prstGeom>
          <a:noFill xmlns:a="http://schemas.openxmlformats.org/drawingml/2006/main"/>
          <a:ln xmlns:a="http://schemas.openxmlformats.org/drawingml/2006/main" w="26670">
            <a:solidFill>
              <a:srgbClr val="10B981"/>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4FE485AF-4F47-44FC-8370-B937CB014B8A}"/>
              </a:ext>
            </a:extLst>
          </p:cNvPr>
          <p:cNvSpPr>
            <a:spLocks xmlns:a="http://schemas.openxmlformats.org/drawingml/2006/main" noGrp="1"/>
          </p:cNvSpPr>
          <p:nvPr/>
        </p:nvSpPr>
        <p:spPr>
          <a:xfrm xmlns:a="http://schemas.openxmlformats.org/drawingml/2006/main">
            <a:off x="8961120" y="1234440"/>
            <a:ext cx="2423160" cy="1143000"/>
          </a:xfrm>
          <a:prstGeom xmlns:a="http://schemas.openxmlformats.org/drawingml/2006/main" prst="roundRect">
            <a:avLst>
              <a:gd name="adj" fmla="val 96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8" name="Text 16">
            <a:extLst xmlns:a="http://schemas.openxmlformats.org/drawingml/2006/main">
              <a:ext uri="{FF2B5EF4-FFF2-40B4-BE49-F238E27FC236}">
                <a16:creationId xmlns:a16="http://schemas.microsoft.com/office/drawing/2014/main" id="{6B7BBA7A-41C7-4415-A728-EA6A4CC7AADB}"/>
              </a:ext>
            </a:extLst>
          </p:cNvPr>
          <p:cNvSpPr>
            <a:spLocks xmlns:a="http://schemas.openxmlformats.org/drawingml/2006/main" noGrp="1"/>
          </p:cNvSpPr>
          <p:nvPr/>
        </p:nvSpPr>
        <p:spPr>
          <a:xfrm xmlns:a="http://schemas.openxmlformats.org/drawingml/2006/main">
            <a:off x="9162288" y="1399032"/>
            <a:ext cx="202082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2563EB"/>
                </a:solidFill>
                <a:latin typeface="Aptos Display"/>
                <a:ea typeface="Aptos Display"/>
                <a:cs typeface="Aptos Display"/>
              </a:rPr>
              <a:t>Cached model data</a:t>
            </a:r>
          </a:p>
        </p:txBody>
      </p:sp>
      <p:sp>
        <p:nvSpPr>
          <p:cNvPr id="19" name="Text 17">
            <a:extLst xmlns:a="http://schemas.openxmlformats.org/drawingml/2006/main">
              <a:ext uri="{FF2B5EF4-FFF2-40B4-BE49-F238E27FC236}">
                <a16:creationId xmlns:a16="http://schemas.microsoft.com/office/drawing/2014/main" id="{CC94202E-BFA5-4B90-921F-1FC1F341B6B9}"/>
              </a:ext>
            </a:extLst>
          </p:cNvPr>
          <p:cNvSpPr>
            <a:spLocks xmlns:a="http://schemas.openxmlformats.org/drawingml/2006/main" noGrp="1"/>
          </p:cNvSpPr>
          <p:nvPr/>
        </p:nvSpPr>
        <p:spPr>
          <a:xfrm xmlns:a="http://schemas.openxmlformats.org/drawingml/2006/main">
            <a:off x="9162288" y="1856232"/>
            <a:ext cx="2020824"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93525"/>
          </a:bodyPr>
          <a:lstStyle xmlns:a="http://schemas.openxmlformats.org/drawingml/2006/main"/>
          <a:p xmlns:a="http://schemas.openxmlformats.org/drawingml/2006/main">
            <a:pPr marL="0" indent="0">
              <a:buNone/>
            </a:pPr>
            <a:r>
              <a:rPr sz="950">
                <a:solidFill>
                  <a:srgbClr val="475569"/>
                </a:solidFill>
                <a:latin typeface="Aptos"/>
                <a:ea typeface="Aptos"/>
                <a:cs typeface="Aptos"/>
              </a:rPr>
              <a:t>Workbench serves one ordered model and specification snapshot to UI, API, and Agent.</a:t>
            </a:r>
          </a:p>
        </p:txBody>
      </p:sp>
      <p:sp>
        <p:nvSpPr>
          <p:cNvPr id="20" name="Shape 18">
            <a:extLst xmlns:a="http://schemas.openxmlformats.org/drawingml/2006/main">
              <a:ext uri="{FF2B5EF4-FFF2-40B4-BE49-F238E27FC236}">
                <a16:creationId xmlns:a16="http://schemas.microsoft.com/office/drawing/2014/main" id="{98CD7814-ECF8-4C1F-88D9-A2FB46B80E2F}"/>
              </a:ext>
            </a:extLst>
          </p:cNvPr>
          <p:cNvSpPr>
            <a:spLocks xmlns:a="http://schemas.openxmlformats.org/drawingml/2006/main" noGrp="1"/>
          </p:cNvSpPr>
          <p:nvPr/>
        </p:nvSpPr>
        <p:spPr>
          <a:xfrm xmlns:a="http://schemas.openxmlformats.org/drawingml/2006/main">
            <a:off x="914400" y="3017520"/>
            <a:ext cx="4892040" cy="214884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21" name="Text 19">
            <a:extLst xmlns:a="http://schemas.openxmlformats.org/drawingml/2006/main">
              <a:ext uri="{FF2B5EF4-FFF2-40B4-BE49-F238E27FC236}">
                <a16:creationId xmlns:a16="http://schemas.microsoft.com/office/drawing/2014/main" id="{941AC19C-EE88-45CA-90CF-3ED082C74D20}"/>
              </a:ext>
            </a:extLst>
          </p:cNvPr>
          <p:cNvSpPr>
            <a:spLocks xmlns:a="http://schemas.openxmlformats.org/drawingml/2006/main" noGrp="1"/>
          </p:cNvSpPr>
          <p:nvPr/>
        </p:nvSpPr>
        <p:spPr>
          <a:xfrm xmlns:a="http://schemas.openxmlformats.org/drawingml/2006/main">
            <a:off x="1115568" y="3182112"/>
            <a:ext cx="44897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What the plugin exports</a:t>
            </a:r>
          </a:p>
        </p:txBody>
      </p:sp>
      <p:sp>
        <p:nvSpPr>
          <p:cNvPr id="22" name="Text 20">
            <a:extLst xmlns:a="http://schemas.openxmlformats.org/drawingml/2006/main">
              <a:ext uri="{FF2B5EF4-FFF2-40B4-BE49-F238E27FC236}">
                <a16:creationId xmlns:a16="http://schemas.microsoft.com/office/drawing/2014/main" id="{B39CDE24-79A5-4070-BE9D-F52D1AEED3F6}"/>
              </a:ext>
            </a:extLst>
          </p:cNvPr>
          <p:cNvSpPr>
            <a:spLocks xmlns:a="http://schemas.openxmlformats.org/drawingml/2006/main" noGrp="1"/>
          </p:cNvSpPr>
          <p:nvPr/>
        </p:nvSpPr>
        <p:spPr>
          <a:xfrm xmlns:a="http://schemas.openxmlformats.org/drawingml/2006/main">
            <a:off x="1115568" y="3639312"/>
            <a:ext cx="4489704"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1200">
                <a:solidFill>
                  <a:srgbClr val="475569"/>
                </a:solidFill>
                <a:latin typeface="Aptos"/>
                <a:ea typeface="Aptos"/>
                <a:cs typeface="Aptos"/>
              </a:rPr>
              <a:t>Every metamodel feature, unset defaults, derived/read-only metadata, structured references, diagrams, and ordered inherited/calculated stereotype values.</a:t>
            </a:r>
          </a:p>
        </p:txBody>
      </p:sp>
      <p:sp>
        <p:nvSpPr>
          <p:cNvPr id="23" name="Shape 21">
            <a:extLst xmlns:a="http://schemas.openxmlformats.org/drawingml/2006/main">
              <a:ext uri="{FF2B5EF4-FFF2-40B4-BE49-F238E27FC236}">
                <a16:creationId xmlns:a16="http://schemas.microsoft.com/office/drawing/2014/main" id="{3F7F37BA-19CF-453E-82EF-0E01955B868C}"/>
              </a:ext>
            </a:extLst>
          </p:cNvPr>
          <p:cNvSpPr>
            <a:spLocks xmlns:a="http://schemas.openxmlformats.org/drawingml/2006/main" noGrp="1"/>
          </p:cNvSpPr>
          <p:nvPr/>
        </p:nvSpPr>
        <p:spPr>
          <a:xfrm xmlns:a="http://schemas.openxmlformats.org/drawingml/2006/main">
            <a:off x="6355080" y="3017520"/>
            <a:ext cx="4892040" cy="2148840"/>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24" name="Text 22">
            <a:extLst xmlns:a="http://schemas.openxmlformats.org/drawingml/2006/main">
              <a:ext uri="{FF2B5EF4-FFF2-40B4-BE49-F238E27FC236}">
                <a16:creationId xmlns:a16="http://schemas.microsoft.com/office/drawing/2014/main" id="{612B6972-5F9D-43A7-8E7E-8EB18FBA70D3}"/>
              </a:ext>
            </a:extLst>
          </p:cNvPr>
          <p:cNvSpPr>
            <a:spLocks xmlns:a="http://schemas.openxmlformats.org/drawingml/2006/main" noGrp="1"/>
          </p:cNvSpPr>
          <p:nvPr/>
        </p:nvSpPr>
        <p:spPr>
          <a:xfrm xmlns:a="http://schemas.openxmlformats.org/drawingml/2006/main">
            <a:off x="6556248" y="3182112"/>
            <a:ext cx="44897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4B8A6"/>
                </a:solidFill>
                <a:latin typeface="Aptos Display"/>
                <a:ea typeface="Aptos Display"/>
                <a:cs typeface="Aptos Display"/>
              </a:rPr>
              <a:t>Why this matters</a:t>
            </a:r>
          </a:p>
        </p:txBody>
      </p:sp>
      <p:sp>
        <p:nvSpPr>
          <p:cNvPr id="25" name="Text 23">
            <a:extLst xmlns:a="http://schemas.openxmlformats.org/drawingml/2006/main">
              <a:ext uri="{FF2B5EF4-FFF2-40B4-BE49-F238E27FC236}">
                <a16:creationId xmlns:a16="http://schemas.microsoft.com/office/drawing/2014/main" id="{935CA438-325A-4AFB-A786-F6DAE46D557D}"/>
              </a:ext>
            </a:extLst>
          </p:cNvPr>
          <p:cNvSpPr>
            <a:spLocks xmlns:a="http://schemas.openxmlformats.org/drawingml/2006/main" noGrp="1"/>
          </p:cNvSpPr>
          <p:nvPr/>
        </p:nvSpPr>
        <p:spPr>
          <a:xfrm xmlns:a="http://schemas.openxmlformats.org/drawingml/2006/main">
            <a:off x="6556248" y="3639312"/>
            <a:ext cx="4489704" cy="137160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1200">
                <a:solidFill>
                  <a:srgbClr val="475569"/>
                </a:solidFill>
                <a:latin typeface="Aptos"/>
                <a:ea typeface="Aptos"/>
                <a:cs typeface="Aptos"/>
              </a:rPr>
              <a:t>Workbench reproduces Cameo property content headlessly without scraping the Specification dialog. Permission overlays keep the same published snapshot user-scoped.</a:t>
            </a:r>
          </a:p>
        </p:txBody>
      </p:sp>
      <p:sp>
        <p:nvSpPr>
          <p:cNvPr id="26" name="Slide Number Placeholder 0">
            <a:extLst xmlns:a="http://schemas.openxmlformats.org/drawingml/2006/main">
              <a:ext uri="{FF2B5EF4-FFF2-40B4-BE49-F238E27FC236}">
                <a16:creationId xmlns:a16="http://schemas.microsoft.com/office/drawing/2014/main" id="{64645EF3-6C65-4511-8E0B-493E18AB0A8C}"/>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9</a:t>
            </a:fld>
          </a:p>
        </p:txBody>
      </p:sp>
    </p:spTree>
    <p:extLst>
      <p:ext uri="{BB962C8B-B14F-4D97-AF65-F5344CB8AC3E}">
        <p14:creationId xmlns:p14="http://schemas.microsoft.com/office/powerpoint/2010/main" val="570255481"/>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4EC1733-348B-497F-AB11-3512BEA627EA}"/>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31B5FC0A-A2AE-4CF4-A8B7-ECB84E79A2DC}"/>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CONTROL POINTS</a:t>
            </a:r>
          </a:p>
        </p:txBody>
      </p:sp>
      <p:sp>
        <p:nvSpPr>
          <p:cNvPr id="4" name="Text 2">
            <a:extLst xmlns:a="http://schemas.openxmlformats.org/drawingml/2006/main">
              <a:ext uri="{FF2B5EF4-FFF2-40B4-BE49-F238E27FC236}">
                <a16:creationId xmlns:a16="http://schemas.microsoft.com/office/drawing/2014/main" id="{275E1897-5D4F-48AC-84A6-BB89778A8D98}"/>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Security and deployment model</a:t>
            </a:r>
          </a:p>
        </p:txBody>
      </p:sp>
      <p:sp>
        <p:nvSpPr>
          <p:cNvPr id="5" name="Shape 3">
            <a:extLst xmlns:a="http://schemas.openxmlformats.org/drawingml/2006/main">
              <a:ext uri="{FF2B5EF4-FFF2-40B4-BE49-F238E27FC236}">
                <a16:creationId xmlns:a16="http://schemas.microsoft.com/office/drawing/2014/main" id="{AD7D173B-010D-40CF-83A5-84F2F1324673}"/>
              </a:ext>
            </a:extLst>
          </p:cNvPr>
          <p:cNvSpPr>
            <a:spLocks xmlns:a="http://schemas.openxmlformats.org/drawingml/2006/main" noGrp="1"/>
          </p:cNvSpPr>
          <p:nvPr/>
        </p:nvSpPr>
        <p:spPr>
          <a:xfrm xmlns:a="http://schemas.openxmlformats.org/drawingml/2006/main">
            <a:off x="594360" y="1325880"/>
            <a:ext cx="2651760" cy="4480560"/>
          </a:xfrm>
          <a:prstGeom xmlns:a="http://schemas.openxmlformats.org/drawingml/2006/main" prst="roundRect">
            <a:avLst>
              <a:gd name="adj" fmla="val 4138"/>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Text 4">
            <a:extLst xmlns:a="http://schemas.openxmlformats.org/drawingml/2006/main">
              <a:ext uri="{FF2B5EF4-FFF2-40B4-BE49-F238E27FC236}">
                <a16:creationId xmlns:a16="http://schemas.microsoft.com/office/drawing/2014/main" id="{DCD15D72-BBC1-43FF-921A-589BB921BBBC}"/>
              </a:ext>
            </a:extLst>
          </p:cNvPr>
          <p:cNvSpPr>
            <a:spLocks xmlns:a="http://schemas.openxmlformats.org/drawingml/2006/main" noGrp="1"/>
          </p:cNvSpPr>
          <p:nvPr/>
        </p:nvSpPr>
        <p:spPr>
          <a:xfrm xmlns:a="http://schemas.openxmlformats.org/drawingml/2006/main">
            <a:off x="795528" y="1490472"/>
            <a:ext cx="224942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7C3AED"/>
                </a:solidFill>
                <a:latin typeface="Aptos Display"/>
                <a:ea typeface="Aptos Display"/>
                <a:cs typeface="Aptos Display"/>
              </a:rPr>
              <a:t>Token protection</a:t>
            </a:r>
          </a:p>
        </p:txBody>
      </p:sp>
      <p:sp>
        <p:nvSpPr>
          <p:cNvPr id="7" name="Text 5">
            <a:extLst xmlns:a="http://schemas.openxmlformats.org/drawingml/2006/main">
              <a:ext uri="{FF2B5EF4-FFF2-40B4-BE49-F238E27FC236}">
                <a16:creationId xmlns:a16="http://schemas.microsoft.com/office/drawing/2014/main" id="{2EAD7389-BF83-4A6D-8294-0022A8498746}"/>
              </a:ext>
            </a:extLst>
          </p:cNvPr>
          <p:cNvSpPr>
            <a:spLocks xmlns:a="http://schemas.openxmlformats.org/drawingml/2006/main" noGrp="1"/>
          </p:cNvSpPr>
          <p:nvPr/>
        </p:nvSpPr>
        <p:spPr>
          <a:xfrm xmlns:a="http://schemas.openxmlformats.org/drawingml/2006/main">
            <a:off x="795528" y="1947672"/>
            <a:ext cx="2249424" cy="37033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200">
                <a:solidFill>
                  <a:srgbClr val="475569"/>
                </a:solidFill>
                <a:latin typeface="Aptos"/>
                <a:ea typeface="Aptos"/>
                <a:cs typeface="Aptos"/>
              </a:rPr>
              <a:t>Tokens stay server-side inside secure sessions. Browser storage is not used for delegated TWC credentials.</a:t>
            </a:r>
          </a:p>
        </p:txBody>
      </p:sp>
      <p:sp>
        <p:nvSpPr>
          <p:cNvPr id="8" name="Shape 6">
            <a:extLst xmlns:a="http://schemas.openxmlformats.org/drawingml/2006/main">
              <a:ext uri="{FF2B5EF4-FFF2-40B4-BE49-F238E27FC236}">
                <a16:creationId xmlns:a16="http://schemas.microsoft.com/office/drawing/2014/main" id="{F57E600D-FD45-44FA-82F0-BB051051FC31}"/>
              </a:ext>
            </a:extLst>
          </p:cNvPr>
          <p:cNvSpPr>
            <a:spLocks xmlns:a="http://schemas.openxmlformats.org/drawingml/2006/main" noGrp="1"/>
          </p:cNvSpPr>
          <p:nvPr/>
        </p:nvSpPr>
        <p:spPr>
          <a:xfrm xmlns:a="http://schemas.openxmlformats.org/drawingml/2006/main">
            <a:off x="3493008" y="1325880"/>
            <a:ext cx="2651760" cy="4480560"/>
          </a:xfrm>
          <a:prstGeom xmlns:a="http://schemas.openxmlformats.org/drawingml/2006/main" prst="roundRect">
            <a:avLst>
              <a:gd name="adj" fmla="val 4138"/>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9" name="Text 7">
            <a:extLst xmlns:a="http://schemas.openxmlformats.org/drawingml/2006/main">
              <a:ext uri="{FF2B5EF4-FFF2-40B4-BE49-F238E27FC236}">
                <a16:creationId xmlns:a16="http://schemas.microsoft.com/office/drawing/2014/main" id="{ED3F1B1F-B714-48EE-A39E-0C88AE4F5271}"/>
              </a:ext>
            </a:extLst>
          </p:cNvPr>
          <p:cNvSpPr>
            <a:spLocks xmlns:a="http://schemas.openxmlformats.org/drawingml/2006/main" noGrp="1"/>
          </p:cNvSpPr>
          <p:nvPr/>
        </p:nvSpPr>
        <p:spPr>
          <a:xfrm xmlns:a="http://schemas.openxmlformats.org/drawingml/2006/main">
            <a:off x="3694176" y="1490472"/>
            <a:ext cx="224942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2563EB"/>
                </a:solidFill>
                <a:latin typeface="Aptos Display"/>
                <a:ea typeface="Aptos Display"/>
                <a:cs typeface="Aptos Display"/>
              </a:rPr>
              <a:t>HTTP-only sessions</a:t>
            </a:r>
          </a:p>
        </p:txBody>
      </p:sp>
      <p:sp>
        <p:nvSpPr>
          <p:cNvPr id="10" name="Text 8">
            <a:extLst xmlns:a="http://schemas.openxmlformats.org/drawingml/2006/main">
              <a:ext uri="{FF2B5EF4-FFF2-40B4-BE49-F238E27FC236}">
                <a16:creationId xmlns:a16="http://schemas.microsoft.com/office/drawing/2014/main" id="{9C8F49BA-DA79-40B3-9799-A63A533E1E90}"/>
              </a:ext>
            </a:extLst>
          </p:cNvPr>
          <p:cNvSpPr>
            <a:spLocks xmlns:a="http://schemas.openxmlformats.org/drawingml/2006/main" noGrp="1"/>
          </p:cNvSpPr>
          <p:nvPr/>
        </p:nvSpPr>
        <p:spPr>
          <a:xfrm xmlns:a="http://schemas.openxmlformats.org/drawingml/2006/main">
            <a:off x="3694176" y="1947672"/>
            <a:ext cx="2249424" cy="37033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200">
                <a:solidFill>
                  <a:srgbClr val="475569"/>
                </a:solidFill>
                <a:latin typeface="Aptos"/>
                <a:ea typeface="Aptos"/>
                <a:cs typeface="Aptos"/>
              </a:rPr>
              <a:t>Session cookies support secure deployment behind HTTPS. Redis can be enabled for session backend needs.</a:t>
            </a:r>
          </a:p>
        </p:txBody>
      </p:sp>
      <p:sp>
        <p:nvSpPr>
          <p:cNvPr id="11" name="Shape 9">
            <a:extLst xmlns:a="http://schemas.openxmlformats.org/drawingml/2006/main">
              <a:ext uri="{FF2B5EF4-FFF2-40B4-BE49-F238E27FC236}">
                <a16:creationId xmlns:a16="http://schemas.microsoft.com/office/drawing/2014/main" id="{26DF2F97-B432-4A5B-9046-51CDB8D283E9}"/>
              </a:ext>
            </a:extLst>
          </p:cNvPr>
          <p:cNvSpPr>
            <a:spLocks xmlns:a="http://schemas.openxmlformats.org/drawingml/2006/main" noGrp="1"/>
          </p:cNvSpPr>
          <p:nvPr/>
        </p:nvSpPr>
        <p:spPr>
          <a:xfrm xmlns:a="http://schemas.openxmlformats.org/drawingml/2006/main">
            <a:off x="6391656" y="1325880"/>
            <a:ext cx="2651760" cy="4480560"/>
          </a:xfrm>
          <a:prstGeom xmlns:a="http://schemas.openxmlformats.org/drawingml/2006/main" prst="roundRect">
            <a:avLst>
              <a:gd name="adj" fmla="val 4138"/>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2" name="Text 10">
            <a:extLst xmlns:a="http://schemas.openxmlformats.org/drawingml/2006/main">
              <a:ext uri="{FF2B5EF4-FFF2-40B4-BE49-F238E27FC236}">
                <a16:creationId xmlns:a16="http://schemas.microsoft.com/office/drawing/2014/main" id="{129E796C-CA94-4473-A38A-F6455175B769}"/>
              </a:ext>
            </a:extLst>
          </p:cNvPr>
          <p:cNvSpPr>
            <a:spLocks xmlns:a="http://schemas.openxmlformats.org/drawingml/2006/main" noGrp="1"/>
          </p:cNvSpPr>
          <p:nvPr/>
        </p:nvSpPr>
        <p:spPr>
          <a:xfrm xmlns:a="http://schemas.openxmlformats.org/drawingml/2006/main">
            <a:off x="6592824" y="1490472"/>
            <a:ext cx="224942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4B8A6"/>
                </a:solidFill>
                <a:latin typeface="Aptos Display"/>
                <a:ea typeface="Aptos Display"/>
                <a:cs typeface="Aptos Display"/>
              </a:rPr>
              <a:t>Preset servers</a:t>
            </a:r>
          </a:p>
        </p:txBody>
      </p:sp>
      <p:sp>
        <p:nvSpPr>
          <p:cNvPr id="13" name="Text 11">
            <a:extLst xmlns:a="http://schemas.openxmlformats.org/drawingml/2006/main">
              <a:ext uri="{FF2B5EF4-FFF2-40B4-BE49-F238E27FC236}">
                <a16:creationId xmlns:a16="http://schemas.microsoft.com/office/drawing/2014/main" id="{D7A66571-2D8C-4F84-99C9-D5581D8F29DB}"/>
              </a:ext>
            </a:extLst>
          </p:cNvPr>
          <p:cNvSpPr>
            <a:spLocks xmlns:a="http://schemas.openxmlformats.org/drawingml/2006/main" noGrp="1"/>
          </p:cNvSpPr>
          <p:nvPr/>
        </p:nvSpPr>
        <p:spPr>
          <a:xfrm xmlns:a="http://schemas.openxmlformats.org/drawingml/2006/main">
            <a:off x="6592824" y="1947672"/>
            <a:ext cx="2249424" cy="37033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200">
                <a:solidFill>
                  <a:srgbClr val="475569"/>
                </a:solidFill>
                <a:latin typeface="Aptos"/>
                <a:ea typeface="Aptos"/>
                <a:cs typeface="Aptos"/>
              </a:rPr>
              <a:t>TWC targets are defined centrally in backend configuration, then exposed to the landing page as enabled server choices.</a:t>
            </a:r>
          </a:p>
        </p:txBody>
      </p:sp>
      <p:sp>
        <p:nvSpPr>
          <p:cNvPr id="14" name="Shape 12">
            <a:extLst xmlns:a="http://schemas.openxmlformats.org/drawingml/2006/main">
              <a:ext uri="{FF2B5EF4-FFF2-40B4-BE49-F238E27FC236}">
                <a16:creationId xmlns:a16="http://schemas.microsoft.com/office/drawing/2014/main" id="{8815C0DB-312F-4643-B012-74D8173D594D}"/>
              </a:ext>
            </a:extLst>
          </p:cNvPr>
          <p:cNvSpPr>
            <a:spLocks xmlns:a="http://schemas.openxmlformats.org/drawingml/2006/main" noGrp="1"/>
          </p:cNvSpPr>
          <p:nvPr/>
        </p:nvSpPr>
        <p:spPr>
          <a:xfrm xmlns:a="http://schemas.openxmlformats.org/drawingml/2006/main">
            <a:off x="9281160" y="1325880"/>
            <a:ext cx="2331720" cy="448056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5" name="Text 13">
            <a:extLst xmlns:a="http://schemas.openxmlformats.org/drawingml/2006/main">
              <a:ext uri="{FF2B5EF4-FFF2-40B4-BE49-F238E27FC236}">
                <a16:creationId xmlns:a16="http://schemas.microsoft.com/office/drawing/2014/main" id="{2828AA53-477E-4F02-ABD7-B1E326C9DE6E}"/>
              </a:ext>
            </a:extLst>
          </p:cNvPr>
          <p:cNvSpPr>
            <a:spLocks xmlns:a="http://schemas.openxmlformats.org/drawingml/2006/main" noGrp="1"/>
          </p:cNvSpPr>
          <p:nvPr/>
        </p:nvSpPr>
        <p:spPr>
          <a:xfrm xmlns:a="http://schemas.openxmlformats.org/drawingml/2006/main">
            <a:off x="9482328" y="1490472"/>
            <a:ext cx="19293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0B981"/>
                </a:solidFill>
                <a:latin typeface="Aptos Display"/>
                <a:ea typeface="Aptos Display"/>
                <a:cs typeface="Aptos Display"/>
              </a:rPr>
              <a:t>Single-origin launch</a:t>
            </a:r>
          </a:p>
        </p:txBody>
      </p:sp>
      <p:sp>
        <p:nvSpPr>
          <p:cNvPr id="16" name="Text 14">
            <a:extLst xmlns:a="http://schemas.openxmlformats.org/drawingml/2006/main">
              <a:ext uri="{FF2B5EF4-FFF2-40B4-BE49-F238E27FC236}">
                <a16:creationId xmlns:a16="http://schemas.microsoft.com/office/drawing/2014/main" id="{23CAA289-F296-4465-BF7A-1022DB29181D}"/>
              </a:ext>
            </a:extLst>
          </p:cNvPr>
          <p:cNvSpPr>
            <a:spLocks xmlns:a="http://schemas.openxmlformats.org/drawingml/2006/main" noGrp="1"/>
          </p:cNvSpPr>
          <p:nvPr/>
        </p:nvSpPr>
        <p:spPr>
          <a:xfrm xmlns:a="http://schemas.openxmlformats.org/drawingml/2006/main">
            <a:off x="9482328" y="1947672"/>
            <a:ext cx="1929384" cy="37033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200">
                <a:solidFill>
                  <a:srgbClr val="475569"/>
                </a:solidFill>
                <a:latin typeface="Aptos"/>
                <a:ea typeface="Aptos"/>
                <a:cs typeface="Aptos"/>
              </a:rPr>
              <a:t>Launch scripts build the frontend and start FastAPI so the backend can serve both API routes and the built SPA.</a:t>
            </a:r>
          </a:p>
        </p:txBody>
      </p:sp>
      <p:sp>
        <p:nvSpPr>
          <p:cNvPr id="25" name="Slide Number Placeholder 0">
            <a:extLst xmlns:a="http://schemas.openxmlformats.org/drawingml/2006/main">
              <a:ext uri="{FF2B5EF4-FFF2-40B4-BE49-F238E27FC236}">
                <a16:creationId xmlns:a16="http://schemas.microsoft.com/office/drawing/2014/main" id="{695B4587-C118-4EB0-B838-4F9AAC756866}"/>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10</a:t>
            </a:fld>
          </a:p>
        </p:txBody>
      </p:sp>
    </p:spTree>
    <p:extLst>
      <p:ext uri="{BB962C8B-B14F-4D97-AF65-F5344CB8AC3E}">
        <p14:creationId xmlns:p14="http://schemas.microsoft.com/office/powerpoint/2010/main" val="964372657"/>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2874C60-5647-4963-B7A8-B8F19F04273E}"/>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C952C368-76B2-4776-B042-D910213642DC}"/>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HOW REQUESTS MOVE</a:t>
            </a:r>
          </a:p>
        </p:txBody>
      </p:sp>
      <p:sp>
        <p:nvSpPr>
          <p:cNvPr id="4" name="Text 2">
            <a:extLst xmlns:a="http://schemas.openxmlformats.org/drawingml/2006/main">
              <a:ext uri="{FF2B5EF4-FFF2-40B4-BE49-F238E27FC236}">
                <a16:creationId xmlns:a16="http://schemas.microsoft.com/office/drawing/2014/main" id="{3EFB4C88-3E87-48D5-9FB6-CC3F702FE4A2}"/>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End-to-end data flow</a:t>
            </a:r>
          </a:p>
        </p:txBody>
      </p:sp>
      <p:sp>
        <p:nvSpPr>
          <p:cNvPr id="5" name="Shape 3">
            <a:extLst xmlns:a="http://schemas.openxmlformats.org/drawingml/2006/main">
              <a:ext uri="{FF2B5EF4-FFF2-40B4-BE49-F238E27FC236}">
                <a16:creationId xmlns:a16="http://schemas.microsoft.com/office/drawing/2014/main" id="{5C7E2202-9E4D-4DA1-BB5A-B29B94767CC9}"/>
              </a:ext>
            </a:extLst>
          </p:cNvPr>
          <p:cNvSpPr>
            <a:spLocks xmlns:a="http://schemas.openxmlformats.org/drawingml/2006/main" noGrp="1"/>
          </p:cNvSpPr>
          <p:nvPr/>
        </p:nvSpPr>
        <p:spPr>
          <a:xfrm xmlns:a="http://schemas.openxmlformats.org/drawingml/2006/main">
            <a:off x="685800" y="1417320"/>
            <a:ext cx="310896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Shape 4">
            <a:extLst xmlns:a="http://schemas.openxmlformats.org/drawingml/2006/main">
              <a:ext uri="{FF2B5EF4-FFF2-40B4-BE49-F238E27FC236}">
                <a16:creationId xmlns:a16="http://schemas.microsoft.com/office/drawing/2014/main" id="{80E1A215-E507-4664-9D03-6C17E347B44E}"/>
              </a:ext>
            </a:extLst>
          </p:cNvPr>
          <p:cNvSpPr>
            <a:spLocks xmlns:a="http://schemas.openxmlformats.org/drawingml/2006/main" noGrp="1"/>
          </p:cNvSpPr>
          <p:nvPr/>
        </p:nvSpPr>
        <p:spPr>
          <a:xfrm xmlns:a="http://schemas.openxmlformats.org/drawingml/2006/main">
            <a:off x="850392" y="1581912"/>
            <a:ext cx="420624" cy="301752"/>
          </a:xfrm>
          <a:prstGeom xmlns:a="http://schemas.openxmlformats.org/drawingml/2006/main" prst="roundRect">
            <a:avLst>
              <a:gd name="adj" fmla="val 24242"/>
            </a:avLst>
          </a:prstGeom>
          <a:solidFill xmlns:a="http://schemas.openxmlformats.org/drawingml/2006/main">
            <a:srgbClr val="2563EB"/>
          </a:solidFill>
          <a:ln xmlns:a="http://schemas.openxmlformats.org/drawingml/2006/main" w="12700">
            <a:solidFill>
              <a:srgbClr val="2563EB"/>
            </a:solidFill>
            <a:prstDash val="solid"/>
          </a:ln>
        </p:spPr>
      </p:sp>
      <p:sp>
        <p:nvSpPr>
          <p:cNvPr id="7" name="Text 5">
            <a:extLst xmlns:a="http://schemas.openxmlformats.org/drawingml/2006/main">
              <a:ext uri="{FF2B5EF4-FFF2-40B4-BE49-F238E27FC236}">
                <a16:creationId xmlns:a16="http://schemas.microsoft.com/office/drawing/2014/main" id="{A70B118B-CAD5-4CAE-AA12-0EF963C98212}"/>
              </a:ext>
            </a:extLst>
          </p:cNvPr>
          <p:cNvSpPr>
            <a:spLocks xmlns:a="http://schemas.openxmlformats.org/drawingml/2006/main" noGrp="1"/>
          </p:cNvSpPr>
          <p:nvPr/>
        </p:nvSpPr>
        <p:spPr>
          <a:xfrm xmlns:a="http://schemas.openxmlformats.org/drawingml/2006/main">
            <a:off x="850392" y="162306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1</a:t>
            </a:r>
          </a:p>
        </p:txBody>
      </p:sp>
      <p:sp>
        <p:nvSpPr>
          <p:cNvPr id="8" name="Text 6">
            <a:extLst xmlns:a="http://schemas.openxmlformats.org/drawingml/2006/main">
              <a:ext uri="{FF2B5EF4-FFF2-40B4-BE49-F238E27FC236}">
                <a16:creationId xmlns:a16="http://schemas.microsoft.com/office/drawing/2014/main" id="{2CAAE553-2DD7-42D0-A9C5-8771AA190923}"/>
              </a:ext>
            </a:extLst>
          </p:cNvPr>
          <p:cNvSpPr>
            <a:spLocks xmlns:a="http://schemas.openxmlformats.org/drawingml/2006/main" noGrp="1"/>
          </p:cNvSpPr>
          <p:nvPr/>
        </p:nvSpPr>
        <p:spPr>
          <a:xfrm xmlns:a="http://schemas.openxmlformats.org/drawingml/2006/main">
            <a:off x="1389888" y="1581912"/>
            <a:ext cx="22037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User action</a:t>
            </a:r>
          </a:p>
        </p:txBody>
      </p:sp>
      <p:sp>
        <p:nvSpPr>
          <p:cNvPr id="9" name="Text 7">
            <a:extLst xmlns:a="http://schemas.openxmlformats.org/drawingml/2006/main">
              <a:ext uri="{FF2B5EF4-FFF2-40B4-BE49-F238E27FC236}">
                <a16:creationId xmlns:a16="http://schemas.microsoft.com/office/drawing/2014/main" id="{3549F8E8-D1CB-4DEE-A76E-93855FC57B57}"/>
              </a:ext>
            </a:extLst>
          </p:cNvPr>
          <p:cNvSpPr>
            <a:spLocks xmlns:a="http://schemas.openxmlformats.org/drawingml/2006/main" noGrp="1"/>
          </p:cNvSpPr>
          <p:nvPr/>
        </p:nvSpPr>
        <p:spPr>
          <a:xfrm xmlns:a="http://schemas.openxmlformats.org/drawingml/2006/main">
            <a:off x="886968" y="2039112"/>
            <a:ext cx="2706624" cy="5486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Click project, model, item, compare, API key, or agent action.</a:t>
            </a:r>
          </a:p>
        </p:txBody>
      </p:sp>
      <p:sp>
        <p:nvSpPr>
          <p:cNvPr id="10" name="Shape 8">
            <a:extLst xmlns:a="http://schemas.openxmlformats.org/drawingml/2006/main">
              <a:ext uri="{FF2B5EF4-FFF2-40B4-BE49-F238E27FC236}">
                <a16:creationId xmlns:a16="http://schemas.microsoft.com/office/drawing/2014/main" id="{E1F8361A-B7B1-455B-A3E5-399EB7BC27C0}"/>
              </a:ext>
            </a:extLst>
          </p:cNvPr>
          <p:cNvSpPr>
            <a:spLocks xmlns:a="http://schemas.openxmlformats.org/drawingml/2006/main" noGrp="1"/>
          </p:cNvSpPr>
          <p:nvPr/>
        </p:nvSpPr>
        <p:spPr>
          <a:xfrm xmlns:a="http://schemas.openxmlformats.org/drawingml/2006/main">
            <a:off x="3794760" y="2084832"/>
            <a:ext cx="640080" cy="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11" name="Shape 9">
            <a:extLst xmlns:a="http://schemas.openxmlformats.org/drawingml/2006/main">
              <a:ext uri="{FF2B5EF4-FFF2-40B4-BE49-F238E27FC236}">
                <a16:creationId xmlns:a16="http://schemas.microsoft.com/office/drawing/2014/main" id="{077752D0-6168-4D67-A547-ACD6533516C3}"/>
              </a:ext>
            </a:extLst>
          </p:cNvPr>
          <p:cNvSpPr>
            <a:spLocks xmlns:a="http://schemas.openxmlformats.org/drawingml/2006/main" noGrp="1"/>
          </p:cNvSpPr>
          <p:nvPr/>
        </p:nvSpPr>
        <p:spPr>
          <a:xfrm xmlns:a="http://schemas.openxmlformats.org/drawingml/2006/main">
            <a:off x="4480560" y="1417320"/>
            <a:ext cx="310896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2" name="Shape 10">
            <a:extLst xmlns:a="http://schemas.openxmlformats.org/drawingml/2006/main">
              <a:ext uri="{FF2B5EF4-FFF2-40B4-BE49-F238E27FC236}">
                <a16:creationId xmlns:a16="http://schemas.microsoft.com/office/drawing/2014/main" id="{D05423A2-8CC4-4CD4-AACE-403969107B9E}"/>
              </a:ext>
            </a:extLst>
          </p:cNvPr>
          <p:cNvSpPr>
            <a:spLocks xmlns:a="http://schemas.openxmlformats.org/drawingml/2006/main" noGrp="1"/>
          </p:cNvSpPr>
          <p:nvPr/>
        </p:nvSpPr>
        <p:spPr>
          <a:xfrm xmlns:a="http://schemas.openxmlformats.org/drawingml/2006/main">
            <a:off x="4645152" y="1581912"/>
            <a:ext cx="420624" cy="301752"/>
          </a:xfrm>
          <a:prstGeom xmlns:a="http://schemas.openxmlformats.org/drawingml/2006/main" prst="roundRect">
            <a:avLst>
              <a:gd name="adj" fmla="val 24242"/>
            </a:avLst>
          </a:prstGeom>
          <a:solidFill xmlns:a="http://schemas.openxmlformats.org/drawingml/2006/main">
            <a:srgbClr val="14B8A6"/>
          </a:solidFill>
          <a:ln xmlns:a="http://schemas.openxmlformats.org/drawingml/2006/main" w="12700">
            <a:solidFill>
              <a:srgbClr val="14B8A6"/>
            </a:solidFill>
            <a:prstDash val="solid"/>
          </a:ln>
        </p:spPr>
      </p:sp>
      <p:sp>
        <p:nvSpPr>
          <p:cNvPr id="13" name="Text 11">
            <a:extLst xmlns:a="http://schemas.openxmlformats.org/drawingml/2006/main">
              <a:ext uri="{FF2B5EF4-FFF2-40B4-BE49-F238E27FC236}">
                <a16:creationId xmlns:a16="http://schemas.microsoft.com/office/drawing/2014/main" id="{F3A4FEB4-B836-497C-8BFB-92E932BC0143}"/>
              </a:ext>
            </a:extLst>
          </p:cNvPr>
          <p:cNvSpPr>
            <a:spLocks xmlns:a="http://schemas.openxmlformats.org/drawingml/2006/main" noGrp="1"/>
          </p:cNvSpPr>
          <p:nvPr/>
        </p:nvSpPr>
        <p:spPr>
          <a:xfrm xmlns:a="http://schemas.openxmlformats.org/drawingml/2006/main">
            <a:off x="4645152" y="162306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2</a:t>
            </a:r>
          </a:p>
        </p:txBody>
      </p:sp>
      <p:sp>
        <p:nvSpPr>
          <p:cNvPr id="14" name="Text 12">
            <a:extLst xmlns:a="http://schemas.openxmlformats.org/drawingml/2006/main">
              <a:ext uri="{FF2B5EF4-FFF2-40B4-BE49-F238E27FC236}">
                <a16:creationId xmlns:a16="http://schemas.microsoft.com/office/drawing/2014/main" id="{68C3C977-DEB0-498D-8C48-F22515409A87}"/>
              </a:ext>
            </a:extLst>
          </p:cNvPr>
          <p:cNvSpPr>
            <a:spLocks xmlns:a="http://schemas.openxmlformats.org/drawingml/2006/main" noGrp="1"/>
          </p:cNvSpPr>
          <p:nvPr/>
        </p:nvSpPr>
        <p:spPr>
          <a:xfrm xmlns:a="http://schemas.openxmlformats.org/drawingml/2006/main">
            <a:off x="5184648" y="1581912"/>
            <a:ext cx="22037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React service call</a:t>
            </a:r>
          </a:p>
        </p:txBody>
      </p:sp>
      <p:sp>
        <p:nvSpPr>
          <p:cNvPr id="15" name="Text 13">
            <a:extLst xmlns:a="http://schemas.openxmlformats.org/drawingml/2006/main">
              <a:ext uri="{FF2B5EF4-FFF2-40B4-BE49-F238E27FC236}">
                <a16:creationId xmlns:a16="http://schemas.microsoft.com/office/drawing/2014/main" id="{6E236CDB-92B4-406A-A981-D44101126970}"/>
              </a:ext>
            </a:extLst>
          </p:cNvPr>
          <p:cNvSpPr>
            <a:spLocks xmlns:a="http://schemas.openxmlformats.org/drawingml/2006/main" noGrp="1"/>
          </p:cNvSpPr>
          <p:nvPr/>
        </p:nvSpPr>
        <p:spPr>
          <a:xfrm xmlns:a="http://schemas.openxmlformats.org/drawingml/2006/main">
            <a:off x="4681728" y="2039112"/>
            <a:ext cx="2706624" cy="5486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frontend/src/services/api.ts sends a request to backend API routes.</a:t>
            </a:r>
          </a:p>
        </p:txBody>
      </p:sp>
      <p:sp>
        <p:nvSpPr>
          <p:cNvPr id="16" name="Shape 14">
            <a:extLst xmlns:a="http://schemas.openxmlformats.org/drawingml/2006/main">
              <a:ext uri="{FF2B5EF4-FFF2-40B4-BE49-F238E27FC236}">
                <a16:creationId xmlns:a16="http://schemas.microsoft.com/office/drawing/2014/main" id="{8DCB4B98-E242-4D01-A034-16F13FF2CC52}"/>
              </a:ext>
            </a:extLst>
          </p:cNvPr>
          <p:cNvSpPr>
            <a:spLocks xmlns:a="http://schemas.openxmlformats.org/drawingml/2006/main" noGrp="1"/>
          </p:cNvSpPr>
          <p:nvPr/>
        </p:nvSpPr>
        <p:spPr>
          <a:xfrm xmlns:a="http://schemas.openxmlformats.org/drawingml/2006/main">
            <a:off x="7589520" y="2084832"/>
            <a:ext cx="640080" cy="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6E66B24F-3C1C-41D2-819C-2D9B0011AB3A}"/>
              </a:ext>
            </a:extLst>
          </p:cNvPr>
          <p:cNvSpPr>
            <a:spLocks xmlns:a="http://schemas.openxmlformats.org/drawingml/2006/main" noGrp="1"/>
          </p:cNvSpPr>
          <p:nvPr/>
        </p:nvSpPr>
        <p:spPr>
          <a:xfrm xmlns:a="http://schemas.openxmlformats.org/drawingml/2006/main">
            <a:off x="8275320" y="1417320"/>
            <a:ext cx="310896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8" name="Shape 16">
            <a:extLst xmlns:a="http://schemas.openxmlformats.org/drawingml/2006/main">
              <a:ext uri="{FF2B5EF4-FFF2-40B4-BE49-F238E27FC236}">
                <a16:creationId xmlns:a16="http://schemas.microsoft.com/office/drawing/2014/main" id="{4B50D2C6-7D05-4BEC-A828-37A17B13A6F9}"/>
              </a:ext>
            </a:extLst>
          </p:cNvPr>
          <p:cNvSpPr>
            <a:spLocks xmlns:a="http://schemas.openxmlformats.org/drawingml/2006/main" noGrp="1"/>
          </p:cNvSpPr>
          <p:nvPr/>
        </p:nvSpPr>
        <p:spPr>
          <a:xfrm xmlns:a="http://schemas.openxmlformats.org/drawingml/2006/main">
            <a:off x="8439912" y="1581912"/>
            <a:ext cx="420624" cy="301752"/>
          </a:xfrm>
          <a:prstGeom xmlns:a="http://schemas.openxmlformats.org/drawingml/2006/main" prst="roundRect">
            <a:avLst>
              <a:gd name="adj" fmla="val 24242"/>
            </a:avLst>
          </a:prstGeom>
          <a:solidFill xmlns:a="http://schemas.openxmlformats.org/drawingml/2006/main">
            <a:srgbClr val="7C3AED"/>
          </a:solidFill>
          <a:ln xmlns:a="http://schemas.openxmlformats.org/drawingml/2006/main" w="12700">
            <a:solidFill>
              <a:srgbClr val="7C3AED"/>
            </a:solidFill>
            <a:prstDash val="solid"/>
          </a:ln>
        </p:spPr>
      </p:sp>
      <p:sp>
        <p:nvSpPr>
          <p:cNvPr id="19" name="Text 17">
            <a:extLst xmlns:a="http://schemas.openxmlformats.org/drawingml/2006/main">
              <a:ext uri="{FF2B5EF4-FFF2-40B4-BE49-F238E27FC236}">
                <a16:creationId xmlns:a16="http://schemas.microsoft.com/office/drawing/2014/main" id="{D5F9175E-A5D3-43EB-9BD2-A2295E32758E}"/>
              </a:ext>
            </a:extLst>
          </p:cNvPr>
          <p:cNvSpPr>
            <a:spLocks xmlns:a="http://schemas.openxmlformats.org/drawingml/2006/main" noGrp="1"/>
          </p:cNvSpPr>
          <p:nvPr/>
        </p:nvSpPr>
        <p:spPr>
          <a:xfrm xmlns:a="http://schemas.openxmlformats.org/drawingml/2006/main">
            <a:off x="8439912" y="162306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3</a:t>
            </a:r>
          </a:p>
        </p:txBody>
      </p:sp>
      <p:sp>
        <p:nvSpPr>
          <p:cNvPr id="20" name="Text 18">
            <a:extLst xmlns:a="http://schemas.openxmlformats.org/drawingml/2006/main">
              <a:ext uri="{FF2B5EF4-FFF2-40B4-BE49-F238E27FC236}">
                <a16:creationId xmlns:a16="http://schemas.microsoft.com/office/drawing/2014/main" id="{F449E26E-C881-4C27-A3FF-F3577F2339D5}"/>
              </a:ext>
            </a:extLst>
          </p:cNvPr>
          <p:cNvSpPr>
            <a:spLocks xmlns:a="http://schemas.openxmlformats.org/drawingml/2006/main" noGrp="1"/>
          </p:cNvSpPr>
          <p:nvPr/>
        </p:nvSpPr>
        <p:spPr>
          <a:xfrm xmlns:a="http://schemas.openxmlformats.org/drawingml/2006/main">
            <a:off x="8979408" y="1581912"/>
            <a:ext cx="22037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FastAPI route</a:t>
            </a:r>
          </a:p>
        </p:txBody>
      </p:sp>
      <p:sp>
        <p:nvSpPr>
          <p:cNvPr id="21" name="Text 19">
            <a:extLst xmlns:a="http://schemas.openxmlformats.org/drawingml/2006/main">
              <a:ext uri="{FF2B5EF4-FFF2-40B4-BE49-F238E27FC236}">
                <a16:creationId xmlns:a16="http://schemas.microsoft.com/office/drawing/2014/main" id="{22B604D8-612F-433C-B7DE-D82C1DF135A9}"/>
              </a:ext>
            </a:extLst>
          </p:cNvPr>
          <p:cNvSpPr>
            <a:spLocks xmlns:a="http://schemas.openxmlformats.org/drawingml/2006/main" noGrp="1"/>
          </p:cNvSpPr>
          <p:nvPr/>
        </p:nvSpPr>
        <p:spPr>
          <a:xfrm xmlns:a="http://schemas.openxmlformats.org/drawingml/2006/main">
            <a:off x="8476488" y="2039112"/>
            <a:ext cx="2706624" cy="5486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Route validates session and delegates to PlatformService.</a:t>
            </a:r>
          </a:p>
        </p:txBody>
      </p:sp>
      <p:sp>
        <p:nvSpPr>
          <p:cNvPr id="22" name="Shape 20">
            <a:extLst xmlns:a="http://schemas.openxmlformats.org/drawingml/2006/main">
              <a:ext uri="{FF2B5EF4-FFF2-40B4-BE49-F238E27FC236}">
                <a16:creationId xmlns:a16="http://schemas.microsoft.com/office/drawing/2014/main" id="{B7956F53-9E5D-42FF-BCF3-42772845F168}"/>
              </a:ext>
            </a:extLst>
          </p:cNvPr>
          <p:cNvSpPr>
            <a:spLocks xmlns:a="http://schemas.openxmlformats.org/drawingml/2006/main" noGrp="1"/>
          </p:cNvSpPr>
          <p:nvPr/>
        </p:nvSpPr>
        <p:spPr>
          <a:xfrm xmlns:a="http://schemas.openxmlformats.org/drawingml/2006/main">
            <a:off x="685800" y="3749040"/>
            <a:ext cx="310896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23" name="Shape 21">
            <a:extLst xmlns:a="http://schemas.openxmlformats.org/drawingml/2006/main">
              <a:ext uri="{FF2B5EF4-FFF2-40B4-BE49-F238E27FC236}">
                <a16:creationId xmlns:a16="http://schemas.microsoft.com/office/drawing/2014/main" id="{3B8FAA93-25E0-441A-AEE3-16E22AE3E03A}"/>
              </a:ext>
            </a:extLst>
          </p:cNvPr>
          <p:cNvSpPr>
            <a:spLocks xmlns:a="http://schemas.openxmlformats.org/drawingml/2006/main" noGrp="1"/>
          </p:cNvSpPr>
          <p:nvPr/>
        </p:nvSpPr>
        <p:spPr>
          <a:xfrm xmlns:a="http://schemas.openxmlformats.org/drawingml/2006/main">
            <a:off x="850392" y="3913632"/>
            <a:ext cx="420624" cy="301752"/>
          </a:xfrm>
          <a:prstGeom xmlns:a="http://schemas.openxmlformats.org/drawingml/2006/main" prst="roundRect">
            <a:avLst>
              <a:gd name="adj" fmla="val 24242"/>
            </a:avLst>
          </a:prstGeom>
          <a:solidFill xmlns:a="http://schemas.openxmlformats.org/drawingml/2006/main">
            <a:srgbClr val="10B981"/>
          </a:solidFill>
          <a:ln xmlns:a="http://schemas.openxmlformats.org/drawingml/2006/main" w="12700">
            <a:solidFill>
              <a:srgbClr val="10B981"/>
            </a:solidFill>
            <a:prstDash val="solid"/>
          </a:ln>
        </p:spPr>
      </p:sp>
      <p:sp>
        <p:nvSpPr>
          <p:cNvPr id="24" name="Text 22">
            <a:extLst xmlns:a="http://schemas.openxmlformats.org/drawingml/2006/main">
              <a:ext uri="{FF2B5EF4-FFF2-40B4-BE49-F238E27FC236}">
                <a16:creationId xmlns:a16="http://schemas.microsoft.com/office/drawing/2014/main" id="{DE98E4EA-24E9-4A32-8C7D-6C279995C557}"/>
              </a:ext>
            </a:extLst>
          </p:cNvPr>
          <p:cNvSpPr>
            <a:spLocks xmlns:a="http://schemas.openxmlformats.org/drawingml/2006/main" noGrp="1"/>
          </p:cNvSpPr>
          <p:nvPr/>
        </p:nvSpPr>
        <p:spPr>
          <a:xfrm xmlns:a="http://schemas.openxmlformats.org/drawingml/2006/main">
            <a:off x="850392" y="395478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4</a:t>
            </a:r>
          </a:p>
        </p:txBody>
      </p:sp>
      <p:sp>
        <p:nvSpPr>
          <p:cNvPr id="25" name="Text 23">
            <a:extLst xmlns:a="http://schemas.openxmlformats.org/drawingml/2006/main">
              <a:ext uri="{FF2B5EF4-FFF2-40B4-BE49-F238E27FC236}">
                <a16:creationId xmlns:a16="http://schemas.microsoft.com/office/drawing/2014/main" id="{7901D0E0-9D99-409E-8556-DF3BF0EB0E60}"/>
              </a:ext>
            </a:extLst>
          </p:cNvPr>
          <p:cNvSpPr>
            <a:spLocks xmlns:a="http://schemas.openxmlformats.org/drawingml/2006/main" noGrp="1"/>
          </p:cNvSpPr>
          <p:nvPr/>
        </p:nvSpPr>
        <p:spPr>
          <a:xfrm xmlns:a="http://schemas.openxmlformats.org/drawingml/2006/main">
            <a:off x="1389888" y="3913632"/>
            <a:ext cx="22037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PlatformService</a:t>
            </a:r>
          </a:p>
        </p:txBody>
      </p:sp>
      <p:sp>
        <p:nvSpPr>
          <p:cNvPr id="26" name="Text 24">
            <a:extLst xmlns:a="http://schemas.openxmlformats.org/drawingml/2006/main">
              <a:ext uri="{FF2B5EF4-FFF2-40B4-BE49-F238E27FC236}">
                <a16:creationId xmlns:a16="http://schemas.microsoft.com/office/drawing/2014/main" id="{A1B24687-DD9D-435C-B2B5-0B5E29321D9D}"/>
              </a:ext>
            </a:extLst>
          </p:cNvPr>
          <p:cNvSpPr>
            <a:spLocks xmlns:a="http://schemas.openxmlformats.org/drawingml/2006/main" noGrp="1"/>
          </p:cNvSpPr>
          <p:nvPr/>
        </p:nvSpPr>
        <p:spPr>
          <a:xfrm xmlns:a="http://schemas.openxmlformats.org/drawingml/2006/main">
            <a:off x="886968" y="4370832"/>
            <a:ext cx="2706624" cy="5486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Chooses live adapter, cache path, storage action, or job workflow.</a:t>
            </a:r>
          </a:p>
        </p:txBody>
      </p:sp>
      <p:sp>
        <p:nvSpPr>
          <p:cNvPr id="27" name="Shape 25">
            <a:extLst xmlns:a="http://schemas.openxmlformats.org/drawingml/2006/main">
              <a:ext uri="{FF2B5EF4-FFF2-40B4-BE49-F238E27FC236}">
                <a16:creationId xmlns:a16="http://schemas.microsoft.com/office/drawing/2014/main" id="{AB4E73F9-7EBC-4E3F-9688-99F44E2B9C23}"/>
              </a:ext>
            </a:extLst>
          </p:cNvPr>
          <p:cNvSpPr>
            <a:spLocks xmlns:a="http://schemas.openxmlformats.org/drawingml/2006/main" noGrp="1"/>
          </p:cNvSpPr>
          <p:nvPr/>
        </p:nvSpPr>
        <p:spPr>
          <a:xfrm xmlns:a="http://schemas.openxmlformats.org/drawingml/2006/main">
            <a:off x="3794760" y="4416552"/>
            <a:ext cx="640080" cy="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28" name="Shape 26">
            <a:extLst xmlns:a="http://schemas.openxmlformats.org/drawingml/2006/main">
              <a:ext uri="{FF2B5EF4-FFF2-40B4-BE49-F238E27FC236}">
                <a16:creationId xmlns:a16="http://schemas.microsoft.com/office/drawing/2014/main" id="{A335E9F8-C59A-4B69-9985-DE38BC98BEBD}"/>
              </a:ext>
            </a:extLst>
          </p:cNvPr>
          <p:cNvSpPr>
            <a:spLocks xmlns:a="http://schemas.openxmlformats.org/drawingml/2006/main" noGrp="1"/>
          </p:cNvSpPr>
          <p:nvPr/>
        </p:nvSpPr>
        <p:spPr>
          <a:xfrm xmlns:a="http://schemas.openxmlformats.org/drawingml/2006/main">
            <a:off x="4480560" y="3749040"/>
            <a:ext cx="310896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29" name="Shape 27">
            <a:extLst xmlns:a="http://schemas.openxmlformats.org/drawingml/2006/main">
              <a:ext uri="{FF2B5EF4-FFF2-40B4-BE49-F238E27FC236}">
                <a16:creationId xmlns:a16="http://schemas.microsoft.com/office/drawing/2014/main" id="{6AFB9C82-DD4D-45B6-8CB7-D5430AC1B02A}"/>
              </a:ext>
            </a:extLst>
          </p:cNvPr>
          <p:cNvSpPr>
            <a:spLocks xmlns:a="http://schemas.openxmlformats.org/drawingml/2006/main" noGrp="1"/>
          </p:cNvSpPr>
          <p:nvPr/>
        </p:nvSpPr>
        <p:spPr>
          <a:xfrm xmlns:a="http://schemas.openxmlformats.org/drawingml/2006/main">
            <a:off x="4645152" y="3913632"/>
            <a:ext cx="420624" cy="301752"/>
          </a:xfrm>
          <a:prstGeom xmlns:a="http://schemas.openxmlformats.org/drawingml/2006/main" prst="roundRect">
            <a:avLst>
              <a:gd name="adj" fmla="val 24242"/>
            </a:avLst>
          </a:prstGeom>
          <a:solidFill xmlns:a="http://schemas.openxmlformats.org/drawingml/2006/main">
            <a:srgbClr val="F59E0B"/>
          </a:solidFill>
          <a:ln xmlns:a="http://schemas.openxmlformats.org/drawingml/2006/main" w="12700">
            <a:solidFill>
              <a:srgbClr val="F59E0B"/>
            </a:solidFill>
            <a:prstDash val="solid"/>
          </a:ln>
        </p:spPr>
      </p:sp>
      <p:sp>
        <p:nvSpPr>
          <p:cNvPr id="30" name="Text 28">
            <a:extLst xmlns:a="http://schemas.openxmlformats.org/drawingml/2006/main">
              <a:ext uri="{FF2B5EF4-FFF2-40B4-BE49-F238E27FC236}">
                <a16:creationId xmlns:a16="http://schemas.microsoft.com/office/drawing/2014/main" id="{B563DD7F-1082-4D6B-8A78-54E4734A7B1C}"/>
              </a:ext>
            </a:extLst>
          </p:cNvPr>
          <p:cNvSpPr>
            <a:spLocks xmlns:a="http://schemas.openxmlformats.org/drawingml/2006/main" noGrp="1"/>
          </p:cNvSpPr>
          <p:nvPr/>
        </p:nvSpPr>
        <p:spPr>
          <a:xfrm xmlns:a="http://schemas.openxmlformats.org/drawingml/2006/main">
            <a:off x="4645152" y="395478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5</a:t>
            </a:r>
          </a:p>
        </p:txBody>
      </p:sp>
      <p:sp>
        <p:nvSpPr>
          <p:cNvPr id="31" name="Text 29">
            <a:extLst xmlns:a="http://schemas.openxmlformats.org/drawingml/2006/main">
              <a:ext uri="{FF2B5EF4-FFF2-40B4-BE49-F238E27FC236}">
                <a16:creationId xmlns:a16="http://schemas.microsoft.com/office/drawing/2014/main" id="{274C9E9C-E443-4A96-B3B2-0467293F7BD9}"/>
              </a:ext>
            </a:extLst>
          </p:cNvPr>
          <p:cNvSpPr>
            <a:spLocks xmlns:a="http://schemas.openxmlformats.org/drawingml/2006/main" noGrp="1"/>
          </p:cNvSpPr>
          <p:nvPr/>
        </p:nvSpPr>
        <p:spPr>
          <a:xfrm xmlns:a="http://schemas.openxmlformats.org/drawingml/2006/main">
            <a:off x="5184648" y="3913632"/>
            <a:ext cx="22037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Adapter/cache</a:t>
            </a:r>
          </a:p>
        </p:txBody>
      </p:sp>
      <p:sp>
        <p:nvSpPr>
          <p:cNvPr id="32" name="Text 30">
            <a:extLst xmlns:a="http://schemas.openxmlformats.org/drawingml/2006/main">
              <a:ext uri="{FF2B5EF4-FFF2-40B4-BE49-F238E27FC236}">
                <a16:creationId xmlns:a16="http://schemas.microsoft.com/office/drawing/2014/main" id="{6511A997-EF3F-4782-8D62-F41F3E34F64A}"/>
              </a:ext>
            </a:extLst>
          </p:cNvPr>
          <p:cNvSpPr>
            <a:spLocks xmlns:a="http://schemas.openxmlformats.org/drawingml/2006/main" noGrp="1"/>
          </p:cNvSpPr>
          <p:nvPr/>
        </p:nvSpPr>
        <p:spPr>
          <a:xfrm xmlns:a="http://schemas.openxmlformats.org/drawingml/2006/main">
            <a:off x="4681728" y="4370832"/>
            <a:ext cx="2706624" cy="5486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Calls Teamwork Cloud or reads/writes Workbench cache.</a:t>
            </a:r>
          </a:p>
        </p:txBody>
      </p:sp>
      <p:sp>
        <p:nvSpPr>
          <p:cNvPr id="33" name="Shape 31">
            <a:extLst xmlns:a="http://schemas.openxmlformats.org/drawingml/2006/main">
              <a:ext uri="{FF2B5EF4-FFF2-40B4-BE49-F238E27FC236}">
                <a16:creationId xmlns:a16="http://schemas.microsoft.com/office/drawing/2014/main" id="{A8CAC418-087E-4F90-A2B1-D64925B30688}"/>
              </a:ext>
            </a:extLst>
          </p:cNvPr>
          <p:cNvSpPr>
            <a:spLocks xmlns:a="http://schemas.openxmlformats.org/drawingml/2006/main" noGrp="1"/>
          </p:cNvSpPr>
          <p:nvPr/>
        </p:nvSpPr>
        <p:spPr>
          <a:xfrm xmlns:a="http://schemas.openxmlformats.org/drawingml/2006/main">
            <a:off x="7589520" y="4416552"/>
            <a:ext cx="640080" cy="0"/>
          </a:xfrm>
          <a:prstGeom xmlns:a="http://schemas.openxmlformats.org/drawingml/2006/main" prst="line">
            <a:avLst/>
          </a:prstGeom>
          <a:noFill xmlns:a="http://schemas.openxmlformats.org/drawingml/2006/main"/>
          <a:ln xmlns:a="http://schemas.openxmlformats.org/drawingml/2006/main" w="26670">
            <a:solidFill>
              <a:srgbClr val="2563EB"/>
            </a:solidFill>
            <a:prstDash val="solid"/>
            <a:headEnd type="none"/>
            <a:tailEnd type="triangle"/>
          </a:ln>
        </p:spPr>
      </p:sp>
      <p:sp>
        <p:nvSpPr>
          <p:cNvPr id="34" name="Shape 32">
            <a:extLst xmlns:a="http://schemas.openxmlformats.org/drawingml/2006/main">
              <a:ext uri="{FF2B5EF4-FFF2-40B4-BE49-F238E27FC236}">
                <a16:creationId xmlns:a16="http://schemas.microsoft.com/office/drawing/2014/main" id="{8AB2857C-AE2F-432E-9E1E-5AF02BDD9F0B}"/>
              </a:ext>
            </a:extLst>
          </p:cNvPr>
          <p:cNvSpPr>
            <a:spLocks xmlns:a="http://schemas.openxmlformats.org/drawingml/2006/main" noGrp="1"/>
          </p:cNvSpPr>
          <p:nvPr/>
        </p:nvSpPr>
        <p:spPr>
          <a:xfrm xmlns:a="http://schemas.openxmlformats.org/drawingml/2006/main">
            <a:off x="8275320" y="3749040"/>
            <a:ext cx="3108960" cy="1325880"/>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35" name="Shape 33">
            <a:extLst xmlns:a="http://schemas.openxmlformats.org/drawingml/2006/main">
              <a:ext uri="{FF2B5EF4-FFF2-40B4-BE49-F238E27FC236}">
                <a16:creationId xmlns:a16="http://schemas.microsoft.com/office/drawing/2014/main" id="{65D9CBE8-67EA-4953-BCC0-9D77E5DA543D}"/>
              </a:ext>
            </a:extLst>
          </p:cNvPr>
          <p:cNvSpPr>
            <a:spLocks xmlns:a="http://schemas.openxmlformats.org/drawingml/2006/main" noGrp="1"/>
          </p:cNvSpPr>
          <p:nvPr/>
        </p:nvSpPr>
        <p:spPr>
          <a:xfrm xmlns:a="http://schemas.openxmlformats.org/drawingml/2006/main">
            <a:off x="8439912" y="3913632"/>
            <a:ext cx="420624" cy="301752"/>
          </a:xfrm>
          <a:prstGeom xmlns:a="http://schemas.openxmlformats.org/drawingml/2006/main" prst="roundRect">
            <a:avLst>
              <a:gd name="adj" fmla="val 24242"/>
            </a:avLst>
          </a:prstGeom>
          <a:solidFill xmlns:a="http://schemas.openxmlformats.org/drawingml/2006/main">
            <a:srgbClr val="0B1F3A"/>
          </a:solidFill>
          <a:ln xmlns:a="http://schemas.openxmlformats.org/drawingml/2006/main" w="12700">
            <a:solidFill>
              <a:srgbClr val="0B1F3A"/>
            </a:solidFill>
            <a:prstDash val="solid"/>
          </a:ln>
        </p:spPr>
      </p:sp>
      <p:sp>
        <p:nvSpPr>
          <p:cNvPr id="36" name="Text 34">
            <a:extLst xmlns:a="http://schemas.openxmlformats.org/drawingml/2006/main">
              <a:ext uri="{FF2B5EF4-FFF2-40B4-BE49-F238E27FC236}">
                <a16:creationId xmlns:a16="http://schemas.microsoft.com/office/drawing/2014/main" id="{E70005B2-7EB0-45A4-973A-D23149EC3040}"/>
              </a:ext>
            </a:extLst>
          </p:cNvPr>
          <p:cNvSpPr>
            <a:spLocks xmlns:a="http://schemas.openxmlformats.org/drawingml/2006/main" noGrp="1"/>
          </p:cNvSpPr>
          <p:nvPr/>
        </p:nvSpPr>
        <p:spPr>
          <a:xfrm xmlns:a="http://schemas.openxmlformats.org/drawingml/2006/main">
            <a:off x="8439912" y="3954780"/>
            <a:ext cx="4206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Aptos"/>
                <a:ea typeface="Aptos"/>
                <a:cs typeface="Aptos"/>
              </a:rPr>
              <a:t>6</a:t>
            </a:r>
          </a:p>
        </p:txBody>
      </p:sp>
      <p:sp>
        <p:nvSpPr>
          <p:cNvPr id="37" name="Text 35">
            <a:extLst xmlns:a="http://schemas.openxmlformats.org/drawingml/2006/main">
              <a:ext uri="{FF2B5EF4-FFF2-40B4-BE49-F238E27FC236}">
                <a16:creationId xmlns:a16="http://schemas.microsoft.com/office/drawing/2014/main" id="{505D8F48-F22C-4CA4-A8A8-16C28FCE1CB8}"/>
              </a:ext>
            </a:extLst>
          </p:cNvPr>
          <p:cNvSpPr>
            <a:spLocks xmlns:a="http://schemas.openxmlformats.org/drawingml/2006/main" noGrp="1"/>
          </p:cNvSpPr>
          <p:nvPr/>
        </p:nvSpPr>
        <p:spPr>
          <a:xfrm xmlns:a="http://schemas.openxmlformats.org/drawingml/2006/main">
            <a:off x="8979408" y="3913632"/>
            <a:ext cx="220370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0B1F3A"/>
                </a:solidFill>
                <a:latin typeface="Aptos Display"/>
                <a:ea typeface="Aptos Display"/>
                <a:cs typeface="Aptos Display"/>
              </a:rPr>
              <a:t>UI update</a:t>
            </a:r>
          </a:p>
        </p:txBody>
      </p:sp>
      <p:sp>
        <p:nvSpPr>
          <p:cNvPr id="38" name="Text 36">
            <a:extLst xmlns:a="http://schemas.openxmlformats.org/drawingml/2006/main">
              <a:ext uri="{FF2B5EF4-FFF2-40B4-BE49-F238E27FC236}">
                <a16:creationId xmlns:a16="http://schemas.microsoft.com/office/drawing/2014/main" id="{036A0369-75CD-4EA0-8CA9-E5B771AC0241}"/>
              </a:ext>
            </a:extLst>
          </p:cNvPr>
          <p:cNvSpPr>
            <a:spLocks xmlns:a="http://schemas.openxmlformats.org/drawingml/2006/main" noGrp="1"/>
          </p:cNvSpPr>
          <p:nvPr/>
        </p:nvSpPr>
        <p:spPr>
          <a:xfrm xmlns:a="http://schemas.openxmlformats.org/drawingml/2006/main">
            <a:off x="8476488" y="4370832"/>
            <a:ext cx="2706624" cy="5486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950">
                <a:solidFill>
                  <a:srgbClr val="475569"/>
                </a:solidFill>
                <a:latin typeface="Aptos"/>
                <a:ea typeface="Aptos"/>
                <a:cs typeface="Aptos"/>
              </a:rPr>
              <a:t>Normalized response returns to React Query and the visible workspace updates.</a:t>
            </a:r>
          </a:p>
        </p:txBody>
      </p:sp>
      <p:sp>
        <p:nvSpPr>
          <p:cNvPr id="39" name="Shape 37">
            <a:extLst xmlns:a="http://schemas.openxmlformats.org/drawingml/2006/main">
              <a:ext uri="{FF2B5EF4-FFF2-40B4-BE49-F238E27FC236}">
                <a16:creationId xmlns:a16="http://schemas.microsoft.com/office/drawing/2014/main" id="{75CF849E-4294-49CC-9EBA-6B848B289776}"/>
              </a:ext>
            </a:extLst>
          </p:cNvPr>
          <p:cNvSpPr>
            <a:spLocks xmlns:a="http://schemas.openxmlformats.org/drawingml/2006/main" noGrp="1"/>
          </p:cNvSpPr>
          <p:nvPr/>
        </p:nvSpPr>
        <p:spPr>
          <a:xfrm xmlns:a="http://schemas.openxmlformats.org/drawingml/2006/main">
            <a:off x="10561320" y="2697480"/>
            <a:ext cx="-9555480" cy="1143000"/>
          </a:xfrm>
          <a:prstGeom xmlns:a="http://schemas.openxmlformats.org/drawingml/2006/main" prst="line">
            <a:avLst/>
          </a:prstGeom>
          <a:noFill xmlns:a="http://schemas.openxmlformats.org/drawingml/2006/main"/>
          <a:ln xmlns:a="http://schemas.openxmlformats.org/drawingml/2006/main" w="26670">
            <a:solidFill>
              <a:srgbClr val="94A3B8"/>
            </a:solidFill>
            <a:prstDash val="solid"/>
            <a:headEnd type="none"/>
            <a:tailEnd type="triangle"/>
          </a:ln>
        </p:spPr>
      </p:sp>
      <p:sp>
        <p:nvSpPr>
          <p:cNvPr id="40" name="Slide Number Placeholder 0">
            <a:extLst xmlns:a="http://schemas.openxmlformats.org/drawingml/2006/main">
              <a:ext uri="{FF2B5EF4-FFF2-40B4-BE49-F238E27FC236}">
                <a16:creationId xmlns:a16="http://schemas.microsoft.com/office/drawing/2014/main" id="{D16DB451-7E07-4512-BE22-C7587C2DE616}"/>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11</a:t>
            </a:fld>
          </a:p>
        </p:txBody>
      </p:sp>
    </p:spTree>
    <p:extLst>
      <p:ext uri="{BB962C8B-B14F-4D97-AF65-F5344CB8AC3E}">
        <p14:creationId xmlns:p14="http://schemas.microsoft.com/office/powerpoint/2010/main" val="784359276"/>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052B4CD-E885-4A56-837E-930DDB28337A}"/>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0A54817A-6F32-4705-B897-CB050095FBCD}"/>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REALITY CHECK</a:t>
            </a:r>
          </a:p>
        </p:txBody>
      </p:sp>
      <p:sp>
        <p:nvSpPr>
          <p:cNvPr id="4" name="Text 2">
            <a:extLst xmlns:a="http://schemas.openxmlformats.org/drawingml/2006/main">
              <a:ext uri="{FF2B5EF4-FFF2-40B4-BE49-F238E27FC236}">
                <a16:creationId xmlns:a16="http://schemas.microsoft.com/office/drawing/2014/main" id="{D6AE5E90-9401-402D-B477-439A6A464726}"/>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Validated structure and remaining live proof</a:t>
            </a:r>
          </a:p>
        </p:txBody>
      </p:sp>
      <p:sp>
        <p:nvSpPr>
          <p:cNvPr id="5" name="Shape 3">
            <a:extLst xmlns:a="http://schemas.openxmlformats.org/drawingml/2006/main">
              <a:ext uri="{FF2B5EF4-FFF2-40B4-BE49-F238E27FC236}">
                <a16:creationId xmlns:a16="http://schemas.microsoft.com/office/drawing/2014/main" id="{C85B90D8-41EA-45C3-BE38-A92BFADEACDE}"/>
              </a:ext>
            </a:extLst>
          </p:cNvPr>
          <p:cNvSpPr>
            <a:spLocks xmlns:a="http://schemas.openxmlformats.org/drawingml/2006/main" noGrp="1"/>
          </p:cNvSpPr>
          <p:nvPr/>
        </p:nvSpPr>
        <p:spPr>
          <a:xfrm xmlns:a="http://schemas.openxmlformats.org/drawingml/2006/main">
            <a:off x="685800" y="1371600"/>
            <a:ext cx="3429000" cy="438912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6" name="Text 4">
            <a:extLst xmlns:a="http://schemas.openxmlformats.org/drawingml/2006/main">
              <a:ext uri="{FF2B5EF4-FFF2-40B4-BE49-F238E27FC236}">
                <a16:creationId xmlns:a16="http://schemas.microsoft.com/office/drawing/2014/main" id="{C06E9226-A54F-440E-B510-A087102182C4}"/>
              </a:ext>
            </a:extLst>
          </p:cNvPr>
          <p:cNvSpPr>
            <a:spLocks xmlns:a="http://schemas.openxmlformats.org/drawingml/2006/main" noGrp="1"/>
          </p:cNvSpPr>
          <p:nvPr/>
        </p:nvSpPr>
        <p:spPr>
          <a:xfrm xmlns:a="http://schemas.openxmlformats.org/drawingml/2006/main">
            <a:off x="886968" y="1536192"/>
            <a:ext cx="302666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2563EB"/>
                </a:solidFill>
                <a:latin typeface="Aptos Display"/>
                <a:ea typeface="Aptos Display"/>
                <a:cs typeface="Aptos Display"/>
              </a:rPr>
              <a:t>Live environment validation</a:t>
            </a:r>
          </a:p>
        </p:txBody>
      </p:sp>
      <p:sp>
        <p:nvSpPr>
          <p:cNvPr id="7" name="Text 5">
            <a:extLst xmlns:a="http://schemas.openxmlformats.org/drawingml/2006/main">
              <a:ext uri="{FF2B5EF4-FFF2-40B4-BE49-F238E27FC236}">
                <a16:creationId xmlns:a16="http://schemas.microsoft.com/office/drawing/2014/main" id="{CFA5DE97-32EA-4E56-AFCD-4142C927D73D}"/>
              </a:ext>
            </a:extLst>
          </p:cNvPr>
          <p:cNvSpPr>
            <a:spLocks xmlns:a="http://schemas.openxmlformats.org/drawingml/2006/main" noGrp="1"/>
          </p:cNvSpPr>
          <p:nvPr/>
        </p:nvSpPr>
        <p:spPr>
          <a:xfrm xmlns:a="http://schemas.openxmlformats.org/drawingml/2006/main">
            <a:off x="886968" y="1993392"/>
            <a:ext cx="3026664" cy="36118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1200">
                <a:solidFill>
                  <a:srgbClr val="475569"/>
                </a:solidFill>
                <a:latin typeface="Aptos"/>
                <a:ea typeface="Aptos"/>
                <a:cs typeface="Aptos"/>
              </a:rPr>
              <a:t>Backend tests and frontend build pass. The expanded reference includes official 2024x R3 docs and full 2024x Java API pages. Enterprise TWC/AuthServer, permissions, and TLS still need live proof.</a:t>
            </a:r>
          </a:p>
        </p:txBody>
      </p:sp>
      <p:sp>
        <p:nvSpPr>
          <p:cNvPr id="8" name="Shape 6">
            <a:extLst xmlns:a="http://schemas.openxmlformats.org/drawingml/2006/main">
              <a:ext uri="{FF2B5EF4-FFF2-40B4-BE49-F238E27FC236}">
                <a16:creationId xmlns:a16="http://schemas.microsoft.com/office/drawing/2014/main" id="{8F29CC57-FB7F-44A2-B493-5B75D709C30F}"/>
              </a:ext>
            </a:extLst>
          </p:cNvPr>
          <p:cNvSpPr>
            <a:spLocks xmlns:a="http://schemas.openxmlformats.org/drawingml/2006/main" noGrp="1"/>
          </p:cNvSpPr>
          <p:nvPr/>
        </p:nvSpPr>
        <p:spPr>
          <a:xfrm xmlns:a="http://schemas.openxmlformats.org/drawingml/2006/main">
            <a:off x="4389120" y="1371600"/>
            <a:ext cx="3429000" cy="438912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9" name="Text 7">
            <a:extLst xmlns:a="http://schemas.openxmlformats.org/drawingml/2006/main">
              <a:ext uri="{FF2B5EF4-FFF2-40B4-BE49-F238E27FC236}">
                <a16:creationId xmlns:a16="http://schemas.microsoft.com/office/drawing/2014/main" id="{7F7D0401-4C43-4CB4-ABB3-44728D83475E}"/>
              </a:ext>
            </a:extLst>
          </p:cNvPr>
          <p:cNvSpPr>
            <a:spLocks xmlns:a="http://schemas.openxmlformats.org/drawingml/2006/main" noGrp="1"/>
          </p:cNvSpPr>
          <p:nvPr/>
        </p:nvSpPr>
        <p:spPr>
          <a:xfrm xmlns:a="http://schemas.openxmlformats.org/drawingml/2006/main">
            <a:off x="4590288" y="1536192"/>
            <a:ext cx="302666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F59E0B"/>
                </a:solidFill>
                <a:latin typeface="Aptos Display"/>
                <a:ea typeface="Aptos Display"/>
                <a:cs typeface="Aptos Display"/>
              </a:rPr>
              <a:t>Plugin validation</a:t>
            </a:r>
          </a:p>
        </p:txBody>
      </p:sp>
      <p:sp>
        <p:nvSpPr>
          <p:cNvPr id="10" name="Text 8">
            <a:extLst xmlns:a="http://schemas.openxmlformats.org/drawingml/2006/main">
              <a:ext uri="{FF2B5EF4-FFF2-40B4-BE49-F238E27FC236}">
                <a16:creationId xmlns:a16="http://schemas.microsoft.com/office/drawing/2014/main" id="{84AC319D-CAC3-47FA-BEC9-092E3BDE41B0}"/>
              </a:ext>
            </a:extLst>
          </p:cNvPr>
          <p:cNvSpPr>
            <a:spLocks xmlns:a="http://schemas.openxmlformats.org/drawingml/2006/main" noGrp="1"/>
          </p:cNvSpPr>
          <p:nvPr/>
        </p:nvSpPr>
        <p:spPr>
          <a:xfrm xmlns:a="http://schemas.openxmlformats.org/drawingml/2006/main">
            <a:off x="4590288" y="1993392"/>
            <a:ext cx="3026664" cy="36118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1200">
                <a:solidFill>
                  <a:srgbClr val="475569"/>
                </a:solidFill>
                <a:latin typeface="Aptos"/>
                <a:ea typeface="Aptos"/>
                <a:cs typeface="Aptos"/>
              </a:rPr>
              <a:t>The exporter is implemented against documented 2024x metamodel and TagsHelper APIs. It still needs SDK compilation and end-to-end capture inside the target Cameo runtime.</a:t>
            </a:r>
          </a:p>
        </p:txBody>
      </p:sp>
      <p:sp>
        <p:nvSpPr>
          <p:cNvPr id="11" name="Shape 9">
            <a:extLst xmlns:a="http://schemas.openxmlformats.org/drawingml/2006/main">
              <a:ext uri="{FF2B5EF4-FFF2-40B4-BE49-F238E27FC236}">
                <a16:creationId xmlns:a16="http://schemas.microsoft.com/office/drawing/2014/main" id="{4048B906-7625-4399-8013-321C352AF2F7}"/>
              </a:ext>
            </a:extLst>
          </p:cNvPr>
          <p:cNvSpPr>
            <a:spLocks xmlns:a="http://schemas.openxmlformats.org/drawingml/2006/main" noGrp="1"/>
          </p:cNvSpPr>
          <p:nvPr/>
        </p:nvSpPr>
        <p:spPr>
          <a:xfrm xmlns:a="http://schemas.openxmlformats.org/drawingml/2006/main">
            <a:off x="8092440" y="1371600"/>
            <a:ext cx="3429000" cy="438912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2" name="Text 10">
            <a:extLst xmlns:a="http://schemas.openxmlformats.org/drawingml/2006/main">
              <a:ext uri="{FF2B5EF4-FFF2-40B4-BE49-F238E27FC236}">
                <a16:creationId xmlns:a16="http://schemas.microsoft.com/office/drawing/2014/main" id="{C8F5B0F4-375E-4293-B2A3-5840A4D6C47F}"/>
              </a:ext>
            </a:extLst>
          </p:cNvPr>
          <p:cNvSpPr>
            <a:spLocks xmlns:a="http://schemas.openxmlformats.org/drawingml/2006/main" noGrp="1"/>
          </p:cNvSpPr>
          <p:nvPr/>
        </p:nvSpPr>
        <p:spPr>
          <a:xfrm xmlns:a="http://schemas.openxmlformats.org/drawingml/2006/main">
            <a:off x="8293608" y="1536192"/>
            <a:ext cx="302666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EF4444"/>
                </a:solidFill>
                <a:latin typeface="Aptos Display"/>
                <a:ea typeface="Aptos Display"/>
                <a:cs typeface="Aptos Display"/>
              </a:rPr>
              <a:t>Contract-limited features</a:t>
            </a:r>
          </a:p>
        </p:txBody>
      </p:sp>
      <p:sp>
        <p:nvSpPr>
          <p:cNvPr id="13" name="Text 11">
            <a:extLst xmlns:a="http://schemas.openxmlformats.org/drawingml/2006/main">
              <a:ext uri="{FF2B5EF4-FFF2-40B4-BE49-F238E27FC236}">
                <a16:creationId xmlns:a16="http://schemas.microsoft.com/office/drawing/2014/main" id="{DE607829-2675-4754-83D0-D76EFD13A6F8}"/>
              </a:ext>
            </a:extLst>
          </p:cNvPr>
          <p:cNvSpPr>
            <a:spLocks xmlns:a="http://schemas.openxmlformats.org/drawingml/2006/main" noGrp="1"/>
          </p:cNvSpPr>
          <p:nvPr/>
        </p:nvSpPr>
        <p:spPr>
          <a:xfrm xmlns:a="http://schemas.openxmlformats.org/drawingml/2006/main">
            <a:off x="8293608" y="1993392"/>
            <a:ext cx="3026664" cy="36118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200">
                <a:solidFill>
                  <a:srgbClr val="475569"/>
                </a:solidFill>
                <a:latin typeface="Aptos"/>
                <a:ea typeface="Aptos"/>
                <a:cs typeface="Aptos"/>
              </a:rPr>
              <a:t>The app correctly avoids claiming support for APIs not present in the verified Swagger. New features should first be proven in the contract or live-capture package.</a:t>
            </a:r>
          </a:p>
        </p:txBody>
      </p:sp>
      <p:sp>
        <p:nvSpPr>
          <p:cNvPr id="25" name="Slide Number Placeholder 0">
            <a:extLst xmlns:a="http://schemas.openxmlformats.org/drawingml/2006/main">
              <a:ext uri="{FF2B5EF4-FFF2-40B4-BE49-F238E27FC236}">
                <a16:creationId xmlns:a16="http://schemas.microsoft.com/office/drawing/2014/main" id="{CAA6DBA0-E612-40AD-8CB6-05B259EF48CB}"/>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12</a:t>
            </a:fld>
          </a:p>
        </p:txBody>
      </p:sp>
    </p:spTree>
    <p:extLst>
      <p:ext uri="{BB962C8B-B14F-4D97-AF65-F5344CB8AC3E}">
        <p14:creationId xmlns:p14="http://schemas.microsoft.com/office/powerpoint/2010/main" val="1816542455"/>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E35EA6A-69EB-4063-B33B-85B178FC9922}"/>
              </a:ext>
            </a:extLst>
          </p:cNvPr>
          <p:cNvSpPr>
            <a:spLocks xmlns:a="http://schemas.openxmlformats.org/drawingml/2006/main" noGrp="1"/>
          </p:cNvSpPr>
          <p:nvPr/>
        </p:nvSpPr>
        <p:spPr>
          <a:xfrm xmlns:a="http://schemas.openxmlformats.org/drawingml/2006/main">
            <a:off x="0" y="0"/>
            <a:ext cx="12191695" cy="201168"/>
          </a:xfrm>
          <a:prstGeom xmlns:a="http://schemas.openxmlformats.org/drawingml/2006/main" prst="rect">
            <a:avLst/>
          </a:prstGeom>
          <a:solidFill xmlns:a="http://schemas.openxmlformats.org/drawingml/2006/main">
            <a:srgbClr val="2563EB"/>
          </a:solidFill>
          <a:ln xmlns:a="http://schemas.openxmlformats.org/drawingml/2006/main" w="12700">
            <a:solidFill>
              <a:srgbClr val="2563EB"/>
            </a:solidFill>
            <a:prstDash val="solid"/>
          </a:ln>
        </p:spPr>
      </p:sp>
      <p:sp>
        <p:nvSpPr>
          <p:cNvPr id="3" name="Text 1">
            <a:extLst xmlns:a="http://schemas.openxmlformats.org/drawingml/2006/main">
              <a:ext uri="{FF2B5EF4-FFF2-40B4-BE49-F238E27FC236}">
                <a16:creationId xmlns:a16="http://schemas.microsoft.com/office/drawing/2014/main" id="{725D9DC0-08C6-4CD4-85B9-19D4C1DCBFF2}"/>
              </a:ext>
            </a:extLst>
          </p:cNvPr>
          <p:cNvSpPr>
            <a:spLocks xmlns:a="http://schemas.openxmlformats.org/drawingml/2006/main" noGrp="1"/>
          </p:cNvSpPr>
          <p:nvPr/>
        </p:nvSpPr>
        <p:spPr>
          <a:xfrm xmlns:a="http://schemas.openxmlformats.org/drawingml/2006/main">
            <a:off x="502920" y="411480"/>
            <a:ext cx="4206240" cy="2286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850" b="1">
                <a:solidFill>
                  <a:srgbClr val="2563EB"/>
                </a:solidFill>
                <a:latin typeface="Aptos"/>
                <a:ea typeface="Aptos"/>
                <a:cs typeface="Aptos"/>
              </a:rPr>
              <a:t>SUMMARY</a:t>
            </a:r>
          </a:p>
        </p:txBody>
      </p:sp>
      <p:sp>
        <p:nvSpPr>
          <p:cNvPr id="4" name="Text 2">
            <a:extLst xmlns:a="http://schemas.openxmlformats.org/drawingml/2006/main">
              <a:ext uri="{FF2B5EF4-FFF2-40B4-BE49-F238E27FC236}">
                <a16:creationId xmlns:a16="http://schemas.microsoft.com/office/drawing/2014/main" id="{9507F128-08B1-476B-B94C-978D0A19393B}"/>
              </a:ext>
            </a:extLst>
          </p:cNvPr>
          <p:cNvSpPr>
            <a:spLocks xmlns:a="http://schemas.openxmlformats.org/drawingml/2006/main" noGrp="1"/>
          </p:cNvSpPr>
          <p:nvPr/>
        </p:nvSpPr>
        <p:spPr>
          <a:xfrm xmlns:a="http://schemas.openxmlformats.org/drawingml/2006/main">
            <a:off x="502920" y="658368"/>
            <a:ext cx="11155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A"/>
                </a:solidFill>
                <a:latin typeface="Aptos Display"/>
                <a:ea typeface="Aptos Display"/>
                <a:cs typeface="Aptos Display"/>
              </a:rPr>
              <a:t>Bottom line</a:t>
            </a:r>
          </a:p>
        </p:txBody>
      </p:sp>
      <p:sp>
        <p:nvSpPr>
          <p:cNvPr id="5" name="Text 3">
            <a:extLst xmlns:a="http://schemas.openxmlformats.org/drawingml/2006/main">
              <a:ext uri="{FF2B5EF4-FFF2-40B4-BE49-F238E27FC236}">
                <a16:creationId xmlns:a16="http://schemas.microsoft.com/office/drawing/2014/main" id="{A7E040F3-55CF-4543-8737-A2CA59F48834}"/>
              </a:ext>
            </a:extLst>
          </p:cNvPr>
          <p:cNvSpPr>
            <a:spLocks xmlns:a="http://schemas.openxmlformats.org/drawingml/2006/main" noGrp="1"/>
          </p:cNvSpPr>
          <p:nvPr/>
        </p:nvSpPr>
        <p:spPr>
          <a:xfrm xmlns:a="http://schemas.openxmlformats.org/drawingml/2006/main">
            <a:off x="777240" y="1417320"/>
            <a:ext cx="107899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500" b="1">
                <a:solidFill>
                  <a:srgbClr val="0B1F3A"/>
                </a:solidFill>
                <a:latin typeface="Aptos Display"/>
                <a:ea typeface="Aptos Display"/>
                <a:cs typeface="Aptos Display"/>
              </a:rPr>
              <a:t>Workbench carries the complete Cameo model and native specifications into users, APIs, and grounded OWUI agents.</a:t>
            </a:r>
          </a:p>
        </p:txBody>
      </p:sp>
      <p:sp>
        <p:nvSpPr>
          <p:cNvPr id="6" name="Shape 4">
            <a:extLst xmlns:a="http://schemas.openxmlformats.org/drawingml/2006/main">
              <a:ext uri="{FF2B5EF4-FFF2-40B4-BE49-F238E27FC236}">
                <a16:creationId xmlns:a16="http://schemas.microsoft.com/office/drawing/2014/main" id="{6668C0ED-F485-4938-8DC3-BD8C5A15F87F}"/>
              </a:ext>
            </a:extLst>
          </p:cNvPr>
          <p:cNvSpPr>
            <a:spLocks xmlns:a="http://schemas.openxmlformats.org/drawingml/2006/main" noGrp="1"/>
          </p:cNvSpPr>
          <p:nvPr/>
        </p:nvSpPr>
        <p:spPr>
          <a:xfrm xmlns:a="http://schemas.openxmlformats.org/drawingml/2006/main">
            <a:off x="868680" y="2743200"/>
            <a:ext cx="3017520" cy="1965960"/>
          </a:xfrm>
          <a:prstGeom xmlns:a="http://schemas.openxmlformats.org/drawingml/2006/main" prst="roundRect">
            <a:avLst>
              <a:gd name="adj" fmla="val 5581"/>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7" name="Text 5">
            <a:extLst xmlns:a="http://schemas.openxmlformats.org/drawingml/2006/main">
              <a:ext uri="{FF2B5EF4-FFF2-40B4-BE49-F238E27FC236}">
                <a16:creationId xmlns:a16="http://schemas.microsoft.com/office/drawing/2014/main" id="{02F82286-F217-4A87-BE22-5F42F7DA5F61}"/>
              </a:ext>
            </a:extLst>
          </p:cNvPr>
          <p:cNvSpPr>
            <a:spLocks xmlns:a="http://schemas.openxmlformats.org/drawingml/2006/main" noGrp="1"/>
          </p:cNvSpPr>
          <p:nvPr/>
        </p:nvSpPr>
        <p:spPr>
          <a:xfrm xmlns:a="http://schemas.openxmlformats.org/drawingml/2006/main">
            <a:off x="1069848" y="2907792"/>
            <a:ext cx="26151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2563EB"/>
                </a:solidFill>
                <a:latin typeface="Aptos Display"/>
                <a:ea typeface="Aptos Display"/>
                <a:cs typeface="Aptos Display"/>
              </a:rPr>
              <a:t>For users</a:t>
            </a:r>
          </a:p>
        </p:txBody>
      </p:sp>
      <p:sp>
        <p:nvSpPr>
          <p:cNvPr id="8" name="Text 6">
            <a:extLst xmlns:a="http://schemas.openxmlformats.org/drawingml/2006/main">
              <a:ext uri="{FF2B5EF4-FFF2-40B4-BE49-F238E27FC236}">
                <a16:creationId xmlns:a16="http://schemas.microsoft.com/office/drawing/2014/main" id="{79AA2C6B-B3B5-432B-BC8E-3DAB575AB80B}"/>
              </a:ext>
            </a:extLst>
          </p:cNvPr>
          <p:cNvSpPr>
            <a:spLocks xmlns:a="http://schemas.openxmlformats.org/drawingml/2006/main" noGrp="1"/>
          </p:cNvSpPr>
          <p:nvPr/>
        </p:nvSpPr>
        <p:spPr>
          <a:xfrm xmlns:a="http://schemas.openxmlformats.org/drawingml/2006/main">
            <a:off x="1069848" y="3364992"/>
            <a:ext cx="2615184" cy="11887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1100">
                <a:solidFill>
                  <a:srgbClr val="475569"/>
                </a:solidFill>
                <a:latin typeface="Aptos"/>
                <a:ea typeface="Aptos"/>
                <a:cs typeface="Aptos"/>
              </a:rPr>
              <a:t>A complete ordered tree with all Cameo metamodel and stereotype property content.</a:t>
            </a:r>
          </a:p>
        </p:txBody>
      </p:sp>
      <p:sp>
        <p:nvSpPr>
          <p:cNvPr id="9" name="Shape 7">
            <a:extLst xmlns:a="http://schemas.openxmlformats.org/drawingml/2006/main">
              <a:ext uri="{FF2B5EF4-FFF2-40B4-BE49-F238E27FC236}">
                <a16:creationId xmlns:a16="http://schemas.microsoft.com/office/drawing/2014/main" id="{4E7C47EE-A457-49C2-B8CD-934B4E937459}"/>
              </a:ext>
            </a:extLst>
          </p:cNvPr>
          <p:cNvSpPr>
            <a:spLocks xmlns:a="http://schemas.openxmlformats.org/drawingml/2006/main" noGrp="1"/>
          </p:cNvSpPr>
          <p:nvPr/>
        </p:nvSpPr>
        <p:spPr>
          <a:xfrm xmlns:a="http://schemas.openxmlformats.org/drawingml/2006/main">
            <a:off x="4572000" y="2743200"/>
            <a:ext cx="3017520" cy="1965960"/>
          </a:xfrm>
          <a:prstGeom xmlns:a="http://schemas.openxmlformats.org/drawingml/2006/main" prst="roundRect">
            <a:avLst>
              <a:gd name="adj" fmla="val 5581"/>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0" name="Text 8">
            <a:extLst xmlns:a="http://schemas.openxmlformats.org/drawingml/2006/main">
              <a:ext uri="{FF2B5EF4-FFF2-40B4-BE49-F238E27FC236}">
                <a16:creationId xmlns:a16="http://schemas.microsoft.com/office/drawing/2014/main" id="{71801DA3-602C-40DA-98F2-7D4D30129C63}"/>
              </a:ext>
            </a:extLst>
          </p:cNvPr>
          <p:cNvSpPr>
            <a:spLocks xmlns:a="http://schemas.openxmlformats.org/drawingml/2006/main" noGrp="1"/>
          </p:cNvSpPr>
          <p:nvPr/>
        </p:nvSpPr>
        <p:spPr>
          <a:xfrm xmlns:a="http://schemas.openxmlformats.org/drawingml/2006/main">
            <a:off x="4773168" y="2907792"/>
            <a:ext cx="26151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7C3AED"/>
                </a:solidFill>
                <a:latin typeface="Aptos Display"/>
                <a:ea typeface="Aptos Display"/>
                <a:cs typeface="Aptos Display"/>
              </a:rPr>
              <a:t>For admins</a:t>
            </a:r>
          </a:p>
        </p:txBody>
      </p:sp>
      <p:sp>
        <p:nvSpPr>
          <p:cNvPr id="11" name="Text 9">
            <a:extLst xmlns:a="http://schemas.openxmlformats.org/drawingml/2006/main">
              <a:ext uri="{FF2B5EF4-FFF2-40B4-BE49-F238E27FC236}">
                <a16:creationId xmlns:a16="http://schemas.microsoft.com/office/drawing/2014/main" id="{2BD29541-17B1-4100-B34C-52F67604074C}"/>
              </a:ext>
            </a:extLst>
          </p:cNvPr>
          <p:cNvSpPr>
            <a:spLocks xmlns:a="http://schemas.openxmlformats.org/drawingml/2006/main" noGrp="1"/>
          </p:cNvSpPr>
          <p:nvPr/>
        </p:nvSpPr>
        <p:spPr>
          <a:xfrm xmlns:a="http://schemas.openxmlformats.org/drawingml/2006/main">
            <a:off x="4773168" y="3364992"/>
            <a:ext cx="2615184" cy="11887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a:bodyPr>
          <a:lstStyle xmlns:a="http://schemas.openxmlformats.org/drawingml/2006/main"/>
          <a:p xmlns:a="http://schemas.openxmlformats.org/drawingml/2006/main">
            <a:pPr marL="0" indent="0">
              <a:buNone/>
            </a:pPr>
            <a:r>
              <a:rPr sz="1100">
                <a:solidFill>
                  <a:srgbClr val="475569"/>
                </a:solidFill>
                <a:latin typeface="Aptos"/>
                <a:ea typeface="Aptos"/>
                <a:cs typeface="Aptos"/>
              </a:rPr>
              <a:t>Central server presets, secure sessions, AuthServer integration, capability boundaries, and admin-only API exploration.</a:t>
            </a:r>
          </a:p>
        </p:txBody>
      </p:sp>
      <p:sp>
        <p:nvSpPr>
          <p:cNvPr id="12" name="Shape 10">
            <a:extLst xmlns:a="http://schemas.openxmlformats.org/drawingml/2006/main">
              <a:ext uri="{FF2B5EF4-FFF2-40B4-BE49-F238E27FC236}">
                <a16:creationId xmlns:a16="http://schemas.microsoft.com/office/drawing/2014/main" id="{F6EE9A67-92BC-4FE7-AF00-BB6F895D8D48}"/>
              </a:ext>
            </a:extLst>
          </p:cNvPr>
          <p:cNvSpPr>
            <a:spLocks xmlns:a="http://schemas.openxmlformats.org/drawingml/2006/main" noGrp="1"/>
          </p:cNvSpPr>
          <p:nvPr/>
        </p:nvSpPr>
        <p:spPr>
          <a:xfrm xmlns:a="http://schemas.openxmlformats.org/drawingml/2006/main">
            <a:off x="8275320" y="2743200"/>
            <a:ext cx="3017520" cy="1965960"/>
          </a:xfrm>
          <a:prstGeom xmlns:a="http://schemas.openxmlformats.org/drawingml/2006/main" prst="roundRect">
            <a:avLst>
              <a:gd name="adj" fmla="val 5581"/>
            </a:avLst>
          </a:prstGeom>
          <a:solidFill xmlns:a="http://schemas.openxmlformats.org/drawingml/2006/main">
            <a:srgbClr val="FFFFFF"/>
          </a:solidFill>
          <a:ln xmlns:a="http://schemas.openxmlformats.org/drawingml/2006/main" w="12700">
            <a:solidFill>
              <a:srgbClr val="D6DEE8"/>
            </a:solidFill>
            <a:prstDash val="solid"/>
          </a:ln>
          <a:effectLst xmlns:a="http://schemas.openxmlformats.org/drawingml/2006/main">
            <a:outerShdw blurRad="12700" dist="50800" dir="2700000" sx="100000" sy="100000" kx="0" ky="0" algn="bl" rotWithShape="0">
              <a:srgbClr val="D8DEE9">
                <a:alpha val="18000"/>
              </a:srgbClr>
            </a:outerShdw>
          </a:effectLst>
        </p:spPr>
      </p:sp>
      <p:sp>
        <p:nvSpPr>
          <p:cNvPr id="13" name="Text 11">
            <a:extLst xmlns:a="http://schemas.openxmlformats.org/drawingml/2006/main">
              <a:ext uri="{FF2B5EF4-FFF2-40B4-BE49-F238E27FC236}">
                <a16:creationId xmlns:a16="http://schemas.microsoft.com/office/drawing/2014/main" id="{8D9CF979-F26C-4BE5-BAB9-4BF7039E1D70}"/>
              </a:ext>
            </a:extLst>
          </p:cNvPr>
          <p:cNvSpPr>
            <a:spLocks xmlns:a="http://schemas.openxmlformats.org/drawingml/2006/main" noGrp="1"/>
          </p:cNvSpPr>
          <p:nvPr/>
        </p:nvSpPr>
        <p:spPr>
          <a:xfrm xmlns:a="http://schemas.openxmlformats.org/drawingml/2006/main">
            <a:off x="8476488" y="2907792"/>
            <a:ext cx="2615184" cy="320040"/>
          </a:xfrm>
          <a:prstGeom xmlns:a="http://schemas.openxmlformats.org/drawingml/2006/main" prst="rect">
            <a:avLst/>
          </a:prstGeom>
          <a:noFill xmlns:a="http://schemas.openxmlformats.org/drawingml/2006/main"/>
        </p:spPr>
        <p:txBody>
          <a:bodyPr xmlns:a="http://schemas.openxmlformats.org/drawingml/2006/main" wrap="square" lIns="127" tIns="127" rIns="127" bIns="127" anchor="ctr"/>
          <a:lstStyle xmlns:a="http://schemas.openxmlformats.org/drawingml/2006/main"/>
          <a:p xmlns:a="http://schemas.openxmlformats.org/drawingml/2006/main">
            <a:pPr marL="0" indent="0">
              <a:buNone/>
            </a:pPr>
            <a:r>
              <a:rPr sz="1400" b="1">
                <a:solidFill>
                  <a:srgbClr val="10B981"/>
                </a:solidFill>
                <a:latin typeface="Aptos Display"/>
                <a:ea typeface="Aptos Display"/>
                <a:cs typeface="Aptos Display"/>
              </a:rPr>
              <a:t>For automation</a:t>
            </a:r>
          </a:p>
        </p:txBody>
      </p:sp>
      <p:sp>
        <p:nvSpPr>
          <p:cNvPr id="14" name="Text 12">
            <a:extLst xmlns:a="http://schemas.openxmlformats.org/drawingml/2006/main">
              <a:ext uri="{FF2B5EF4-FFF2-40B4-BE49-F238E27FC236}">
                <a16:creationId xmlns:a16="http://schemas.microsoft.com/office/drawing/2014/main" id="{8FE5C3A9-A71B-4897-A37C-B4AE187A225C}"/>
              </a:ext>
            </a:extLst>
          </p:cNvPr>
          <p:cNvSpPr>
            <a:spLocks xmlns:a="http://schemas.openxmlformats.org/drawingml/2006/main" noGrp="1"/>
          </p:cNvSpPr>
          <p:nvPr/>
        </p:nvSpPr>
        <p:spPr>
          <a:xfrm xmlns:a="http://schemas.openxmlformats.org/drawingml/2006/main">
            <a:off x="8476488" y="3364992"/>
            <a:ext cx="2615184" cy="1188720"/>
          </a:xfrm>
          <a:prstGeom xmlns:a="http://schemas.openxmlformats.org/drawingml/2006/main" prst="rect">
            <a:avLst/>
          </a:prstGeom>
          <a:noFill xmlns:a="http://schemas.openxmlformats.org/drawingml/2006/main"/>
        </p:spPr>
        <p:txBody>
          <a:bodyPr xmlns:a="http://schemas.openxmlformats.org/drawingml/2006/main" wrap="square" lIns="254" tIns="254" rIns="254" bIns="254" anchor="t">
            <a:normAutofit fontScale="100000"/>
          </a:bodyPr>
          <a:lstStyle xmlns:a="http://schemas.openxmlformats.org/drawingml/2006/main"/>
          <a:p xmlns:a="http://schemas.openxmlformats.org/drawingml/2006/main">
            <a:pPr marL="0" indent="0">
              <a:buNone/>
            </a:pPr>
            <a:r>
              <a:rPr sz="1100">
                <a:solidFill>
                  <a:srgbClr val="475569"/>
                </a:solidFill>
                <a:latin typeface="Aptos"/>
                <a:ea typeface="Aptos"/>
                <a:cs typeface="Aptos"/>
              </a:rPr>
              <a:t>Scoped APIs plus a segmented 3DS reference set and branch source ground scripts and any mapped OWUI model.</a:t>
            </a:r>
          </a:p>
        </p:txBody>
      </p:sp>
      <p:sp>
        <p:nvSpPr>
          <p:cNvPr id="15" name="Shape 13">
            <a:extLst xmlns:a="http://schemas.openxmlformats.org/drawingml/2006/main">
              <a:ext uri="{FF2B5EF4-FFF2-40B4-BE49-F238E27FC236}">
                <a16:creationId xmlns:a16="http://schemas.microsoft.com/office/drawing/2014/main" id="{E7620E6F-4848-4B40-BD2C-BCFA06382D65}"/>
              </a:ext>
            </a:extLst>
          </p:cNvPr>
          <p:cNvSpPr>
            <a:spLocks xmlns:a="http://schemas.openxmlformats.org/drawingml/2006/main" noGrp="1"/>
          </p:cNvSpPr>
          <p:nvPr/>
        </p:nvSpPr>
        <p:spPr>
          <a:xfrm xmlns:a="http://schemas.openxmlformats.org/drawingml/2006/main">
            <a:off x="1828800" y="5532120"/>
            <a:ext cx="8549640" cy="502920"/>
          </a:xfrm>
          <a:prstGeom xmlns:a="http://schemas.openxmlformats.org/drawingml/2006/main" prst="roundRect">
            <a:avLst>
              <a:gd name="adj" fmla="val 32727"/>
            </a:avLst>
          </a:prstGeom>
          <a:solidFill xmlns:a="http://schemas.openxmlformats.org/drawingml/2006/main">
            <a:srgbClr val="0B1F3A"/>
          </a:solidFill>
          <a:ln xmlns:a="http://schemas.openxmlformats.org/drawingml/2006/main" w="12700">
            <a:solidFill>
              <a:srgbClr val="0B1F3A"/>
            </a:solidFill>
            <a:prstDash val="solid"/>
          </a:ln>
        </p:spPr>
      </p:sp>
      <p:sp>
        <p:nvSpPr>
          <p:cNvPr id="16" name="Text 14">
            <a:extLst xmlns:a="http://schemas.openxmlformats.org/drawingml/2006/main">
              <a:ext uri="{FF2B5EF4-FFF2-40B4-BE49-F238E27FC236}">
                <a16:creationId xmlns:a16="http://schemas.microsoft.com/office/drawing/2014/main" id="{0EC12E40-D153-4BA0-BB40-46C16D4A5DD7}"/>
              </a:ext>
            </a:extLst>
          </p:cNvPr>
          <p:cNvSpPr>
            <a:spLocks xmlns:a="http://schemas.openxmlformats.org/drawingml/2006/main" noGrp="1"/>
          </p:cNvSpPr>
          <p:nvPr/>
        </p:nvSpPr>
        <p:spPr>
          <a:xfrm xmlns:a="http://schemas.openxmlformats.org/drawingml/2006/main">
            <a:off x="1920240" y="5678424"/>
            <a:ext cx="8366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FFFFFF"/>
                </a:solidFill>
                <a:latin typeface="Aptos"/>
                <a:ea typeface="Aptos"/>
                <a:cs typeface="Aptos"/>
              </a:rPr>
              <a:t>Complete tree. Native specifications. Persistent 3DS guidance. Permission-scoped branch facts.</a:t>
            </a:r>
          </a:p>
        </p:txBody>
      </p:sp>
      <p:sp>
        <p:nvSpPr>
          <p:cNvPr id="25" name="Slide Number Placeholder 0">
            <a:extLst xmlns:a="http://schemas.openxmlformats.org/drawingml/2006/main">
              <a:ext uri="{FF2B5EF4-FFF2-40B4-BE49-F238E27FC236}">
                <a16:creationId xmlns:a16="http://schemas.microsoft.com/office/drawing/2014/main" id="{025C8DC7-53BD-41CA-8BC6-82AD9F730E3D}"/>
              </a:ext>
            </a:extLst>
          </p:cNvPr>
          <p:cNvSpPr>
            <a:spLocks xmlns:a="http://schemas.openxmlformats.org/drawingml/2006/main" noGrp="1"/>
          </p:cNvSpPr>
          <p:nvPr>
            <p:ph type="sldNum" idx="4294967295"/>
          </p:nvPr>
        </p:nvSpPr>
        <p:spPr>
          <a:xfrm xmlns:a="http://schemas.openxmlformats.org/drawingml/2006/main">
            <a:off x="11292840" y="6574536"/>
            <a:ext cx="800000" cy="300000"/>
          </a:xfrm>
          <a:prstGeom xmlns:a="http://schemas.openxmlformats.org/drawingml/2006/main" prst="rect">
            <a:avLst/>
          </a:prstGeom>
        </p:spPr>
        <p:txBody>
          <a:bodyPr xmlns:a="http://schemas.openxmlformats.org/drawingml/2006/main"/>
          <a:lstStyle xmlns:a="http://schemas.openxmlformats.org/drawingml/2006/main">
            <a:lvl1pPr>
              <a:buNone/>
              <a:defRPr sz="700">
                <a:solidFill>
                  <a:srgbClr val="64748B"/>
                </a:solidFill>
                <a:latin typeface="Aptos"/>
                <a:ea typeface="Aptos"/>
                <a:cs typeface="Aptos"/>
              </a:defRPr>
            </a:lvl1pPr>
          </a:lstStyle>
          <a:p xmlns:a="http://schemas.openxmlformats.org/drawingml/2006/main">
            <a:pPr algn="l">
              <a:buNone/>
            </a:pPr>
            <a:fld id="{F7021451-1387-4CA6-816F-3879F97B5CBC}" type="slidenum">
              <a:rPr b="0"/>
              <a:t>13</a:t>
            </a:fld>
          </a:p>
        </p:txBody>
      </p:sp>
    </p:spTree>
    <p:extLst>
      <p:ext uri="{BB962C8B-B14F-4D97-AF65-F5344CB8AC3E}">
        <p14:creationId xmlns:p14="http://schemas.microsoft.com/office/powerpoint/2010/main" val="24170664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2026-07-23T00:52:11.6710000Z</dcterms:created>
  <dcterms:modified xsi:type="dcterms:W3CDTF">2026-07-23T00:52:11.6710000Z</dcterms:modified>
</coreProperties>
</file>