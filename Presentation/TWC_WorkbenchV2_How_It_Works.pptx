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explains TWC Workbench V2 at a practical architecture level. The main point is that this is not just a frontend. It is a server-backed enterprise workbench that keeps Teamwork Cloud access, authentication, tokens, capability discovery, cache materialization, and plugin ingestion behind a controlled FastAPI backend while the React interface gives users a clean workspace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this app solves is controlled access to Teamwork Cloud data through a web interface. The frontend gives the user the experience: dashboards, project browsing, model browsing, details, compare, developer API, and admin tools. The backend keeps the sensitive parts server-side: authentication, sessions, tokens, capability checks, and direct Teamwork Cloud calls. The third major purpose is speed and automation: Workbench can use cache-backed data and ingest snapshots or deltas from the Cameo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 high level, the browser only talks to the Workbench backend. The backend is the control point. It serves the frontend, manages CORS and secure sessions, routes requests through auth, server, workspace, and cache APIs, then talks outward to Teamwork Cloud and the Authentication Server. Data that needs to persist, such as server profiles, user state, and cache information, lives in SQLite by default, with Redis available for sessions. A second integration path comes from the Cameo plugin, which posts snapshots and deltas into the cache ingest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sign-in flow starts on the landing page with preset server selection. When the user clicks Sign In via TWC, the backend builds a server-specific authorization URL and redirects the browser to the TWC Authentication Server. After login, the browser returns to the Workbench callback. The backend exchanges the code for tokens and validates the user against Teamwork Cloud. The result is a secure Workbench session. There is also an explicit token fallback for environments where direct AuthServer flow needs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a React and TypeScript application using Material UI and TanStack Query. The workspace is organized as tabs. Dashboard gives context. Project Browser and Model Browser handle navigation. Item Details shows the selected element or model item. Compare gives revision-oriented workflows. Developer API lets users create scoped API keys and copy runnable examples. API Explorer is admin-only and is tied to the bundled contract. The Workbench Agent tab is present for AI-style model interaction and knowledge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where the application actually becomes enterprise-safe. The route groups expose clean areas of functionality: authentication, server management, workspace operations, and cache operations. Behind the routes, PlatformService is the orchestration layer. It decides how to use sessions, server profiles, adapters, cache, jobs, API keys, and agent settings. The Teamwork adapters isolate TWC version differences. Storage is handled through a SQLite repository by default, which keeps deployment simple but still gives the app durable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major design choice is that the app is contract-bound. It uses the verified Swagger file instead of inventing endpoints. That matters because Teamwork Cloud surfaces can vary by version and deployment. The app uses the verified parts: workspaces, resources, branches, models, elements, revision diff, and current-user validation. If an area is not defined in the Swagger contract, the app does not pretend it is safely supported. Version-specific behavior is handled behind adapter and capability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design is meant to make the app faster and easier to automate without turning the cache into an unrestricted server-wide data dump. The shared branch payload is stored once, while user permission overlays stay separate. That gives efficiency while preserving user-scoped visibility. The Developer API exposes cache-first access for scripts or external tools through scoped API keys. Read, write, and edit scopes control what each key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Cameo plugin is the desktop-to-web bridge. It loads inside Cameo or MagicDraw, adds a TWC Workbench menu, and lets the user configure the Workbench connection. When a project opens, it can capture a baseline snapshot. On save or close, it publishes a delta when a baseline exists, or a full snapshot when needed. Those snapshots and deltas go into Workbench through bearer-token-protected ingest endpoints. This is important because it lets Workbench serve rich model data without forcing the browser to crawl the entire live TWC model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mostly about where control lives. Workbench keeps tokens on the backend, not in browser local storage. It uses server-side session management and secure HTTP-only cookies. Server profiles are centrally configured, so users pick from approved Teamwork Cloud targets instead of manually entering random servers. The launcher can run it as a single-origin application where FastAPI serves both the API and the built React frontend, which helps avoid cross-origin deployment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request flow is straightforward. A user does something in the React workspace. The frontend API service sends a request to FastAPI. The route validates the session and delegates to PlatformService. PlatformService then decides whether the request should go live to Teamwork Cloud through an adapter, use the Workbench cache, run a job, modify storage, or return configuration state. The response is normalized and returned to React Query, which updates the visible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reality check is that this application is engineered around real components, but the final proof comes from the target environment. Authentication, TLS, redirects, TWC version behavior, and Cameo runtime details all need live validation. The plugin has a real scaffold and packaged outputs, but it should be tested inside the actual Cameo installation. The app also intentionally stays within the verified contract. If new TWC features are needed, they should be added only after the contract or live capture proves the API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line is that TWC Workbench V2 is a controlled bridge. For users, it is a clean web workspace. For admins, it centralizes server presets, authentication behavior, secure sessions, and verified API boundaries. For automation, it exposes a scoped Developer API and receives rich data from the Cameo plugin. That combination gives the project a practical enterprise path: secure frontend, server-controlled TWC access, cache-first model workflows, and plugin-powered ingestion.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6565392"/>
            <a:ext cx="12191695" cy="0"/>
          </a:xfrm>
          <a:prstGeom prst="line">
            <a:avLst/>
          </a:prstGeom>
          <a:noFill/>
          <a:ln w="12700">
            <a:solidFill>
              <a:srgbClr val="D9E2EC"/>
            </a:solidFill>
            <a:prstDash val="solid"/>
          </a:ln>
        </p:spPr>
      </p:sp>
      <p:sp>
        <p:nvSpPr>
          <p:cNvPr id="3" name="Text 1"/>
          <p:cNvSpPr/>
          <p:nvPr/>
        </p:nvSpPr>
        <p:spPr>
          <a:xfrm>
            <a:off x="411480" y="6601968"/>
            <a:ext cx="3200400" cy="164592"/>
          </a:xfrm>
          <a:prstGeom prst="rect">
            <a:avLst/>
          </a:prstGeom>
          <a:noFill/>
          <a:ln/>
        </p:spPr>
        <p:txBody>
          <a:bodyPr wrap="square" rtlCol="0" anchor="ctr"/>
          <a:lstStyle/>
          <a:p>
            <a:pPr indent="0" marL="0">
              <a:buNone/>
            </a:pPr>
            <a:r>
              <a:rPr lang="en-US" sz="700" dirty="0">
                <a:solidFill>
                  <a:srgbClr val="64748B"/>
                </a:solidFill>
                <a:latin typeface="Aptos" pitchFamily="34" charset="0"/>
                <a:ea typeface="Aptos" pitchFamily="34" charset="-122"/>
                <a:cs typeface="Aptos" pitchFamily="34" charset="-120"/>
              </a:rPr>
              <a:t>TWC Workbench V2</a:t>
            </a:r>
            <a:endParaRPr lang="en-US" sz="7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F3A"/>
          </a:solidFill>
          <a:ln w="12700">
            <a:solidFill>
              <a:srgbClr val="0B1F3A"/>
            </a:solidFill>
            <a:prstDash val="solid"/>
          </a:ln>
        </p:spPr>
      </p:sp>
      <p:sp>
        <p:nvSpPr>
          <p:cNvPr id="3" name="Shape 1"/>
          <p:cNvSpPr/>
          <p:nvPr/>
        </p:nvSpPr>
        <p:spPr>
          <a:xfrm>
            <a:off x="7909560" y="-457200"/>
            <a:ext cx="4846320" cy="4846320"/>
          </a:xfrm>
          <a:prstGeom prst="arc">
            <a:avLst/>
          </a:prstGeom>
          <a:noFill/>
          <a:ln w="38100">
            <a:solidFill>
              <a:srgbClr val="1D4ED8">
                <a:alpha val="55000"/>
              </a:srgbClr>
            </a:solidFill>
            <a:prstDash val="solid"/>
          </a:ln>
        </p:spPr>
      </p:sp>
      <p:sp>
        <p:nvSpPr>
          <p:cNvPr id="4" name="Shape 2"/>
          <p:cNvSpPr/>
          <p:nvPr/>
        </p:nvSpPr>
        <p:spPr>
          <a:xfrm>
            <a:off x="8641080" y="960120"/>
            <a:ext cx="3291840" cy="3291840"/>
          </a:xfrm>
          <a:prstGeom prst="arc">
            <a:avLst/>
          </a:prstGeom>
          <a:noFill/>
          <a:ln w="33020">
            <a:solidFill>
              <a:srgbClr val="14B8A6">
                <a:alpha val="65000"/>
              </a:srgbClr>
            </a:solidFill>
            <a:prstDash val="solid"/>
          </a:ln>
        </p:spPr>
      </p:sp>
      <p:sp>
        <p:nvSpPr>
          <p:cNvPr id="5" name="Text 3"/>
          <p:cNvSpPr/>
          <p:nvPr/>
        </p:nvSpPr>
        <p:spPr>
          <a:xfrm>
            <a:off x="640080" y="1143000"/>
            <a:ext cx="7772400" cy="640080"/>
          </a:xfrm>
          <a:prstGeom prst="rect">
            <a:avLst/>
          </a:prstGeom>
          <a:noFill/>
          <a:ln/>
        </p:spPr>
        <p:txBody>
          <a:bodyPr wrap="square" lIns="0" tIns="0" rIns="0" bIns="0" rtlCol="0" anchor="ct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TWC Workbench V2</a:t>
            </a:r>
            <a:endParaRPr lang="en-US" sz="4200" dirty="0"/>
          </a:p>
        </p:txBody>
      </p:sp>
      <p:sp>
        <p:nvSpPr>
          <p:cNvPr id="6" name="Text 4"/>
          <p:cNvSpPr/>
          <p:nvPr/>
        </p:nvSpPr>
        <p:spPr>
          <a:xfrm>
            <a:off x="685800" y="1856232"/>
            <a:ext cx="6766560" cy="411480"/>
          </a:xfrm>
          <a:prstGeom prst="rect">
            <a:avLst/>
          </a:prstGeom>
          <a:noFill/>
          <a:ln/>
        </p:spPr>
        <p:txBody>
          <a:bodyPr wrap="square" lIns="0" tIns="0" rIns="0" bIns="0" rtlCol="0" anchor="ctr"/>
          <a:lstStyle/>
          <a:p>
            <a:pPr indent="0" marL="0">
              <a:buNone/>
            </a:pPr>
            <a:r>
              <a:rPr lang="en-US" sz="2200" dirty="0">
                <a:solidFill>
                  <a:srgbClr val="BFDBFE"/>
                </a:solidFill>
                <a:latin typeface="Aptos" pitchFamily="34" charset="0"/>
                <a:ea typeface="Aptos" pitchFamily="34" charset="-122"/>
                <a:cs typeface="Aptos" pitchFamily="34" charset="-120"/>
              </a:rPr>
              <a:t>How the application works</a:t>
            </a:r>
            <a:endParaRPr lang="en-US" sz="2200" dirty="0"/>
          </a:p>
        </p:txBody>
      </p:sp>
      <p:sp>
        <p:nvSpPr>
          <p:cNvPr id="7" name="Text 5"/>
          <p:cNvSpPr/>
          <p:nvPr/>
        </p:nvSpPr>
        <p:spPr>
          <a:xfrm>
            <a:off x="685800" y="2743200"/>
            <a:ext cx="6309360" cy="960120"/>
          </a:xfrm>
          <a:prstGeom prst="rect">
            <a:avLst/>
          </a:prstGeom>
          <a:noFill/>
          <a:ln/>
        </p:spPr>
        <p:txBody>
          <a:bodyPr wrap="square" lIns="508" tIns="508" rIns="508" bIns="508" rtlCol="0" anchor="ctr"/>
          <a:lstStyle/>
          <a:p>
            <a:pPr indent="0" marL="0">
              <a:buNone/>
            </a:pPr>
            <a:r>
              <a:rPr lang="en-US" sz="1500" dirty="0">
                <a:solidFill>
                  <a:srgbClr val="E2E8F0"/>
                </a:solidFill>
                <a:latin typeface="Aptos" pitchFamily="34" charset="0"/>
                <a:ea typeface="Aptos" pitchFamily="34" charset="-122"/>
                <a:cs typeface="Aptos" pitchFamily="34" charset="-120"/>
              </a:rPr>
              <a:t>A secure, server-backed web workbench for Teamwork Cloud navigation, model browsing, cache-backed access, developer API workflows, and Cameo plugin ingestion.</a:t>
            </a:r>
            <a:endParaRPr lang="en-US" sz="1500" dirty="0"/>
          </a:p>
        </p:txBody>
      </p:sp>
      <p:sp>
        <p:nvSpPr>
          <p:cNvPr id="8" name="Shape 6"/>
          <p:cNvSpPr/>
          <p:nvPr/>
        </p:nvSpPr>
        <p:spPr>
          <a:xfrm>
            <a:off x="685800" y="4069080"/>
            <a:ext cx="1097280" cy="347472"/>
          </a:xfrm>
          <a:prstGeom prst="roundRect">
            <a:avLst>
              <a:gd name="adj" fmla="val 47368"/>
            </a:avLst>
          </a:prstGeom>
          <a:solidFill>
            <a:srgbClr val="2563EB"/>
          </a:solidFill>
          <a:ln w="12700">
            <a:solidFill>
              <a:srgbClr val="2563EB"/>
            </a:solidFill>
            <a:prstDash val="solid"/>
          </a:ln>
        </p:spPr>
      </p:sp>
      <p:sp>
        <p:nvSpPr>
          <p:cNvPr id="9" name="Text 7"/>
          <p:cNvSpPr/>
          <p:nvPr/>
        </p:nvSpPr>
        <p:spPr>
          <a:xfrm>
            <a:off x="758952" y="4151376"/>
            <a:ext cx="950976" cy="146304"/>
          </a:xfrm>
          <a:prstGeom prst="rect">
            <a:avLst/>
          </a:prstGeom>
          <a:noFill/>
          <a:ln/>
        </p:spPr>
        <p:txBody>
          <a:bodyPr wrap="square" lIns="0" tIns="0" rIns="0" bIns="0" rtlCol="0" anchor="ctr"/>
          <a:lstStyle/>
          <a:p>
            <a:pPr algn="ctr" indent="0" marL="0">
              <a:buNone/>
            </a:pPr>
            <a:r>
              <a:rPr lang="en-US" sz="850" b="1" dirty="0">
                <a:solidFill>
                  <a:srgbClr val="FFFFFF"/>
                </a:solidFill>
                <a:latin typeface="Aptos" pitchFamily="34" charset="0"/>
                <a:ea typeface="Aptos" pitchFamily="34" charset="-122"/>
                <a:cs typeface="Aptos" pitchFamily="34" charset="-120"/>
              </a:rPr>
              <a:t>FastAPI</a:t>
            </a:r>
            <a:endParaRPr lang="en-US" sz="850" dirty="0"/>
          </a:p>
        </p:txBody>
      </p:sp>
      <p:sp>
        <p:nvSpPr>
          <p:cNvPr id="10" name="Shape 8"/>
          <p:cNvSpPr/>
          <p:nvPr/>
        </p:nvSpPr>
        <p:spPr>
          <a:xfrm>
            <a:off x="1920240" y="4069080"/>
            <a:ext cx="1234440" cy="347472"/>
          </a:xfrm>
          <a:prstGeom prst="roundRect">
            <a:avLst>
              <a:gd name="adj" fmla="val 47368"/>
            </a:avLst>
          </a:prstGeom>
          <a:solidFill>
            <a:srgbClr val="14B8A6"/>
          </a:solidFill>
          <a:ln w="12700">
            <a:solidFill>
              <a:srgbClr val="14B8A6"/>
            </a:solidFill>
            <a:prstDash val="solid"/>
          </a:ln>
        </p:spPr>
      </p:sp>
      <p:sp>
        <p:nvSpPr>
          <p:cNvPr id="11" name="Text 9"/>
          <p:cNvSpPr/>
          <p:nvPr/>
        </p:nvSpPr>
        <p:spPr>
          <a:xfrm>
            <a:off x="1993392" y="4151376"/>
            <a:ext cx="1088136" cy="146304"/>
          </a:xfrm>
          <a:prstGeom prst="rect">
            <a:avLst/>
          </a:prstGeom>
          <a:noFill/>
          <a:ln/>
        </p:spPr>
        <p:txBody>
          <a:bodyPr wrap="square" lIns="0" tIns="0" rIns="0" bIns="0" rtlCol="0" anchor="ctr"/>
          <a:lstStyle/>
          <a:p>
            <a:pPr algn="ctr" indent="0" marL="0">
              <a:buNone/>
            </a:pPr>
            <a:r>
              <a:rPr lang="en-US" sz="850" b="1" dirty="0">
                <a:solidFill>
                  <a:srgbClr val="FFFFFF"/>
                </a:solidFill>
                <a:latin typeface="Aptos" pitchFamily="34" charset="0"/>
                <a:ea typeface="Aptos" pitchFamily="34" charset="-122"/>
                <a:cs typeface="Aptos" pitchFamily="34" charset="-120"/>
              </a:rPr>
              <a:t>React + MUI</a:t>
            </a:r>
            <a:endParaRPr lang="en-US" sz="850" dirty="0"/>
          </a:p>
        </p:txBody>
      </p:sp>
      <p:sp>
        <p:nvSpPr>
          <p:cNvPr id="12" name="Shape 10"/>
          <p:cNvSpPr/>
          <p:nvPr/>
        </p:nvSpPr>
        <p:spPr>
          <a:xfrm>
            <a:off x="3291840" y="4069080"/>
            <a:ext cx="1417320" cy="347472"/>
          </a:xfrm>
          <a:prstGeom prst="roundRect">
            <a:avLst>
              <a:gd name="adj" fmla="val 47368"/>
            </a:avLst>
          </a:prstGeom>
          <a:solidFill>
            <a:srgbClr val="7C3AED"/>
          </a:solidFill>
          <a:ln w="12700">
            <a:solidFill>
              <a:srgbClr val="7C3AED"/>
            </a:solidFill>
            <a:prstDash val="solid"/>
          </a:ln>
        </p:spPr>
      </p:sp>
      <p:sp>
        <p:nvSpPr>
          <p:cNvPr id="13" name="Text 11"/>
          <p:cNvSpPr/>
          <p:nvPr/>
        </p:nvSpPr>
        <p:spPr>
          <a:xfrm>
            <a:off x="3364992" y="4151376"/>
            <a:ext cx="1271016" cy="146304"/>
          </a:xfrm>
          <a:prstGeom prst="rect">
            <a:avLst/>
          </a:prstGeom>
          <a:noFill/>
          <a:ln/>
        </p:spPr>
        <p:txBody>
          <a:bodyPr wrap="square" lIns="0" tIns="0" rIns="0" bIns="0" rtlCol="0" anchor="ctr"/>
          <a:lstStyle/>
          <a:p>
            <a:pPr algn="ctr" indent="0" marL="0">
              <a:buNone/>
            </a:pPr>
            <a:r>
              <a:rPr lang="en-US" sz="850" b="1" dirty="0">
                <a:solidFill>
                  <a:srgbClr val="FFFFFF"/>
                </a:solidFill>
                <a:latin typeface="Aptos" pitchFamily="34" charset="0"/>
                <a:ea typeface="Aptos" pitchFamily="34" charset="-122"/>
                <a:cs typeface="Aptos" pitchFamily="34" charset="-120"/>
              </a:rPr>
              <a:t>TWC Auth</a:t>
            </a:r>
            <a:endParaRPr lang="en-US" sz="850" dirty="0"/>
          </a:p>
        </p:txBody>
      </p:sp>
      <p:sp>
        <p:nvSpPr>
          <p:cNvPr id="14" name="Shape 12"/>
          <p:cNvSpPr/>
          <p:nvPr/>
        </p:nvSpPr>
        <p:spPr>
          <a:xfrm>
            <a:off x="4846320" y="4069080"/>
            <a:ext cx="1325880" cy="347472"/>
          </a:xfrm>
          <a:prstGeom prst="roundRect">
            <a:avLst>
              <a:gd name="adj" fmla="val 47368"/>
            </a:avLst>
          </a:prstGeom>
          <a:solidFill>
            <a:srgbClr val="10B981"/>
          </a:solidFill>
          <a:ln w="12700">
            <a:solidFill>
              <a:srgbClr val="10B981"/>
            </a:solidFill>
            <a:prstDash val="solid"/>
          </a:ln>
        </p:spPr>
      </p:sp>
      <p:sp>
        <p:nvSpPr>
          <p:cNvPr id="15" name="Text 13"/>
          <p:cNvSpPr/>
          <p:nvPr/>
        </p:nvSpPr>
        <p:spPr>
          <a:xfrm>
            <a:off x="4919472" y="4151376"/>
            <a:ext cx="1179576" cy="146304"/>
          </a:xfrm>
          <a:prstGeom prst="rect">
            <a:avLst/>
          </a:prstGeom>
          <a:noFill/>
          <a:ln/>
        </p:spPr>
        <p:txBody>
          <a:bodyPr wrap="square" lIns="0" tIns="0" rIns="0" bIns="0" rtlCol="0" anchor="ctr"/>
          <a:lstStyle/>
          <a:p>
            <a:pPr algn="ctr" indent="0" marL="0">
              <a:buNone/>
            </a:pPr>
            <a:r>
              <a:rPr lang="en-US" sz="850" b="1" dirty="0">
                <a:solidFill>
                  <a:srgbClr val="FFFFFF"/>
                </a:solidFill>
                <a:latin typeface="Aptos" pitchFamily="34" charset="0"/>
                <a:ea typeface="Aptos" pitchFamily="34" charset="-122"/>
                <a:cs typeface="Aptos" pitchFamily="34" charset="-120"/>
              </a:rPr>
              <a:t>Cache API</a:t>
            </a:r>
            <a:endParaRPr lang="en-US" sz="850" dirty="0"/>
          </a:p>
        </p:txBody>
      </p:sp>
      <p:sp>
        <p:nvSpPr>
          <p:cNvPr id="16" name="Shape 14"/>
          <p:cNvSpPr/>
          <p:nvPr/>
        </p:nvSpPr>
        <p:spPr>
          <a:xfrm>
            <a:off x="6309360" y="4069080"/>
            <a:ext cx="1554480" cy="347472"/>
          </a:xfrm>
          <a:prstGeom prst="roundRect">
            <a:avLst>
              <a:gd name="adj" fmla="val 47368"/>
            </a:avLst>
          </a:prstGeom>
          <a:solidFill>
            <a:srgbClr val="F59E0B"/>
          </a:solidFill>
          <a:ln w="12700">
            <a:solidFill>
              <a:srgbClr val="F59E0B"/>
            </a:solidFill>
            <a:prstDash val="solid"/>
          </a:ln>
        </p:spPr>
      </p:sp>
      <p:sp>
        <p:nvSpPr>
          <p:cNvPr id="17" name="Text 15"/>
          <p:cNvSpPr/>
          <p:nvPr/>
        </p:nvSpPr>
        <p:spPr>
          <a:xfrm>
            <a:off x="6382512" y="4151376"/>
            <a:ext cx="1408176" cy="146304"/>
          </a:xfrm>
          <a:prstGeom prst="rect">
            <a:avLst/>
          </a:prstGeom>
          <a:noFill/>
          <a:ln/>
        </p:spPr>
        <p:txBody>
          <a:bodyPr wrap="square" lIns="0" tIns="0" rIns="0" bIns="0" rtlCol="0" anchor="ctr"/>
          <a:lstStyle/>
          <a:p>
            <a:pPr algn="ctr" indent="0" marL="0">
              <a:buNone/>
            </a:pPr>
            <a:r>
              <a:rPr lang="en-US" sz="850" b="1" dirty="0">
                <a:solidFill>
                  <a:srgbClr val="FFFFFF"/>
                </a:solidFill>
                <a:latin typeface="Aptos" pitchFamily="34" charset="0"/>
                <a:ea typeface="Aptos" pitchFamily="34" charset="-122"/>
                <a:cs typeface="Aptos" pitchFamily="34" charset="-120"/>
              </a:rPr>
              <a:t>Cameo Plugin</a:t>
            </a:r>
            <a:endParaRPr lang="en-US" sz="85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PURPOSE</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What the app is built to solve</a:t>
            </a:r>
            <a:endParaRPr lang="en-US" sz="2700" dirty="0"/>
          </a:p>
        </p:txBody>
      </p:sp>
      <p:sp>
        <p:nvSpPr>
          <p:cNvPr id="5" name="Shape 3"/>
          <p:cNvSpPr/>
          <p:nvPr/>
        </p:nvSpPr>
        <p:spPr>
          <a:xfrm>
            <a:off x="594360" y="1508760"/>
            <a:ext cx="3520440" cy="4160520"/>
          </a:xfrm>
          <a:prstGeom prst="roundRect">
            <a:avLst>
              <a:gd name="adj" fmla="val 3117"/>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Shape 4"/>
          <p:cNvSpPr/>
          <p:nvPr/>
        </p:nvSpPr>
        <p:spPr>
          <a:xfrm>
            <a:off x="758952" y="1673352"/>
            <a:ext cx="420624" cy="301752"/>
          </a:xfrm>
          <a:prstGeom prst="roundRect">
            <a:avLst>
              <a:gd name="adj" fmla="val 24242"/>
            </a:avLst>
          </a:prstGeom>
          <a:solidFill>
            <a:srgbClr val="2563EB"/>
          </a:solidFill>
          <a:ln w="12700">
            <a:solidFill>
              <a:srgbClr val="2563EB"/>
            </a:solidFill>
            <a:prstDash val="solid"/>
          </a:ln>
        </p:spPr>
      </p:sp>
      <p:sp>
        <p:nvSpPr>
          <p:cNvPr id="7" name="Text 5"/>
          <p:cNvSpPr/>
          <p:nvPr/>
        </p:nvSpPr>
        <p:spPr>
          <a:xfrm>
            <a:off x="758952" y="171450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1</a:t>
            </a:r>
            <a:endParaRPr lang="en-US" sz="800" dirty="0"/>
          </a:p>
        </p:txBody>
      </p:sp>
      <p:sp>
        <p:nvSpPr>
          <p:cNvPr id="8" name="Text 6"/>
          <p:cNvSpPr/>
          <p:nvPr/>
        </p:nvSpPr>
        <p:spPr>
          <a:xfrm>
            <a:off x="1298448" y="1673352"/>
            <a:ext cx="261518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One workbench over TWC</a:t>
            </a:r>
            <a:endParaRPr lang="en-US" sz="1400" dirty="0"/>
          </a:p>
        </p:txBody>
      </p:sp>
      <p:sp>
        <p:nvSpPr>
          <p:cNvPr id="9" name="Text 7"/>
          <p:cNvSpPr/>
          <p:nvPr/>
        </p:nvSpPr>
        <p:spPr>
          <a:xfrm>
            <a:off x="795528" y="2130552"/>
            <a:ext cx="3118104" cy="338328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Users get a browser-based place to select a configured Teamwork Cloud server, sign in, browse projects, inspect models, view item details, compare revisions, and work with cached model data.</a:t>
            </a:r>
            <a:endParaRPr lang="en-US" sz="1050" dirty="0"/>
          </a:p>
        </p:txBody>
      </p:sp>
      <p:sp>
        <p:nvSpPr>
          <p:cNvPr id="10" name="Shape 8"/>
          <p:cNvSpPr/>
          <p:nvPr/>
        </p:nvSpPr>
        <p:spPr>
          <a:xfrm>
            <a:off x="4343400" y="1508760"/>
            <a:ext cx="3520440" cy="4160520"/>
          </a:xfrm>
          <a:prstGeom prst="roundRect">
            <a:avLst>
              <a:gd name="adj" fmla="val 3117"/>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1" name="Shape 9"/>
          <p:cNvSpPr/>
          <p:nvPr/>
        </p:nvSpPr>
        <p:spPr>
          <a:xfrm>
            <a:off x="4507992" y="1673352"/>
            <a:ext cx="420624" cy="301752"/>
          </a:xfrm>
          <a:prstGeom prst="roundRect">
            <a:avLst>
              <a:gd name="adj" fmla="val 24242"/>
            </a:avLst>
          </a:prstGeom>
          <a:solidFill>
            <a:srgbClr val="14B8A6"/>
          </a:solidFill>
          <a:ln w="12700">
            <a:solidFill>
              <a:srgbClr val="14B8A6"/>
            </a:solidFill>
            <a:prstDash val="solid"/>
          </a:ln>
        </p:spPr>
      </p:sp>
      <p:sp>
        <p:nvSpPr>
          <p:cNvPr id="12" name="Text 10"/>
          <p:cNvSpPr/>
          <p:nvPr/>
        </p:nvSpPr>
        <p:spPr>
          <a:xfrm>
            <a:off x="4507992" y="171450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2</a:t>
            </a:r>
            <a:endParaRPr lang="en-US" sz="800" dirty="0"/>
          </a:p>
        </p:txBody>
      </p:sp>
      <p:sp>
        <p:nvSpPr>
          <p:cNvPr id="13" name="Text 11"/>
          <p:cNvSpPr/>
          <p:nvPr/>
        </p:nvSpPr>
        <p:spPr>
          <a:xfrm>
            <a:off x="5047488" y="1673352"/>
            <a:ext cx="261518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Backend-controlled access</a:t>
            </a:r>
            <a:endParaRPr lang="en-US" sz="1400" dirty="0"/>
          </a:p>
        </p:txBody>
      </p:sp>
      <p:sp>
        <p:nvSpPr>
          <p:cNvPr id="14" name="Text 12"/>
          <p:cNvSpPr/>
          <p:nvPr/>
        </p:nvSpPr>
        <p:spPr>
          <a:xfrm>
            <a:off x="4544568" y="2130552"/>
            <a:ext cx="3118104" cy="338328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The browser does not call Teamwork Cloud directly. The backend owns sessions, delegated credentials, server presets, capability probing, adapter logic, and TWC API communication.</a:t>
            </a:r>
            <a:endParaRPr lang="en-US" sz="1050" dirty="0"/>
          </a:p>
        </p:txBody>
      </p:sp>
      <p:sp>
        <p:nvSpPr>
          <p:cNvPr id="15" name="Shape 13"/>
          <p:cNvSpPr/>
          <p:nvPr/>
        </p:nvSpPr>
        <p:spPr>
          <a:xfrm>
            <a:off x="8092440" y="1508760"/>
            <a:ext cx="3520440" cy="4160520"/>
          </a:xfrm>
          <a:prstGeom prst="roundRect">
            <a:avLst>
              <a:gd name="adj" fmla="val 3117"/>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6" name="Shape 14"/>
          <p:cNvSpPr/>
          <p:nvPr/>
        </p:nvSpPr>
        <p:spPr>
          <a:xfrm>
            <a:off x="8257032" y="1673352"/>
            <a:ext cx="420624" cy="301752"/>
          </a:xfrm>
          <a:prstGeom prst="roundRect">
            <a:avLst>
              <a:gd name="adj" fmla="val 24242"/>
            </a:avLst>
          </a:prstGeom>
          <a:solidFill>
            <a:srgbClr val="10B981"/>
          </a:solidFill>
          <a:ln w="12700">
            <a:solidFill>
              <a:srgbClr val="10B981"/>
            </a:solidFill>
            <a:prstDash val="solid"/>
          </a:ln>
        </p:spPr>
      </p:sp>
      <p:sp>
        <p:nvSpPr>
          <p:cNvPr id="17" name="Text 15"/>
          <p:cNvSpPr/>
          <p:nvPr/>
        </p:nvSpPr>
        <p:spPr>
          <a:xfrm>
            <a:off x="8257032" y="171450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3</a:t>
            </a:r>
            <a:endParaRPr lang="en-US" sz="800" dirty="0"/>
          </a:p>
        </p:txBody>
      </p:sp>
      <p:sp>
        <p:nvSpPr>
          <p:cNvPr id="18" name="Text 16"/>
          <p:cNvSpPr/>
          <p:nvPr/>
        </p:nvSpPr>
        <p:spPr>
          <a:xfrm>
            <a:off x="8796528" y="1673352"/>
            <a:ext cx="261518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Cache + automation bridge</a:t>
            </a:r>
            <a:endParaRPr lang="en-US" sz="1400" dirty="0"/>
          </a:p>
        </p:txBody>
      </p:sp>
      <p:sp>
        <p:nvSpPr>
          <p:cNvPr id="19" name="Text 17"/>
          <p:cNvSpPr/>
          <p:nvPr/>
        </p:nvSpPr>
        <p:spPr>
          <a:xfrm>
            <a:off x="8293608" y="2130552"/>
            <a:ext cx="3118104" cy="338328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The system can serve branch data from a shared cache, expose scoped developer API keys, and accept Cameo plugin snapshots or deltas for faster model access.</a:t>
            </a:r>
            <a:endParaRPr lang="en-US" sz="105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SYSTEM DESIGN</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High-level architecture</a:t>
            </a:r>
            <a:endParaRPr lang="en-US" sz="2700" dirty="0"/>
          </a:p>
        </p:txBody>
      </p:sp>
      <p:sp>
        <p:nvSpPr>
          <p:cNvPr id="5" name="Shape 3"/>
          <p:cNvSpPr/>
          <p:nvPr/>
        </p:nvSpPr>
        <p:spPr>
          <a:xfrm>
            <a:off x="502920" y="1234440"/>
            <a:ext cx="2331720" cy="1143000"/>
          </a:xfrm>
          <a:prstGeom prst="roundRect">
            <a:avLst>
              <a:gd name="adj" fmla="val 9600"/>
            </a:avLst>
          </a:prstGeom>
          <a:solidFill>
            <a:srgbClr val="EEF6FF"/>
          </a:solidFill>
          <a:ln w="12700">
            <a:solidFill>
              <a:srgbClr val="BFDBFE"/>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704088" y="1399032"/>
            <a:ext cx="192938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User Browser</a:t>
            </a:r>
            <a:endParaRPr lang="en-US" sz="1400" dirty="0"/>
          </a:p>
        </p:txBody>
      </p:sp>
      <p:sp>
        <p:nvSpPr>
          <p:cNvPr id="7" name="Text 5"/>
          <p:cNvSpPr/>
          <p:nvPr/>
        </p:nvSpPr>
        <p:spPr>
          <a:xfrm>
            <a:off x="704088" y="1856232"/>
            <a:ext cx="1929384" cy="36576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React + TypeScript</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Material UI</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TanStack Query</a:t>
            </a:r>
            <a:endParaRPr lang="en-US" sz="1050" dirty="0"/>
          </a:p>
        </p:txBody>
      </p:sp>
      <p:sp>
        <p:nvSpPr>
          <p:cNvPr id="8" name="Shape 6"/>
          <p:cNvSpPr/>
          <p:nvPr/>
        </p:nvSpPr>
        <p:spPr>
          <a:xfrm>
            <a:off x="3383280" y="1097280"/>
            <a:ext cx="2468880" cy="1417320"/>
          </a:xfrm>
          <a:prstGeom prst="roundRect">
            <a:avLst>
              <a:gd name="adj" fmla="val 7742"/>
            </a:avLst>
          </a:prstGeom>
          <a:solidFill>
            <a:srgbClr val="F0FDFA"/>
          </a:solidFill>
          <a:ln w="12700">
            <a:solidFill>
              <a:srgbClr val="99F6E4"/>
            </a:solidFill>
            <a:prstDash val="solid"/>
          </a:ln>
          <a:effectLst>
            <a:outerShdw sx="100000" sy="100000" kx="0" ky="0" algn="bl" rotWithShape="0" blurRad="12700" dist="50800" dir="2700000">
              <a:srgbClr val="D8DEE9">
                <a:alpha val="18000"/>
              </a:srgbClr>
            </a:outerShdw>
          </a:effectLst>
        </p:spPr>
      </p:sp>
      <p:sp>
        <p:nvSpPr>
          <p:cNvPr id="9" name="Text 7"/>
          <p:cNvSpPr/>
          <p:nvPr/>
        </p:nvSpPr>
        <p:spPr>
          <a:xfrm>
            <a:off x="3584448" y="1261872"/>
            <a:ext cx="2066544" cy="320040"/>
          </a:xfrm>
          <a:prstGeom prst="rect">
            <a:avLst/>
          </a:prstGeom>
          <a:noFill/>
          <a:ln/>
        </p:spPr>
        <p:txBody>
          <a:bodyPr wrap="square" lIns="127" tIns="127" rIns="127" bIns="127" rtlCol="0" anchor="ctr"/>
          <a:lstStyle/>
          <a:p>
            <a:pPr indent="0" marL="0">
              <a:buNone/>
            </a:pPr>
            <a:r>
              <a:rPr lang="en-US" sz="1400" b="1" dirty="0">
                <a:solidFill>
                  <a:srgbClr val="14B8A6"/>
                </a:solidFill>
                <a:latin typeface="Aptos Display" pitchFamily="34" charset="0"/>
                <a:ea typeface="Aptos Display" pitchFamily="34" charset="-122"/>
                <a:cs typeface="Aptos Display" pitchFamily="34" charset="-120"/>
              </a:rPr>
              <a:t>FastAPI Backend</a:t>
            </a:r>
            <a:endParaRPr lang="en-US" sz="1400" dirty="0"/>
          </a:p>
        </p:txBody>
      </p:sp>
      <p:sp>
        <p:nvSpPr>
          <p:cNvPr id="10" name="Text 8"/>
          <p:cNvSpPr/>
          <p:nvPr/>
        </p:nvSpPr>
        <p:spPr>
          <a:xfrm>
            <a:off x="3584448" y="1719072"/>
            <a:ext cx="2066544" cy="64008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Routes: auth, servers, workspace, cache</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Serves built SPA in single-origin launch</a:t>
            </a:r>
            <a:endParaRPr lang="en-US" sz="1050" dirty="0"/>
          </a:p>
        </p:txBody>
      </p:sp>
      <p:sp>
        <p:nvSpPr>
          <p:cNvPr id="11" name="Shape 9"/>
          <p:cNvSpPr/>
          <p:nvPr/>
        </p:nvSpPr>
        <p:spPr>
          <a:xfrm>
            <a:off x="6446520" y="777240"/>
            <a:ext cx="2331720" cy="960120"/>
          </a:xfrm>
          <a:prstGeom prst="roundRect">
            <a:avLst>
              <a:gd name="adj" fmla="val 11429"/>
            </a:avLst>
          </a:prstGeom>
          <a:solidFill>
            <a:srgbClr val="F5F3FF"/>
          </a:solidFill>
          <a:ln w="12700">
            <a:solidFill>
              <a:srgbClr val="DDD6FE"/>
            </a:solidFill>
            <a:prstDash val="solid"/>
          </a:ln>
          <a:effectLst>
            <a:outerShdw sx="100000" sy="100000" kx="0" ky="0" algn="bl" rotWithShape="0" blurRad="12700" dist="50800" dir="2700000">
              <a:srgbClr val="D8DEE9">
                <a:alpha val="18000"/>
              </a:srgbClr>
            </a:outerShdw>
          </a:effectLst>
        </p:spPr>
      </p:sp>
      <p:sp>
        <p:nvSpPr>
          <p:cNvPr id="12" name="Text 10"/>
          <p:cNvSpPr/>
          <p:nvPr/>
        </p:nvSpPr>
        <p:spPr>
          <a:xfrm>
            <a:off x="6647688" y="941832"/>
            <a:ext cx="1929384" cy="320040"/>
          </a:xfrm>
          <a:prstGeom prst="rect">
            <a:avLst/>
          </a:prstGeom>
          <a:noFill/>
          <a:ln/>
        </p:spPr>
        <p:txBody>
          <a:bodyPr wrap="square" lIns="127" tIns="127" rIns="127" bIns="127" rtlCol="0" anchor="ctr"/>
          <a:lstStyle/>
          <a:p>
            <a:pPr indent="0" marL="0">
              <a:buNone/>
            </a:pPr>
            <a:r>
              <a:rPr lang="en-US" sz="1400" b="1" dirty="0">
                <a:solidFill>
                  <a:srgbClr val="7C3AED"/>
                </a:solidFill>
                <a:latin typeface="Aptos Display" pitchFamily="34" charset="0"/>
                <a:ea typeface="Aptos Display" pitchFamily="34" charset="-122"/>
                <a:cs typeface="Aptos Display" pitchFamily="34" charset="-120"/>
              </a:rPr>
              <a:t>TWC / AuthServer</a:t>
            </a:r>
            <a:endParaRPr lang="en-US" sz="1400" dirty="0"/>
          </a:p>
        </p:txBody>
      </p:sp>
      <p:sp>
        <p:nvSpPr>
          <p:cNvPr id="13" name="Text 11"/>
          <p:cNvSpPr/>
          <p:nvPr/>
        </p:nvSpPr>
        <p:spPr>
          <a:xfrm>
            <a:off x="6647688" y="1399032"/>
            <a:ext cx="1929384" cy="18288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SAML/AuthServer code flow</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Token fallback</a:t>
            </a:r>
            <a:endParaRPr lang="en-US" sz="1050" dirty="0"/>
          </a:p>
        </p:txBody>
      </p:sp>
      <p:sp>
        <p:nvSpPr>
          <p:cNvPr id="14" name="Shape 12"/>
          <p:cNvSpPr/>
          <p:nvPr/>
        </p:nvSpPr>
        <p:spPr>
          <a:xfrm>
            <a:off x="6446520" y="2057400"/>
            <a:ext cx="2331720" cy="960120"/>
          </a:xfrm>
          <a:prstGeom prst="roundRect">
            <a:avLst>
              <a:gd name="adj" fmla="val 11429"/>
            </a:avLst>
          </a:prstGeom>
          <a:solidFill>
            <a:srgbClr val="EFF6FF"/>
          </a:solidFill>
          <a:ln w="12700">
            <a:solidFill>
              <a:srgbClr val="BFDBFE"/>
            </a:solidFill>
            <a:prstDash val="solid"/>
          </a:ln>
          <a:effectLst>
            <a:outerShdw sx="100000" sy="100000" kx="0" ky="0" algn="bl" rotWithShape="0" blurRad="12700" dist="50800" dir="2700000">
              <a:srgbClr val="D8DEE9">
                <a:alpha val="18000"/>
              </a:srgbClr>
            </a:outerShdw>
          </a:effectLst>
        </p:spPr>
      </p:sp>
      <p:sp>
        <p:nvSpPr>
          <p:cNvPr id="15" name="Text 13"/>
          <p:cNvSpPr/>
          <p:nvPr/>
        </p:nvSpPr>
        <p:spPr>
          <a:xfrm>
            <a:off x="6647688" y="2221992"/>
            <a:ext cx="192938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Teamwork Cloud API</a:t>
            </a:r>
            <a:endParaRPr lang="en-US" sz="1400" dirty="0"/>
          </a:p>
        </p:txBody>
      </p:sp>
      <p:sp>
        <p:nvSpPr>
          <p:cNvPr id="16" name="Text 14"/>
          <p:cNvSpPr/>
          <p:nvPr/>
        </p:nvSpPr>
        <p:spPr>
          <a:xfrm>
            <a:off x="6647688" y="2679192"/>
            <a:ext cx="1929384" cy="18288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/osmc REST</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2022xR2 / 2024xR3 adapters</a:t>
            </a:r>
            <a:endParaRPr lang="en-US" sz="1050" dirty="0"/>
          </a:p>
        </p:txBody>
      </p:sp>
      <p:sp>
        <p:nvSpPr>
          <p:cNvPr id="17" name="Shape 15"/>
          <p:cNvSpPr/>
          <p:nvPr/>
        </p:nvSpPr>
        <p:spPr>
          <a:xfrm>
            <a:off x="9281160" y="1417320"/>
            <a:ext cx="2240280" cy="1234440"/>
          </a:xfrm>
          <a:prstGeom prst="roundRect">
            <a:avLst>
              <a:gd name="adj" fmla="val 8889"/>
            </a:avLst>
          </a:prstGeom>
          <a:solidFill>
            <a:srgbClr val="F8FAFC"/>
          </a:solidFill>
          <a:ln w="12700">
            <a:solidFill>
              <a:srgbClr val="CBD5E1"/>
            </a:solidFill>
            <a:prstDash val="solid"/>
          </a:ln>
          <a:effectLst>
            <a:outerShdw sx="100000" sy="100000" kx="0" ky="0" algn="bl" rotWithShape="0" blurRad="12700" dist="50800" dir="2700000">
              <a:srgbClr val="D8DEE9">
                <a:alpha val="18000"/>
              </a:srgbClr>
            </a:outerShdw>
          </a:effectLst>
        </p:spPr>
      </p:sp>
      <p:sp>
        <p:nvSpPr>
          <p:cNvPr id="18" name="Text 16"/>
          <p:cNvSpPr/>
          <p:nvPr/>
        </p:nvSpPr>
        <p:spPr>
          <a:xfrm>
            <a:off x="9482328" y="1581912"/>
            <a:ext cx="1837944" cy="320040"/>
          </a:xfrm>
          <a:prstGeom prst="rect">
            <a:avLst/>
          </a:prstGeom>
          <a:noFill/>
          <a:ln/>
        </p:spPr>
        <p:txBody>
          <a:bodyPr wrap="square" lIns="127" tIns="127" rIns="127" bIns="127" rtlCol="0" anchor="ctr"/>
          <a:lstStyle/>
          <a:p>
            <a:pPr indent="0" marL="0">
              <a:buNone/>
            </a:pPr>
            <a:r>
              <a:rPr lang="en-US" sz="1400" b="1" dirty="0">
                <a:solidFill>
                  <a:srgbClr val="334155"/>
                </a:solidFill>
                <a:latin typeface="Aptos Display" pitchFamily="34" charset="0"/>
                <a:ea typeface="Aptos Display" pitchFamily="34" charset="-122"/>
                <a:cs typeface="Aptos Display" pitchFamily="34" charset="-120"/>
              </a:rPr>
              <a:t>SQLite / Redis</a:t>
            </a:r>
            <a:endParaRPr lang="en-US" sz="1400" dirty="0"/>
          </a:p>
        </p:txBody>
      </p:sp>
      <p:sp>
        <p:nvSpPr>
          <p:cNvPr id="19" name="Text 17"/>
          <p:cNvSpPr/>
          <p:nvPr/>
        </p:nvSpPr>
        <p:spPr>
          <a:xfrm>
            <a:off x="9482328" y="2039112"/>
            <a:ext cx="1837944" cy="45720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Preset servers</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User state</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Cache records</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Optional Redis sessions</a:t>
            </a:r>
            <a:endParaRPr lang="en-US" sz="1050" dirty="0"/>
          </a:p>
        </p:txBody>
      </p:sp>
      <p:sp>
        <p:nvSpPr>
          <p:cNvPr id="20" name="Shape 18"/>
          <p:cNvSpPr/>
          <p:nvPr/>
        </p:nvSpPr>
        <p:spPr>
          <a:xfrm>
            <a:off x="841248" y="3886200"/>
            <a:ext cx="2331720" cy="1051560"/>
          </a:xfrm>
          <a:prstGeom prst="roundRect">
            <a:avLst>
              <a:gd name="adj" fmla="val 10435"/>
            </a:avLst>
          </a:prstGeom>
          <a:solidFill>
            <a:srgbClr val="FFFBEB"/>
          </a:solidFill>
          <a:ln w="12700">
            <a:solidFill>
              <a:srgbClr val="FDE68A"/>
            </a:solidFill>
            <a:prstDash val="solid"/>
          </a:ln>
          <a:effectLst>
            <a:outerShdw sx="100000" sy="100000" kx="0" ky="0" algn="bl" rotWithShape="0" blurRad="12700" dist="50800" dir="2700000">
              <a:srgbClr val="D8DEE9">
                <a:alpha val="18000"/>
              </a:srgbClr>
            </a:outerShdw>
          </a:effectLst>
        </p:spPr>
      </p:sp>
      <p:sp>
        <p:nvSpPr>
          <p:cNvPr id="21" name="Text 19"/>
          <p:cNvSpPr/>
          <p:nvPr/>
        </p:nvSpPr>
        <p:spPr>
          <a:xfrm>
            <a:off x="1042416" y="4050792"/>
            <a:ext cx="1929384" cy="320040"/>
          </a:xfrm>
          <a:prstGeom prst="rect">
            <a:avLst/>
          </a:prstGeom>
          <a:noFill/>
          <a:ln/>
        </p:spPr>
        <p:txBody>
          <a:bodyPr wrap="square" lIns="127" tIns="127" rIns="127" bIns="127" rtlCol="0" anchor="ctr"/>
          <a:lstStyle/>
          <a:p>
            <a:pPr indent="0" marL="0">
              <a:buNone/>
            </a:pPr>
            <a:r>
              <a:rPr lang="en-US" sz="1400" b="1" dirty="0">
                <a:solidFill>
                  <a:srgbClr val="F59E0B"/>
                </a:solidFill>
                <a:latin typeface="Aptos Display" pitchFamily="34" charset="0"/>
                <a:ea typeface="Aptos Display" pitchFamily="34" charset="-122"/>
                <a:cs typeface="Aptos Display" pitchFamily="34" charset="-120"/>
              </a:rPr>
              <a:t>Cameo Plugin</a:t>
            </a:r>
            <a:endParaRPr lang="en-US" sz="1400" dirty="0"/>
          </a:p>
        </p:txBody>
      </p:sp>
      <p:sp>
        <p:nvSpPr>
          <p:cNvPr id="22" name="Text 20"/>
          <p:cNvSpPr/>
          <p:nvPr/>
        </p:nvSpPr>
        <p:spPr>
          <a:xfrm>
            <a:off x="1042416" y="4507992"/>
            <a:ext cx="1929384" cy="27432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Snapshot on open</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Delta on save/close</a:t>
            </a:r>
            <a:endParaRPr lang="en-US" sz="1050" dirty="0"/>
          </a:p>
        </p:txBody>
      </p:sp>
      <p:sp>
        <p:nvSpPr>
          <p:cNvPr id="23" name="Shape 21"/>
          <p:cNvSpPr/>
          <p:nvPr/>
        </p:nvSpPr>
        <p:spPr>
          <a:xfrm>
            <a:off x="3840480" y="3794760"/>
            <a:ext cx="2606040" cy="1234440"/>
          </a:xfrm>
          <a:prstGeom prst="roundRect">
            <a:avLst>
              <a:gd name="adj" fmla="val 8889"/>
            </a:avLst>
          </a:prstGeom>
          <a:solidFill>
            <a:srgbClr val="ECFDF5"/>
          </a:solidFill>
          <a:ln w="12700">
            <a:solidFill>
              <a:srgbClr val="A7F3D0"/>
            </a:solidFill>
            <a:prstDash val="solid"/>
          </a:ln>
          <a:effectLst>
            <a:outerShdw sx="100000" sy="100000" kx="0" ky="0" algn="bl" rotWithShape="0" blurRad="12700" dist="50800" dir="2700000">
              <a:srgbClr val="D8DEE9">
                <a:alpha val="18000"/>
              </a:srgbClr>
            </a:outerShdw>
          </a:effectLst>
        </p:spPr>
      </p:sp>
      <p:sp>
        <p:nvSpPr>
          <p:cNvPr id="24" name="Text 22"/>
          <p:cNvSpPr/>
          <p:nvPr/>
        </p:nvSpPr>
        <p:spPr>
          <a:xfrm>
            <a:off x="4041648" y="3959352"/>
            <a:ext cx="2203704" cy="320040"/>
          </a:xfrm>
          <a:prstGeom prst="rect">
            <a:avLst/>
          </a:prstGeom>
          <a:noFill/>
          <a:ln/>
        </p:spPr>
        <p:txBody>
          <a:bodyPr wrap="square" lIns="127" tIns="127" rIns="127" bIns="127" rtlCol="0" anchor="ctr"/>
          <a:lstStyle/>
          <a:p>
            <a:pPr indent="0" marL="0">
              <a:buNone/>
            </a:pPr>
            <a:r>
              <a:rPr lang="en-US" sz="1400" b="1" dirty="0">
                <a:solidFill>
                  <a:srgbClr val="10B981"/>
                </a:solidFill>
                <a:latin typeface="Aptos Display" pitchFamily="34" charset="0"/>
                <a:ea typeface="Aptos Display" pitchFamily="34" charset="-122"/>
                <a:cs typeface="Aptos Display" pitchFamily="34" charset="-120"/>
              </a:rPr>
              <a:t>Cache Ingest API</a:t>
            </a:r>
            <a:endParaRPr lang="en-US" sz="1400" dirty="0"/>
          </a:p>
        </p:txBody>
      </p:sp>
      <p:sp>
        <p:nvSpPr>
          <p:cNvPr id="25" name="Text 23"/>
          <p:cNvSpPr/>
          <p:nvPr/>
        </p:nvSpPr>
        <p:spPr>
          <a:xfrm>
            <a:off x="4041648" y="4416552"/>
            <a:ext cx="2203704" cy="45720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Branch snapshots</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Branch deltas</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Bearer token protected</a:t>
            </a:r>
            <a:endParaRPr lang="en-US" sz="1050" dirty="0"/>
          </a:p>
        </p:txBody>
      </p:sp>
      <p:sp>
        <p:nvSpPr>
          <p:cNvPr id="26" name="Shape 24"/>
          <p:cNvSpPr/>
          <p:nvPr/>
        </p:nvSpPr>
        <p:spPr>
          <a:xfrm>
            <a:off x="7040880" y="3794760"/>
            <a:ext cx="2468880" cy="1234440"/>
          </a:xfrm>
          <a:prstGeom prst="roundRect">
            <a:avLst>
              <a:gd name="adj" fmla="val 8889"/>
            </a:avLst>
          </a:prstGeom>
          <a:solidFill>
            <a:srgbClr val="F1F5F9"/>
          </a:solidFill>
          <a:ln w="12700">
            <a:solidFill>
              <a:srgbClr val="CBD5E1"/>
            </a:solidFill>
            <a:prstDash val="solid"/>
          </a:ln>
          <a:effectLst>
            <a:outerShdw sx="100000" sy="100000" kx="0" ky="0" algn="bl" rotWithShape="0" blurRad="12700" dist="50800" dir="2700000">
              <a:srgbClr val="D8DEE9">
                <a:alpha val="18000"/>
              </a:srgbClr>
            </a:outerShdw>
          </a:effectLst>
        </p:spPr>
      </p:sp>
      <p:sp>
        <p:nvSpPr>
          <p:cNvPr id="27" name="Text 25"/>
          <p:cNvSpPr/>
          <p:nvPr/>
        </p:nvSpPr>
        <p:spPr>
          <a:xfrm>
            <a:off x="7242048" y="3959352"/>
            <a:ext cx="206654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Developer API</a:t>
            </a:r>
            <a:endParaRPr lang="en-US" sz="1400" dirty="0"/>
          </a:p>
        </p:txBody>
      </p:sp>
      <p:sp>
        <p:nvSpPr>
          <p:cNvPr id="28" name="Text 26"/>
          <p:cNvSpPr/>
          <p:nvPr/>
        </p:nvSpPr>
        <p:spPr>
          <a:xfrm>
            <a:off x="7242048" y="4416552"/>
            <a:ext cx="2066544" cy="457200"/>
          </a:xfrm>
          <a:prstGeom prst="rect">
            <a:avLst/>
          </a:prstGeom>
          <a:noFill/>
          <a:ln/>
        </p:spPr>
        <p:txBody>
          <a:bodyPr wrap="square" lIns="254" tIns="254" rIns="254" bIns="254" rtlCol="0" anchor="t">
            <a:normAutofit/>
          </a:bodyPr>
          <a:lstStyle/>
          <a:p>
            <a:pPr indent="0" marL="0">
              <a:buNone/>
            </a:pPr>
            <a:r>
              <a:rPr lang="en-US" sz="1050" dirty="0">
                <a:solidFill>
                  <a:srgbClr val="475569"/>
                </a:solidFill>
                <a:latin typeface="Aptos" pitchFamily="34" charset="0"/>
                <a:ea typeface="Aptos" pitchFamily="34" charset="-122"/>
                <a:cs typeface="Aptos" pitchFamily="34" charset="-120"/>
              </a:rPr>
              <a:t>Scoped API keys</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read / write / edit</a:t>
            </a:r>
            <a:endParaRPr lang="en-US" sz="1050" dirty="0"/>
          </a:p>
          <a:p>
            <a:pPr indent="0" marL="0">
              <a:buNone/>
            </a:pPr>
            <a:r>
              <a:rPr lang="en-US" sz="1050" dirty="0">
                <a:solidFill>
                  <a:srgbClr val="475569"/>
                </a:solidFill>
                <a:latin typeface="Aptos" pitchFamily="34" charset="0"/>
                <a:ea typeface="Aptos" pitchFamily="34" charset="-122"/>
                <a:cs typeface="Aptos" pitchFamily="34" charset="-120"/>
              </a:rPr>
              <a:t>Script + AI tool access</a:t>
            </a:r>
            <a:endParaRPr lang="en-US" sz="1050" dirty="0"/>
          </a:p>
        </p:txBody>
      </p:sp>
      <p:sp>
        <p:nvSpPr>
          <p:cNvPr id="29" name="Shape 27"/>
          <p:cNvSpPr/>
          <p:nvPr/>
        </p:nvSpPr>
        <p:spPr>
          <a:xfrm>
            <a:off x="2834640" y="1810512"/>
            <a:ext cx="548640" cy="0"/>
          </a:xfrm>
          <a:prstGeom prst="line">
            <a:avLst/>
          </a:prstGeom>
          <a:noFill/>
          <a:ln w="26670">
            <a:solidFill>
              <a:srgbClr val="2563EB"/>
            </a:solidFill>
            <a:prstDash val="solid"/>
            <a:headEnd type="none"/>
            <a:tailEnd type="triangle"/>
          </a:ln>
        </p:spPr>
      </p:sp>
      <p:sp>
        <p:nvSpPr>
          <p:cNvPr id="30" name="Shape 28"/>
          <p:cNvSpPr/>
          <p:nvPr/>
        </p:nvSpPr>
        <p:spPr>
          <a:xfrm>
            <a:off x="5852160" y="1554480"/>
            <a:ext cx="594360" cy="-274320"/>
          </a:xfrm>
          <a:prstGeom prst="line">
            <a:avLst/>
          </a:prstGeom>
          <a:noFill/>
          <a:ln w="26670">
            <a:solidFill>
              <a:srgbClr val="7C3AED"/>
            </a:solidFill>
            <a:prstDash val="solid"/>
            <a:headEnd type="none"/>
            <a:tailEnd type="triangle"/>
          </a:ln>
        </p:spPr>
      </p:sp>
      <p:sp>
        <p:nvSpPr>
          <p:cNvPr id="31" name="Shape 29"/>
          <p:cNvSpPr/>
          <p:nvPr/>
        </p:nvSpPr>
        <p:spPr>
          <a:xfrm>
            <a:off x="5852160" y="1828800"/>
            <a:ext cx="594360" cy="685800"/>
          </a:xfrm>
          <a:prstGeom prst="line">
            <a:avLst/>
          </a:prstGeom>
          <a:noFill/>
          <a:ln w="26670">
            <a:solidFill>
              <a:srgbClr val="2563EB"/>
            </a:solidFill>
            <a:prstDash val="solid"/>
            <a:headEnd type="none"/>
            <a:tailEnd type="triangle"/>
          </a:ln>
        </p:spPr>
      </p:sp>
      <p:sp>
        <p:nvSpPr>
          <p:cNvPr id="32" name="Shape 30"/>
          <p:cNvSpPr/>
          <p:nvPr/>
        </p:nvSpPr>
        <p:spPr>
          <a:xfrm>
            <a:off x="8778240" y="1645920"/>
            <a:ext cx="502920" cy="228600"/>
          </a:xfrm>
          <a:prstGeom prst="line">
            <a:avLst/>
          </a:prstGeom>
          <a:noFill/>
          <a:ln w="26670">
            <a:solidFill>
              <a:srgbClr val="334155"/>
            </a:solidFill>
            <a:prstDash val="solid"/>
            <a:headEnd type="none"/>
            <a:tailEnd type="triangle"/>
          </a:ln>
        </p:spPr>
      </p:sp>
      <p:sp>
        <p:nvSpPr>
          <p:cNvPr id="33" name="Shape 31"/>
          <p:cNvSpPr/>
          <p:nvPr/>
        </p:nvSpPr>
        <p:spPr>
          <a:xfrm>
            <a:off x="3172968" y="4407408"/>
            <a:ext cx="667512" cy="0"/>
          </a:xfrm>
          <a:prstGeom prst="line">
            <a:avLst/>
          </a:prstGeom>
          <a:noFill/>
          <a:ln w="26670">
            <a:solidFill>
              <a:srgbClr val="10B981"/>
            </a:solidFill>
            <a:prstDash val="solid"/>
            <a:headEnd type="none"/>
            <a:tailEnd type="triangle"/>
          </a:ln>
        </p:spPr>
      </p:sp>
      <p:sp>
        <p:nvSpPr>
          <p:cNvPr id="34" name="Shape 32"/>
          <p:cNvSpPr/>
          <p:nvPr/>
        </p:nvSpPr>
        <p:spPr>
          <a:xfrm>
            <a:off x="6336792" y="4407408"/>
            <a:ext cx="704088" cy="0"/>
          </a:xfrm>
          <a:prstGeom prst="line">
            <a:avLst/>
          </a:prstGeom>
          <a:noFill/>
          <a:ln w="26670">
            <a:solidFill>
              <a:srgbClr val="10B981"/>
            </a:solidFill>
            <a:prstDash val="solid"/>
            <a:headEnd type="none"/>
            <a:tailEnd type="triangle"/>
          </a:ln>
        </p:spPr>
      </p:sp>
      <p:sp>
        <p:nvSpPr>
          <p:cNvPr id="35" name="Shape 33"/>
          <p:cNvSpPr/>
          <p:nvPr/>
        </p:nvSpPr>
        <p:spPr>
          <a:xfrm>
            <a:off x="5577840" y="2834640"/>
            <a:ext cx="-502920" cy="960120"/>
          </a:xfrm>
          <a:prstGeom prst="line">
            <a:avLst/>
          </a:prstGeom>
          <a:noFill/>
          <a:ln w="26670">
            <a:solidFill>
              <a:srgbClr val="10B981"/>
            </a:solidFill>
            <a:prstDash val="solid"/>
            <a:headEnd type="none"/>
            <a:tailEnd type="triangle"/>
          </a:ln>
        </p:spPr>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AUTHENTICATION</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User sign-in and server selection flow</a:t>
            </a:r>
            <a:endParaRPr lang="en-US" sz="2700" dirty="0"/>
          </a:p>
        </p:txBody>
      </p:sp>
      <p:sp>
        <p:nvSpPr>
          <p:cNvPr id="5" name="Shape 3"/>
          <p:cNvSpPr/>
          <p:nvPr/>
        </p:nvSpPr>
        <p:spPr>
          <a:xfrm>
            <a:off x="594360" y="1828800"/>
            <a:ext cx="1993392" cy="2148840"/>
          </a:xfrm>
          <a:prstGeom prst="roundRect">
            <a:avLst>
              <a:gd name="adj" fmla="val 5505"/>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Shape 4"/>
          <p:cNvSpPr/>
          <p:nvPr/>
        </p:nvSpPr>
        <p:spPr>
          <a:xfrm>
            <a:off x="758952" y="1993392"/>
            <a:ext cx="420624" cy="301752"/>
          </a:xfrm>
          <a:prstGeom prst="roundRect">
            <a:avLst>
              <a:gd name="adj" fmla="val 24242"/>
            </a:avLst>
          </a:prstGeom>
          <a:solidFill>
            <a:srgbClr val="2563EB"/>
          </a:solidFill>
          <a:ln w="12700">
            <a:solidFill>
              <a:srgbClr val="2563EB"/>
            </a:solidFill>
            <a:prstDash val="solid"/>
          </a:ln>
        </p:spPr>
      </p:sp>
      <p:sp>
        <p:nvSpPr>
          <p:cNvPr id="7" name="Text 5"/>
          <p:cNvSpPr/>
          <p:nvPr/>
        </p:nvSpPr>
        <p:spPr>
          <a:xfrm>
            <a:off x="758952" y="203454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1</a:t>
            </a:r>
            <a:endParaRPr lang="en-US" sz="800" dirty="0"/>
          </a:p>
        </p:txBody>
      </p:sp>
      <p:sp>
        <p:nvSpPr>
          <p:cNvPr id="8" name="Text 6"/>
          <p:cNvSpPr/>
          <p:nvPr/>
        </p:nvSpPr>
        <p:spPr>
          <a:xfrm>
            <a:off x="1298448" y="1993392"/>
            <a:ext cx="1088136"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Landing page</a:t>
            </a:r>
            <a:endParaRPr lang="en-US" sz="1400" dirty="0"/>
          </a:p>
        </p:txBody>
      </p:sp>
      <p:sp>
        <p:nvSpPr>
          <p:cNvPr id="9" name="Text 7"/>
          <p:cNvSpPr/>
          <p:nvPr/>
        </p:nvSpPr>
        <p:spPr>
          <a:xfrm>
            <a:off x="795528" y="2450592"/>
            <a:ext cx="1591056" cy="137160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User chooses an enabled preset Teamwork Cloud server.</a:t>
            </a:r>
            <a:endParaRPr lang="en-US" sz="950" dirty="0"/>
          </a:p>
        </p:txBody>
      </p:sp>
      <p:sp>
        <p:nvSpPr>
          <p:cNvPr id="10" name="Shape 8"/>
          <p:cNvSpPr/>
          <p:nvPr/>
        </p:nvSpPr>
        <p:spPr>
          <a:xfrm>
            <a:off x="2587752" y="2898648"/>
            <a:ext cx="338328" cy="0"/>
          </a:xfrm>
          <a:prstGeom prst="line">
            <a:avLst/>
          </a:prstGeom>
          <a:noFill/>
          <a:ln w="26670">
            <a:solidFill>
              <a:srgbClr val="2563EB"/>
            </a:solidFill>
            <a:prstDash val="solid"/>
            <a:headEnd type="none"/>
            <a:tailEnd type="triangle"/>
          </a:ln>
        </p:spPr>
      </p:sp>
      <p:sp>
        <p:nvSpPr>
          <p:cNvPr id="11" name="Shape 9"/>
          <p:cNvSpPr/>
          <p:nvPr/>
        </p:nvSpPr>
        <p:spPr>
          <a:xfrm>
            <a:off x="2926080" y="1828800"/>
            <a:ext cx="1993392" cy="2148840"/>
          </a:xfrm>
          <a:prstGeom prst="roundRect">
            <a:avLst>
              <a:gd name="adj" fmla="val 5505"/>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2" name="Shape 10"/>
          <p:cNvSpPr/>
          <p:nvPr/>
        </p:nvSpPr>
        <p:spPr>
          <a:xfrm>
            <a:off x="3090672" y="1993392"/>
            <a:ext cx="420624" cy="301752"/>
          </a:xfrm>
          <a:prstGeom prst="roundRect">
            <a:avLst>
              <a:gd name="adj" fmla="val 24242"/>
            </a:avLst>
          </a:prstGeom>
          <a:solidFill>
            <a:srgbClr val="7C3AED"/>
          </a:solidFill>
          <a:ln w="12700">
            <a:solidFill>
              <a:srgbClr val="7C3AED"/>
            </a:solidFill>
            <a:prstDash val="solid"/>
          </a:ln>
        </p:spPr>
      </p:sp>
      <p:sp>
        <p:nvSpPr>
          <p:cNvPr id="13" name="Text 11"/>
          <p:cNvSpPr/>
          <p:nvPr/>
        </p:nvSpPr>
        <p:spPr>
          <a:xfrm>
            <a:off x="3090672" y="203454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2</a:t>
            </a:r>
            <a:endParaRPr lang="en-US" sz="800" dirty="0"/>
          </a:p>
        </p:txBody>
      </p:sp>
      <p:sp>
        <p:nvSpPr>
          <p:cNvPr id="14" name="Text 12"/>
          <p:cNvSpPr/>
          <p:nvPr/>
        </p:nvSpPr>
        <p:spPr>
          <a:xfrm>
            <a:off x="3630168" y="1993392"/>
            <a:ext cx="1088136"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Sign In via TWC</a:t>
            </a:r>
            <a:endParaRPr lang="en-US" sz="1400" dirty="0"/>
          </a:p>
        </p:txBody>
      </p:sp>
      <p:sp>
        <p:nvSpPr>
          <p:cNvPr id="15" name="Text 13"/>
          <p:cNvSpPr/>
          <p:nvPr/>
        </p:nvSpPr>
        <p:spPr>
          <a:xfrm>
            <a:off x="3127248" y="2450592"/>
            <a:ext cx="1591056" cy="137160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Backend redirects to the selected TWC Authentication Server.</a:t>
            </a:r>
            <a:endParaRPr lang="en-US" sz="950" dirty="0"/>
          </a:p>
        </p:txBody>
      </p:sp>
      <p:sp>
        <p:nvSpPr>
          <p:cNvPr id="16" name="Shape 14"/>
          <p:cNvSpPr/>
          <p:nvPr/>
        </p:nvSpPr>
        <p:spPr>
          <a:xfrm>
            <a:off x="4919472" y="2898648"/>
            <a:ext cx="338328" cy="0"/>
          </a:xfrm>
          <a:prstGeom prst="line">
            <a:avLst/>
          </a:prstGeom>
          <a:noFill/>
          <a:ln w="26670">
            <a:solidFill>
              <a:srgbClr val="2563EB"/>
            </a:solidFill>
            <a:prstDash val="solid"/>
            <a:headEnd type="none"/>
            <a:tailEnd type="triangle"/>
          </a:ln>
        </p:spPr>
      </p:sp>
      <p:sp>
        <p:nvSpPr>
          <p:cNvPr id="17" name="Shape 15"/>
          <p:cNvSpPr/>
          <p:nvPr/>
        </p:nvSpPr>
        <p:spPr>
          <a:xfrm>
            <a:off x="5257800" y="1828800"/>
            <a:ext cx="1993392" cy="2148840"/>
          </a:xfrm>
          <a:prstGeom prst="roundRect">
            <a:avLst>
              <a:gd name="adj" fmla="val 5505"/>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8" name="Shape 16"/>
          <p:cNvSpPr/>
          <p:nvPr/>
        </p:nvSpPr>
        <p:spPr>
          <a:xfrm>
            <a:off x="5422392" y="1993392"/>
            <a:ext cx="420624" cy="301752"/>
          </a:xfrm>
          <a:prstGeom prst="roundRect">
            <a:avLst>
              <a:gd name="adj" fmla="val 24242"/>
            </a:avLst>
          </a:prstGeom>
          <a:solidFill>
            <a:srgbClr val="14B8A6"/>
          </a:solidFill>
          <a:ln w="12700">
            <a:solidFill>
              <a:srgbClr val="14B8A6"/>
            </a:solidFill>
            <a:prstDash val="solid"/>
          </a:ln>
        </p:spPr>
      </p:sp>
      <p:sp>
        <p:nvSpPr>
          <p:cNvPr id="19" name="Text 17"/>
          <p:cNvSpPr/>
          <p:nvPr/>
        </p:nvSpPr>
        <p:spPr>
          <a:xfrm>
            <a:off x="5422392" y="203454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3</a:t>
            </a:r>
            <a:endParaRPr lang="en-US" sz="800" dirty="0"/>
          </a:p>
        </p:txBody>
      </p:sp>
      <p:sp>
        <p:nvSpPr>
          <p:cNvPr id="20" name="Text 18"/>
          <p:cNvSpPr/>
          <p:nvPr/>
        </p:nvSpPr>
        <p:spPr>
          <a:xfrm>
            <a:off x="5961888" y="1993392"/>
            <a:ext cx="1088136"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Callback</a:t>
            </a:r>
            <a:endParaRPr lang="en-US" sz="1400" dirty="0"/>
          </a:p>
        </p:txBody>
      </p:sp>
      <p:sp>
        <p:nvSpPr>
          <p:cNvPr id="21" name="Text 19"/>
          <p:cNvSpPr/>
          <p:nvPr/>
        </p:nvSpPr>
        <p:spPr>
          <a:xfrm>
            <a:off x="5458968" y="2450592"/>
            <a:ext cx="1591056" cy="137160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Backend exchanges the authorization code for tokens.</a:t>
            </a:r>
            <a:endParaRPr lang="en-US" sz="950" dirty="0"/>
          </a:p>
        </p:txBody>
      </p:sp>
      <p:sp>
        <p:nvSpPr>
          <p:cNvPr id="22" name="Shape 20"/>
          <p:cNvSpPr/>
          <p:nvPr/>
        </p:nvSpPr>
        <p:spPr>
          <a:xfrm>
            <a:off x="7251192" y="2898648"/>
            <a:ext cx="338328" cy="0"/>
          </a:xfrm>
          <a:prstGeom prst="line">
            <a:avLst/>
          </a:prstGeom>
          <a:noFill/>
          <a:ln w="26670">
            <a:solidFill>
              <a:srgbClr val="2563EB"/>
            </a:solidFill>
            <a:prstDash val="solid"/>
            <a:headEnd type="none"/>
            <a:tailEnd type="triangle"/>
          </a:ln>
        </p:spPr>
      </p:sp>
      <p:sp>
        <p:nvSpPr>
          <p:cNvPr id="23" name="Shape 21"/>
          <p:cNvSpPr/>
          <p:nvPr/>
        </p:nvSpPr>
        <p:spPr>
          <a:xfrm>
            <a:off x="7589520" y="1828800"/>
            <a:ext cx="1993392" cy="2148840"/>
          </a:xfrm>
          <a:prstGeom prst="roundRect">
            <a:avLst>
              <a:gd name="adj" fmla="val 5505"/>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24" name="Shape 22"/>
          <p:cNvSpPr/>
          <p:nvPr/>
        </p:nvSpPr>
        <p:spPr>
          <a:xfrm>
            <a:off x="7754112" y="1993392"/>
            <a:ext cx="420624" cy="301752"/>
          </a:xfrm>
          <a:prstGeom prst="roundRect">
            <a:avLst>
              <a:gd name="adj" fmla="val 24242"/>
            </a:avLst>
          </a:prstGeom>
          <a:solidFill>
            <a:srgbClr val="10B981"/>
          </a:solidFill>
          <a:ln w="12700">
            <a:solidFill>
              <a:srgbClr val="10B981"/>
            </a:solidFill>
            <a:prstDash val="solid"/>
          </a:ln>
        </p:spPr>
      </p:sp>
      <p:sp>
        <p:nvSpPr>
          <p:cNvPr id="25" name="Text 23"/>
          <p:cNvSpPr/>
          <p:nvPr/>
        </p:nvSpPr>
        <p:spPr>
          <a:xfrm>
            <a:off x="7754112" y="203454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4</a:t>
            </a:r>
            <a:endParaRPr lang="en-US" sz="800" dirty="0"/>
          </a:p>
        </p:txBody>
      </p:sp>
      <p:sp>
        <p:nvSpPr>
          <p:cNvPr id="26" name="Text 24"/>
          <p:cNvSpPr/>
          <p:nvPr/>
        </p:nvSpPr>
        <p:spPr>
          <a:xfrm>
            <a:off x="8293608" y="1993392"/>
            <a:ext cx="1088136"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Validate user</a:t>
            </a:r>
            <a:endParaRPr lang="en-US" sz="1400" dirty="0"/>
          </a:p>
        </p:txBody>
      </p:sp>
      <p:sp>
        <p:nvSpPr>
          <p:cNvPr id="27" name="Text 25"/>
          <p:cNvSpPr/>
          <p:nvPr/>
        </p:nvSpPr>
        <p:spPr>
          <a:xfrm>
            <a:off x="7790688" y="2450592"/>
            <a:ext cx="1591056" cy="137160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Backend validates identity through the current-user endpoint.</a:t>
            </a:r>
            <a:endParaRPr lang="en-US" sz="950" dirty="0"/>
          </a:p>
        </p:txBody>
      </p:sp>
      <p:sp>
        <p:nvSpPr>
          <p:cNvPr id="28" name="Shape 26"/>
          <p:cNvSpPr/>
          <p:nvPr/>
        </p:nvSpPr>
        <p:spPr>
          <a:xfrm>
            <a:off x="9582912" y="2898648"/>
            <a:ext cx="338328" cy="0"/>
          </a:xfrm>
          <a:prstGeom prst="line">
            <a:avLst/>
          </a:prstGeom>
          <a:noFill/>
          <a:ln w="26670">
            <a:solidFill>
              <a:srgbClr val="2563EB"/>
            </a:solidFill>
            <a:prstDash val="solid"/>
            <a:headEnd type="none"/>
            <a:tailEnd type="triangle"/>
          </a:ln>
        </p:spPr>
      </p:sp>
      <p:sp>
        <p:nvSpPr>
          <p:cNvPr id="29" name="Shape 27"/>
          <p:cNvSpPr/>
          <p:nvPr/>
        </p:nvSpPr>
        <p:spPr>
          <a:xfrm>
            <a:off x="9921240" y="1828800"/>
            <a:ext cx="1993392" cy="2148840"/>
          </a:xfrm>
          <a:prstGeom prst="roundRect">
            <a:avLst>
              <a:gd name="adj" fmla="val 5505"/>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30" name="Shape 28"/>
          <p:cNvSpPr/>
          <p:nvPr/>
        </p:nvSpPr>
        <p:spPr>
          <a:xfrm>
            <a:off x="10085832" y="1993392"/>
            <a:ext cx="420624" cy="301752"/>
          </a:xfrm>
          <a:prstGeom prst="roundRect">
            <a:avLst>
              <a:gd name="adj" fmla="val 24242"/>
            </a:avLst>
          </a:prstGeom>
          <a:solidFill>
            <a:srgbClr val="F59E0B"/>
          </a:solidFill>
          <a:ln w="12700">
            <a:solidFill>
              <a:srgbClr val="F59E0B"/>
            </a:solidFill>
            <a:prstDash val="solid"/>
          </a:ln>
        </p:spPr>
      </p:sp>
      <p:sp>
        <p:nvSpPr>
          <p:cNvPr id="31" name="Text 29"/>
          <p:cNvSpPr/>
          <p:nvPr/>
        </p:nvSpPr>
        <p:spPr>
          <a:xfrm>
            <a:off x="10085832" y="203454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5</a:t>
            </a:r>
            <a:endParaRPr lang="en-US" sz="800" dirty="0"/>
          </a:p>
        </p:txBody>
      </p:sp>
      <p:sp>
        <p:nvSpPr>
          <p:cNvPr id="32" name="Text 30"/>
          <p:cNvSpPr/>
          <p:nvPr/>
        </p:nvSpPr>
        <p:spPr>
          <a:xfrm>
            <a:off x="10625328" y="1993392"/>
            <a:ext cx="1088136"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Session ready</a:t>
            </a:r>
            <a:endParaRPr lang="en-US" sz="1400" dirty="0"/>
          </a:p>
        </p:txBody>
      </p:sp>
      <p:sp>
        <p:nvSpPr>
          <p:cNvPr id="33" name="Text 31"/>
          <p:cNvSpPr/>
          <p:nvPr/>
        </p:nvSpPr>
        <p:spPr>
          <a:xfrm>
            <a:off x="10122408" y="2450592"/>
            <a:ext cx="1591056" cy="137160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Secure HTTP-only session returns a workspace snapshot to the UI.</a:t>
            </a:r>
            <a:endParaRPr lang="en-US" sz="950" dirty="0"/>
          </a:p>
        </p:txBody>
      </p:sp>
      <p:sp>
        <p:nvSpPr>
          <p:cNvPr id="34" name="Shape 32"/>
          <p:cNvSpPr/>
          <p:nvPr/>
        </p:nvSpPr>
        <p:spPr>
          <a:xfrm>
            <a:off x="914400" y="4800600"/>
            <a:ext cx="10332720" cy="713232"/>
          </a:xfrm>
          <a:prstGeom prst="roundRect">
            <a:avLst>
              <a:gd name="adj" fmla="val 17949"/>
            </a:avLst>
          </a:prstGeom>
          <a:solidFill>
            <a:srgbClr val="EAF2FF"/>
          </a:solidFill>
          <a:ln w="12700">
            <a:solidFill>
              <a:srgbClr val="BFDBFE"/>
            </a:solidFill>
            <a:prstDash val="solid"/>
          </a:ln>
        </p:spPr>
      </p:sp>
      <p:sp>
        <p:nvSpPr>
          <p:cNvPr id="35" name="Text 33"/>
          <p:cNvSpPr/>
          <p:nvPr/>
        </p:nvSpPr>
        <p:spPr>
          <a:xfrm>
            <a:off x="1097280" y="5010912"/>
            <a:ext cx="9966960" cy="228600"/>
          </a:xfrm>
          <a:prstGeom prst="rect">
            <a:avLst/>
          </a:prstGeom>
          <a:noFill/>
          <a:ln/>
        </p:spPr>
        <p:txBody>
          <a:bodyPr wrap="square" lIns="0" tIns="0" rIns="0" bIns="0" rtlCol="0" anchor="ctr"/>
          <a:lstStyle/>
          <a:p>
            <a:pPr algn="ctr" indent="0" marL="0">
              <a:buNone/>
            </a:pPr>
            <a:r>
              <a:rPr lang="en-US" sz="1200" b="1" dirty="0">
                <a:solidFill>
                  <a:srgbClr val="0B1F3A"/>
                </a:solidFill>
                <a:latin typeface="Aptos" pitchFamily="34" charset="0"/>
                <a:ea typeface="Aptos" pitchFamily="34" charset="-122"/>
                <a:cs typeface="Aptos" pitchFamily="34" charset="-120"/>
              </a:rPr>
              <a:t>Fallback path: users can still use an explicit TWC token when AuthServer login is not available or needs troubleshooting.</a:t>
            </a:r>
            <a:endParaRPr lang="en-US" sz="12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USER INTERFACE</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Frontend experience: workspace tabs</a:t>
            </a:r>
            <a:endParaRPr lang="en-US" sz="2700" dirty="0"/>
          </a:p>
        </p:txBody>
      </p:sp>
      <p:sp>
        <p:nvSpPr>
          <p:cNvPr id="5" name="Shape 3"/>
          <p:cNvSpPr/>
          <p:nvPr/>
        </p:nvSpPr>
        <p:spPr>
          <a:xfrm>
            <a:off x="685800" y="1234440"/>
            <a:ext cx="5074920" cy="868680"/>
          </a:xfrm>
          <a:prstGeom prst="roundRect">
            <a:avLst>
              <a:gd name="adj" fmla="val 12632"/>
            </a:avLst>
          </a:prstGeom>
          <a:solidFill>
            <a:srgbClr val="FFFFFF"/>
          </a:solidFill>
          <a:ln w="12700">
            <a:solidFill>
              <a:srgbClr val="D9E2EC"/>
            </a:solidFill>
            <a:prstDash val="solid"/>
          </a:ln>
        </p:spPr>
      </p:sp>
      <p:sp>
        <p:nvSpPr>
          <p:cNvPr id="6" name="Text 4"/>
          <p:cNvSpPr/>
          <p:nvPr/>
        </p:nvSpPr>
        <p:spPr>
          <a:xfrm>
            <a:off x="886968" y="1399032"/>
            <a:ext cx="4672584" cy="320040"/>
          </a:xfrm>
          <a:prstGeom prst="rect">
            <a:avLst/>
          </a:prstGeom>
          <a:noFill/>
          <a:ln/>
        </p:spPr>
        <p:txBody>
          <a:bodyPr wrap="square" lIns="127" tIns="127" rIns="127" bIns="127" rtlCol="0" anchor="ctr"/>
          <a:lstStyle/>
          <a:p>
            <a:pPr indent="0" marL="0">
              <a:buNone/>
            </a:pPr>
            <a:r>
              <a:rPr lang="en-US" sz="1200" b="1" dirty="0">
                <a:solidFill>
                  <a:srgbClr val="2563EB"/>
                </a:solidFill>
                <a:latin typeface="Aptos Display" pitchFamily="34" charset="0"/>
                <a:ea typeface="Aptos Display" pitchFamily="34" charset="-122"/>
                <a:cs typeface="Aptos Display" pitchFamily="34" charset="-120"/>
              </a:rPr>
              <a:t>Dashboard</a:t>
            </a:r>
            <a:endParaRPr lang="en-US" sz="1200" dirty="0"/>
          </a:p>
        </p:txBody>
      </p:sp>
      <p:sp>
        <p:nvSpPr>
          <p:cNvPr id="7" name="Text 5"/>
          <p:cNvSpPr/>
          <p:nvPr/>
        </p:nvSpPr>
        <p:spPr>
          <a:xfrm>
            <a:off x="886968" y="1856232"/>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Session status, server context, quick overview, capability summary.</a:t>
            </a:r>
            <a:endParaRPr lang="en-US" sz="850" dirty="0"/>
          </a:p>
        </p:txBody>
      </p:sp>
      <p:sp>
        <p:nvSpPr>
          <p:cNvPr id="8" name="Shape 6"/>
          <p:cNvSpPr/>
          <p:nvPr/>
        </p:nvSpPr>
        <p:spPr>
          <a:xfrm>
            <a:off x="685800" y="2368296"/>
            <a:ext cx="5074920" cy="868680"/>
          </a:xfrm>
          <a:prstGeom prst="roundRect">
            <a:avLst>
              <a:gd name="adj" fmla="val 12632"/>
            </a:avLst>
          </a:prstGeom>
          <a:solidFill>
            <a:srgbClr val="F8FAFC"/>
          </a:solidFill>
          <a:ln w="12700">
            <a:solidFill>
              <a:srgbClr val="D9E2EC"/>
            </a:solidFill>
            <a:prstDash val="solid"/>
          </a:ln>
        </p:spPr>
      </p:sp>
      <p:sp>
        <p:nvSpPr>
          <p:cNvPr id="9" name="Text 7"/>
          <p:cNvSpPr/>
          <p:nvPr/>
        </p:nvSpPr>
        <p:spPr>
          <a:xfrm>
            <a:off x="886968" y="2532888"/>
            <a:ext cx="4672584" cy="320040"/>
          </a:xfrm>
          <a:prstGeom prst="rect">
            <a:avLst/>
          </a:prstGeom>
          <a:noFill/>
          <a:ln/>
        </p:spPr>
        <p:txBody>
          <a:bodyPr wrap="square" lIns="127" tIns="127" rIns="127" bIns="127" rtlCol="0" anchor="ctr"/>
          <a:lstStyle/>
          <a:p>
            <a:pPr indent="0" marL="0">
              <a:buNone/>
            </a:pPr>
            <a:r>
              <a:rPr lang="en-US" sz="1200" b="1" dirty="0">
                <a:solidFill>
                  <a:srgbClr val="2563EB"/>
                </a:solidFill>
                <a:latin typeface="Aptos Display" pitchFamily="34" charset="0"/>
                <a:ea typeface="Aptos Display" pitchFamily="34" charset="-122"/>
                <a:cs typeface="Aptos Display" pitchFamily="34" charset="-120"/>
              </a:rPr>
              <a:t>Project Browser</a:t>
            </a:r>
            <a:endParaRPr lang="en-US" sz="1200" dirty="0"/>
          </a:p>
        </p:txBody>
      </p:sp>
      <p:sp>
        <p:nvSpPr>
          <p:cNvPr id="10" name="Text 8"/>
          <p:cNvSpPr/>
          <p:nvPr/>
        </p:nvSpPr>
        <p:spPr>
          <a:xfrm>
            <a:off x="886968" y="2990088"/>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Browse available projects and branch structure.</a:t>
            </a:r>
            <a:endParaRPr lang="en-US" sz="850" dirty="0"/>
          </a:p>
        </p:txBody>
      </p:sp>
      <p:sp>
        <p:nvSpPr>
          <p:cNvPr id="11" name="Shape 9"/>
          <p:cNvSpPr/>
          <p:nvPr/>
        </p:nvSpPr>
        <p:spPr>
          <a:xfrm>
            <a:off x="685800" y="3502152"/>
            <a:ext cx="5074920" cy="868680"/>
          </a:xfrm>
          <a:prstGeom prst="roundRect">
            <a:avLst>
              <a:gd name="adj" fmla="val 12632"/>
            </a:avLst>
          </a:prstGeom>
          <a:solidFill>
            <a:srgbClr val="FFFFFF"/>
          </a:solidFill>
          <a:ln w="12700">
            <a:solidFill>
              <a:srgbClr val="D9E2EC"/>
            </a:solidFill>
            <a:prstDash val="solid"/>
          </a:ln>
        </p:spPr>
      </p:sp>
      <p:sp>
        <p:nvSpPr>
          <p:cNvPr id="12" name="Text 10"/>
          <p:cNvSpPr/>
          <p:nvPr/>
        </p:nvSpPr>
        <p:spPr>
          <a:xfrm>
            <a:off x="886968" y="3666744"/>
            <a:ext cx="4672584" cy="320040"/>
          </a:xfrm>
          <a:prstGeom prst="rect">
            <a:avLst/>
          </a:prstGeom>
          <a:noFill/>
          <a:ln/>
        </p:spPr>
        <p:txBody>
          <a:bodyPr wrap="square" lIns="127" tIns="127" rIns="127" bIns="127" rtlCol="0" anchor="ctr"/>
          <a:lstStyle/>
          <a:p>
            <a:pPr indent="0" marL="0">
              <a:buNone/>
            </a:pPr>
            <a:r>
              <a:rPr lang="en-US" sz="1200" b="1" dirty="0">
                <a:solidFill>
                  <a:srgbClr val="2563EB"/>
                </a:solidFill>
                <a:latin typeface="Aptos Display" pitchFamily="34" charset="0"/>
                <a:ea typeface="Aptos Display" pitchFamily="34" charset="-122"/>
                <a:cs typeface="Aptos Display" pitchFamily="34" charset="-120"/>
              </a:rPr>
              <a:t>Model Browser</a:t>
            </a:r>
            <a:endParaRPr lang="en-US" sz="1200" dirty="0"/>
          </a:p>
        </p:txBody>
      </p:sp>
      <p:sp>
        <p:nvSpPr>
          <p:cNvPr id="13" name="Text 11"/>
          <p:cNvSpPr/>
          <p:nvPr/>
        </p:nvSpPr>
        <p:spPr>
          <a:xfrm>
            <a:off x="886968" y="4123944"/>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Navigate cached or live model tree and containment data.</a:t>
            </a:r>
            <a:endParaRPr lang="en-US" sz="850" dirty="0"/>
          </a:p>
        </p:txBody>
      </p:sp>
      <p:sp>
        <p:nvSpPr>
          <p:cNvPr id="14" name="Shape 12"/>
          <p:cNvSpPr/>
          <p:nvPr/>
        </p:nvSpPr>
        <p:spPr>
          <a:xfrm>
            <a:off x="685800" y="4636008"/>
            <a:ext cx="5074920" cy="868680"/>
          </a:xfrm>
          <a:prstGeom prst="roundRect">
            <a:avLst>
              <a:gd name="adj" fmla="val 12632"/>
            </a:avLst>
          </a:prstGeom>
          <a:solidFill>
            <a:srgbClr val="F8FAFC"/>
          </a:solidFill>
          <a:ln w="12700">
            <a:solidFill>
              <a:srgbClr val="D9E2EC"/>
            </a:solidFill>
            <a:prstDash val="solid"/>
          </a:ln>
        </p:spPr>
      </p:sp>
      <p:sp>
        <p:nvSpPr>
          <p:cNvPr id="15" name="Text 13"/>
          <p:cNvSpPr/>
          <p:nvPr/>
        </p:nvSpPr>
        <p:spPr>
          <a:xfrm>
            <a:off x="886968" y="4800600"/>
            <a:ext cx="4672584" cy="320040"/>
          </a:xfrm>
          <a:prstGeom prst="rect">
            <a:avLst/>
          </a:prstGeom>
          <a:noFill/>
          <a:ln/>
        </p:spPr>
        <p:txBody>
          <a:bodyPr wrap="square" lIns="127" tIns="127" rIns="127" bIns="127" rtlCol="0" anchor="ctr"/>
          <a:lstStyle/>
          <a:p>
            <a:pPr indent="0" marL="0">
              <a:buNone/>
            </a:pPr>
            <a:r>
              <a:rPr lang="en-US" sz="1200" b="1" dirty="0">
                <a:solidFill>
                  <a:srgbClr val="2563EB"/>
                </a:solidFill>
                <a:latin typeface="Aptos Display" pitchFamily="34" charset="0"/>
                <a:ea typeface="Aptos Display" pitchFamily="34" charset="-122"/>
                <a:cs typeface="Aptos Display" pitchFamily="34" charset="-120"/>
              </a:rPr>
              <a:t>Item Details</a:t>
            </a:r>
            <a:endParaRPr lang="en-US" sz="1200" dirty="0"/>
          </a:p>
        </p:txBody>
      </p:sp>
      <p:sp>
        <p:nvSpPr>
          <p:cNvPr id="16" name="Text 14"/>
          <p:cNvSpPr/>
          <p:nvPr/>
        </p:nvSpPr>
        <p:spPr>
          <a:xfrm>
            <a:off x="886968" y="5257800"/>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Inspect selected item identity, payload attributes, references, diagrams, and editable fields.</a:t>
            </a:r>
            <a:endParaRPr lang="en-US" sz="850" dirty="0"/>
          </a:p>
        </p:txBody>
      </p:sp>
      <p:sp>
        <p:nvSpPr>
          <p:cNvPr id="17" name="Shape 15"/>
          <p:cNvSpPr/>
          <p:nvPr/>
        </p:nvSpPr>
        <p:spPr>
          <a:xfrm>
            <a:off x="6263640" y="1234440"/>
            <a:ext cx="5074920" cy="868680"/>
          </a:xfrm>
          <a:prstGeom prst="roundRect">
            <a:avLst>
              <a:gd name="adj" fmla="val 12632"/>
            </a:avLst>
          </a:prstGeom>
          <a:solidFill>
            <a:srgbClr val="FFFFFF"/>
          </a:solidFill>
          <a:ln w="12700">
            <a:solidFill>
              <a:srgbClr val="D9E2EC"/>
            </a:solidFill>
            <a:prstDash val="solid"/>
          </a:ln>
        </p:spPr>
      </p:sp>
      <p:sp>
        <p:nvSpPr>
          <p:cNvPr id="18" name="Text 16"/>
          <p:cNvSpPr/>
          <p:nvPr/>
        </p:nvSpPr>
        <p:spPr>
          <a:xfrm>
            <a:off x="6464808" y="1399032"/>
            <a:ext cx="4672584" cy="320040"/>
          </a:xfrm>
          <a:prstGeom prst="rect">
            <a:avLst/>
          </a:prstGeom>
          <a:noFill/>
          <a:ln/>
        </p:spPr>
        <p:txBody>
          <a:bodyPr wrap="square" lIns="127" tIns="127" rIns="127" bIns="127" rtlCol="0" anchor="ctr"/>
          <a:lstStyle/>
          <a:p>
            <a:pPr indent="0" marL="0">
              <a:buNone/>
            </a:pPr>
            <a:r>
              <a:rPr lang="en-US" sz="1200" b="1" dirty="0">
                <a:solidFill>
                  <a:srgbClr val="14B8A6"/>
                </a:solidFill>
                <a:latin typeface="Aptos Display" pitchFamily="34" charset="0"/>
                <a:ea typeface="Aptos Display" pitchFamily="34" charset="-122"/>
                <a:cs typeface="Aptos Display" pitchFamily="34" charset="-120"/>
              </a:rPr>
              <a:t>Compare</a:t>
            </a:r>
            <a:endParaRPr lang="en-US" sz="1200" dirty="0"/>
          </a:p>
        </p:txBody>
      </p:sp>
      <p:sp>
        <p:nvSpPr>
          <p:cNvPr id="19" name="Text 17"/>
          <p:cNvSpPr/>
          <p:nvPr/>
        </p:nvSpPr>
        <p:spPr>
          <a:xfrm>
            <a:off x="6464808" y="1856232"/>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Compare selected revisions or items using available contract-backed workflows.</a:t>
            </a:r>
            <a:endParaRPr lang="en-US" sz="850" dirty="0"/>
          </a:p>
        </p:txBody>
      </p:sp>
      <p:sp>
        <p:nvSpPr>
          <p:cNvPr id="20" name="Shape 18"/>
          <p:cNvSpPr/>
          <p:nvPr/>
        </p:nvSpPr>
        <p:spPr>
          <a:xfrm>
            <a:off x="6263640" y="2368296"/>
            <a:ext cx="5074920" cy="868680"/>
          </a:xfrm>
          <a:prstGeom prst="roundRect">
            <a:avLst>
              <a:gd name="adj" fmla="val 12632"/>
            </a:avLst>
          </a:prstGeom>
          <a:solidFill>
            <a:srgbClr val="F8FAFC"/>
          </a:solidFill>
          <a:ln w="12700">
            <a:solidFill>
              <a:srgbClr val="D9E2EC"/>
            </a:solidFill>
            <a:prstDash val="solid"/>
          </a:ln>
        </p:spPr>
      </p:sp>
      <p:sp>
        <p:nvSpPr>
          <p:cNvPr id="21" name="Text 19"/>
          <p:cNvSpPr/>
          <p:nvPr/>
        </p:nvSpPr>
        <p:spPr>
          <a:xfrm>
            <a:off x="6464808" y="2532888"/>
            <a:ext cx="4672584" cy="320040"/>
          </a:xfrm>
          <a:prstGeom prst="rect">
            <a:avLst/>
          </a:prstGeom>
          <a:noFill/>
          <a:ln/>
        </p:spPr>
        <p:txBody>
          <a:bodyPr wrap="square" lIns="127" tIns="127" rIns="127" bIns="127" rtlCol="0" anchor="ctr"/>
          <a:lstStyle/>
          <a:p>
            <a:pPr indent="0" marL="0">
              <a:buNone/>
            </a:pPr>
            <a:r>
              <a:rPr lang="en-US" sz="1200" b="1" dirty="0">
                <a:solidFill>
                  <a:srgbClr val="14B8A6"/>
                </a:solidFill>
                <a:latin typeface="Aptos Display" pitchFamily="34" charset="0"/>
                <a:ea typeface="Aptos Display" pitchFamily="34" charset="-122"/>
                <a:cs typeface="Aptos Display" pitchFamily="34" charset="-120"/>
              </a:rPr>
              <a:t>Developer API</a:t>
            </a:r>
            <a:endParaRPr lang="en-US" sz="1200" dirty="0"/>
          </a:p>
        </p:txBody>
      </p:sp>
      <p:sp>
        <p:nvSpPr>
          <p:cNvPr id="22" name="Text 20"/>
          <p:cNvSpPr/>
          <p:nvPr/>
        </p:nvSpPr>
        <p:spPr>
          <a:xfrm>
            <a:off x="6464808" y="2990088"/>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Create scoped API keys and copy example Python usage.</a:t>
            </a:r>
            <a:endParaRPr lang="en-US" sz="850" dirty="0"/>
          </a:p>
        </p:txBody>
      </p:sp>
      <p:sp>
        <p:nvSpPr>
          <p:cNvPr id="23" name="Shape 21"/>
          <p:cNvSpPr/>
          <p:nvPr/>
        </p:nvSpPr>
        <p:spPr>
          <a:xfrm>
            <a:off x="6263640" y="3502152"/>
            <a:ext cx="5074920" cy="868680"/>
          </a:xfrm>
          <a:prstGeom prst="roundRect">
            <a:avLst>
              <a:gd name="adj" fmla="val 12632"/>
            </a:avLst>
          </a:prstGeom>
          <a:solidFill>
            <a:srgbClr val="FFFFFF"/>
          </a:solidFill>
          <a:ln w="12700">
            <a:solidFill>
              <a:srgbClr val="D9E2EC"/>
            </a:solidFill>
            <a:prstDash val="solid"/>
          </a:ln>
        </p:spPr>
      </p:sp>
      <p:sp>
        <p:nvSpPr>
          <p:cNvPr id="24" name="Text 22"/>
          <p:cNvSpPr/>
          <p:nvPr/>
        </p:nvSpPr>
        <p:spPr>
          <a:xfrm>
            <a:off x="6464808" y="3666744"/>
            <a:ext cx="4672584" cy="320040"/>
          </a:xfrm>
          <a:prstGeom prst="rect">
            <a:avLst/>
          </a:prstGeom>
          <a:noFill/>
          <a:ln/>
        </p:spPr>
        <p:txBody>
          <a:bodyPr wrap="square" lIns="127" tIns="127" rIns="127" bIns="127" rtlCol="0" anchor="ctr"/>
          <a:lstStyle/>
          <a:p>
            <a:pPr indent="0" marL="0">
              <a:buNone/>
            </a:pPr>
            <a:r>
              <a:rPr lang="en-US" sz="1200" b="1" dirty="0">
                <a:solidFill>
                  <a:srgbClr val="14B8A6"/>
                </a:solidFill>
                <a:latin typeface="Aptos Display" pitchFamily="34" charset="0"/>
                <a:ea typeface="Aptos Display" pitchFamily="34" charset="-122"/>
                <a:cs typeface="Aptos Display" pitchFamily="34" charset="-120"/>
              </a:rPr>
              <a:t>API Explorer</a:t>
            </a:r>
            <a:endParaRPr lang="en-US" sz="1200" dirty="0"/>
          </a:p>
        </p:txBody>
      </p:sp>
      <p:sp>
        <p:nvSpPr>
          <p:cNvPr id="25" name="Text 23"/>
          <p:cNvSpPr/>
          <p:nvPr/>
        </p:nvSpPr>
        <p:spPr>
          <a:xfrm>
            <a:off x="6464808" y="4123944"/>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Admin-only contract operation explorer backed by the bundled Swagger manifest.</a:t>
            </a:r>
            <a:endParaRPr lang="en-US" sz="850" dirty="0"/>
          </a:p>
        </p:txBody>
      </p:sp>
      <p:sp>
        <p:nvSpPr>
          <p:cNvPr id="26" name="Shape 24"/>
          <p:cNvSpPr/>
          <p:nvPr/>
        </p:nvSpPr>
        <p:spPr>
          <a:xfrm>
            <a:off x="6263640" y="4636008"/>
            <a:ext cx="5074920" cy="868680"/>
          </a:xfrm>
          <a:prstGeom prst="roundRect">
            <a:avLst>
              <a:gd name="adj" fmla="val 12632"/>
            </a:avLst>
          </a:prstGeom>
          <a:solidFill>
            <a:srgbClr val="F8FAFC"/>
          </a:solidFill>
          <a:ln w="12700">
            <a:solidFill>
              <a:srgbClr val="D9E2EC"/>
            </a:solidFill>
            <a:prstDash val="solid"/>
          </a:ln>
        </p:spPr>
      </p:sp>
      <p:sp>
        <p:nvSpPr>
          <p:cNvPr id="27" name="Text 25"/>
          <p:cNvSpPr/>
          <p:nvPr/>
        </p:nvSpPr>
        <p:spPr>
          <a:xfrm>
            <a:off x="6464808" y="4800600"/>
            <a:ext cx="4672584" cy="320040"/>
          </a:xfrm>
          <a:prstGeom prst="rect">
            <a:avLst/>
          </a:prstGeom>
          <a:noFill/>
          <a:ln/>
        </p:spPr>
        <p:txBody>
          <a:bodyPr wrap="square" lIns="127" tIns="127" rIns="127" bIns="127" rtlCol="0" anchor="ctr"/>
          <a:lstStyle/>
          <a:p>
            <a:pPr indent="0" marL="0">
              <a:buNone/>
            </a:pPr>
            <a:r>
              <a:rPr lang="en-US" sz="1200" b="1" dirty="0">
                <a:solidFill>
                  <a:srgbClr val="14B8A6"/>
                </a:solidFill>
                <a:latin typeface="Aptos Display" pitchFamily="34" charset="0"/>
                <a:ea typeface="Aptos Display" pitchFamily="34" charset="-122"/>
                <a:cs typeface="Aptos Display" pitchFamily="34" charset="-120"/>
              </a:rPr>
              <a:t>Workbench Agent</a:t>
            </a:r>
            <a:endParaRPr lang="en-US" sz="1200" dirty="0"/>
          </a:p>
        </p:txBody>
      </p:sp>
      <p:sp>
        <p:nvSpPr>
          <p:cNvPr id="28" name="Text 26"/>
          <p:cNvSpPr/>
          <p:nvPr/>
        </p:nvSpPr>
        <p:spPr>
          <a:xfrm>
            <a:off x="6464808" y="5257800"/>
            <a:ext cx="4672584" cy="91440"/>
          </a:xfrm>
          <a:prstGeom prst="rect">
            <a:avLst/>
          </a:prstGeom>
          <a:noFill/>
          <a:ln/>
        </p:spPr>
        <p:txBody>
          <a:bodyPr wrap="square" lIns="254" tIns="254" rIns="254" bIns="254" rtlCol="0" anchor="t">
            <a:normAutofit/>
          </a:bodyPr>
          <a:lstStyle/>
          <a:p>
            <a:pPr indent="0" marL="0">
              <a:buNone/>
            </a:pPr>
            <a:r>
              <a:rPr lang="en-US" sz="850" dirty="0">
                <a:solidFill>
                  <a:srgbClr val="475569"/>
                </a:solidFill>
                <a:latin typeface="Aptos" pitchFamily="34" charset="0"/>
                <a:ea typeface="Aptos" pitchFamily="34" charset="-122"/>
                <a:cs typeface="Aptos" pitchFamily="34" charset="-120"/>
              </a:rPr>
              <a:t>Optional AI/assistant-facing workspace for synced knowledge and model-backed chat.</a:t>
            </a:r>
            <a:endParaRPr lang="en-US" sz="85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FASTAPI SERVICE LAYER</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Backend responsibilities</a:t>
            </a:r>
            <a:endParaRPr lang="en-US" sz="2700" dirty="0"/>
          </a:p>
        </p:txBody>
      </p:sp>
      <p:sp>
        <p:nvSpPr>
          <p:cNvPr id="5" name="Shape 3"/>
          <p:cNvSpPr/>
          <p:nvPr/>
        </p:nvSpPr>
        <p:spPr>
          <a:xfrm>
            <a:off x="594360" y="1325880"/>
            <a:ext cx="2743200" cy="4526280"/>
          </a:xfrm>
          <a:prstGeom prst="roundRect">
            <a:avLst>
              <a:gd name="adj" fmla="val 40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795528" y="1490472"/>
            <a:ext cx="234086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API route groups</a:t>
            </a:r>
            <a:endParaRPr lang="en-US" sz="1400" dirty="0"/>
          </a:p>
        </p:txBody>
      </p:sp>
      <p:sp>
        <p:nvSpPr>
          <p:cNvPr id="7" name="Text 5"/>
          <p:cNvSpPr/>
          <p:nvPr/>
        </p:nvSpPr>
        <p:spPr>
          <a:xfrm>
            <a:off x="795528" y="1947672"/>
            <a:ext cx="2340864" cy="3749040"/>
          </a:xfrm>
          <a:prstGeom prst="rect">
            <a:avLst/>
          </a:prstGeom>
          <a:noFill/>
          <a:ln/>
        </p:spPr>
        <p:txBody>
          <a:bodyPr wrap="square" lIns="254" tIns="254" rIns="254" bIns="254" rtlCol="0" anchor="t">
            <a:normAutofit/>
          </a:bodyPr>
          <a:lstStyle/>
          <a:p>
            <a:pPr indent="0" marL="0">
              <a:buNone/>
            </a:pPr>
            <a:r>
              <a:rPr lang="en-US" sz="1000" dirty="0">
                <a:solidFill>
                  <a:srgbClr val="475569"/>
                </a:solidFill>
                <a:latin typeface="Aptos" pitchFamily="34" charset="0"/>
                <a:ea typeface="Aptos" pitchFamily="34" charset="-122"/>
                <a:cs typeface="Aptos" pitchFamily="34" charset="-120"/>
              </a:rPr>
              <a:t>• /auth: session, signin, callback, token login, OSLC auth</a:t>
            </a:r>
            <a:endParaRPr lang="en-US" sz="1000" dirty="0"/>
          </a:p>
          <a:p>
            <a:pPr indent="0" marL="0">
              <a:buNone/>
            </a:pPr>
            <a:r>
              <a:rPr lang="en-US" sz="1000" dirty="0">
                <a:solidFill>
                  <a:srgbClr val="475569"/>
                </a:solidFill>
                <a:latin typeface="Aptos" pitchFamily="34" charset="0"/>
                <a:ea typeface="Aptos" pitchFamily="34" charset="-122"/>
                <a:cs typeface="Aptos" pitchFamily="34" charset="-120"/>
              </a:rPr>
              <a:t>• /servers: preset management and health</a:t>
            </a:r>
            <a:endParaRPr lang="en-US" sz="1000" dirty="0"/>
          </a:p>
          <a:p>
            <a:pPr indent="0" marL="0">
              <a:buNone/>
            </a:pPr>
            <a:r>
              <a:rPr lang="en-US" sz="1000" dirty="0">
                <a:solidFill>
                  <a:srgbClr val="475569"/>
                </a:solidFill>
                <a:latin typeface="Aptos" pitchFamily="34" charset="0"/>
                <a:ea typeface="Aptos" pitchFamily="34" charset="-122"/>
                <a:cs typeface="Aptos" pitchFamily="34" charset="-120"/>
              </a:rPr>
              <a:t>• /workspace: projects, tree, items, compare, cache sync, agent</a:t>
            </a:r>
            <a:endParaRPr lang="en-US" sz="1000" dirty="0"/>
          </a:p>
          <a:p>
            <a:pPr indent="0" marL="0">
              <a:buNone/>
            </a:pPr>
            <a:r>
              <a:rPr lang="en-US" sz="1000" dirty="0">
                <a:solidFill>
                  <a:srgbClr val="475569"/>
                </a:solidFill>
                <a:latin typeface="Aptos" pitchFamily="34" charset="0"/>
                <a:ea typeface="Aptos" pitchFamily="34" charset="-122"/>
                <a:cs typeface="Aptos" pitchFamily="34" charset="-120"/>
              </a:rPr>
              <a:t>• /cache: cache manifest, branch data, elements, graph, edits</a:t>
            </a:r>
            <a:endParaRPr lang="en-US" sz="1000" dirty="0"/>
          </a:p>
        </p:txBody>
      </p:sp>
      <p:sp>
        <p:nvSpPr>
          <p:cNvPr id="8" name="Shape 6"/>
          <p:cNvSpPr/>
          <p:nvPr/>
        </p:nvSpPr>
        <p:spPr>
          <a:xfrm>
            <a:off x="3611880" y="1325880"/>
            <a:ext cx="2743200" cy="4526280"/>
          </a:xfrm>
          <a:prstGeom prst="roundRect">
            <a:avLst>
              <a:gd name="adj" fmla="val 40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9" name="Text 7"/>
          <p:cNvSpPr/>
          <p:nvPr/>
        </p:nvSpPr>
        <p:spPr>
          <a:xfrm>
            <a:off x="3813048" y="1490472"/>
            <a:ext cx="2340864" cy="320040"/>
          </a:xfrm>
          <a:prstGeom prst="rect">
            <a:avLst/>
          </a:prstGeom>
          <a:noFill/>
          <a:ln/>
        </p:spPr>
        <p:txBody>
          <a:bodyPr wrap="square" lIns="127" tIns="127" rIns="127" bIns="127" rtlCol="0" anchor="ctr"/>
          <a:lstStyle/>
          <a:p>
            <a:pPr indent="0" marL="0">
              <a:buNone/>
            </a:pPr>
            <a:r>
              <a:rPr lang="en-US" sz="1400" b="1" dirty="0">
                <a:solidFill>
                  <a:srgbClr val="14B8A6"/>
                </a:solidFill>
                <a:latin typeface="Aptos Display" pitchFamily="34" charset="0"/>
                <a:ea typeface="Aptos Display" pitchFamily="34" charset="-122"/>
                <a:cs typeface="Aptos Display" pitchFamily="34" charset="-120"/>
              </a:rPr>
              <a:t>Platform service</a:t>
            </a:r>
            <a:endParaRPr lang="en-US" sz="1400" dirty="0"/>
          </a:p>
        </p:txBody>
      </p:sp>
      <p:sp>
        <p:nvSpPr>
          <p:cNvPr id="10" name="Text 8"/>
          <p:cNvSpPr/>
          <p:nvPr/>
        </p:nvSpPr>
        <p:spPr>
          <a:xfrm>
            <a:off x="3813048" y="1947672"/>
            <a:ext cx="2340864" cy="3749040"/>
          </a:xfrm>
          <a:prstGeom prst="rect">
            <a:avLst/>
          </a:prstGeom>
          <a:noFill/>
          <a:ln/>
        </p:spPr>
        <p:txBody>
          <a:bodyPr wrap="square" lIns="254" tIns="254" rIns="254" bIns="254" rtlCol="0" anchor="t">
            <a:normAutofit/>
          </a:bodyPr>
          <a:lstStyle/>
          <a:p>
            <a:pPr indent="0" marL="0">
              <a:buNone/>
            </a:pPr>
            <a:r>
              <a:rPr lang="en-US" sz="1000" dirty="0">
                <a:solidFill>
                  <a:srgbClr val="475569"/>
                </a:solidFill>
                <a:latin typeface="Aptos" pitchFamily="34" charset="0"/>
                <a:ea typeface="Aptos" pitchFamily="34" charset="-122"/>
                <a:cs typeface="Aptos" pitchFamily="34" charset="-120"/>
              </a:rPr>
              <a:t>Central orchestration layer: server profile selection, user session snapshots, capability refresh, live TWC adapter calls, model-cache operations, preferences, jobs, developer keys, and agent settings.</a:t>
            </a:r>
            <a:endParaRPr lang="en-US" sz="1000" dirty="0"/>
          </a:p>
        </p:txBody>
      </p:sp>
      <p:sp>
        <p:nvSpPr>
          <p:cNvPr id="11" name="Shape 9"/>
          <p:cNvSpPr/>
          <p:nvPr/>
        </p:nvSpPr>
        <p:spPr>
          <a:xfrm>
            <a:off x="6629400" y="1325880"/>
            <a:ext cx="2377440" cy="4526280"/>
          </a:xfrm>
          <a:prstGeom prst="roundRect">
            <a:avLst>
              <a:gd name="adj" fmla="val 4615"/>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2" name="Text 10"/>
          <p:cNvSpPr/>
          <p:nvPr/>
        </p:nvSpPr>
        <p:spPr>
          <a:xfrm>
            <a:off x="6830568" y="1490472"/>
            <a:ext cx="1975104" cy="320040"/>
          </a:xfrm>
          <a:prstGeom prst="rect">
            <a:avLst/>
          </a:prstGeom>
          <a:noFill/>
          <a:ln/>
        </p:spPr>
        <p:txBody>
          <a:bodyPr wrap="square" lIns="127" tIns="127" rIns="127" bIns="127" rtlCol="0" anchor="ctr"/>
          <a:lstStyle/>
          <a:p>
            <a:pPr indent="0" marL="0">
              <a:buNone/>
            </a:pPr>
            <a:r>
              <a:rPr lang="en-US" sz="1400" b="1" dirty="0">
                <a:solidFill>
                  <a:srgbClr val="7C3AED"/>
                </a:solidFill>
                <a:latin typeface="Aptos Display" pitchFamily="34" charset="0"/>
                <a:ea typeface="Aptos Display" pitchFamily="34" charset="-122"/>
                <a:cs typeface="Aptos Display" pitchFamily="34" charset="-120"/>
              </a:rPr>
              <a:t>Adapters</a:t>
            </a:r>
            <a:endParaRPr lang="en-US" sz="1400" dirty="0"/>
          </a:p>
        </p:txBody>
      </p:sp>
      <p:sp>
        <p:nvSpPr>
          <p:cNvPr id="13" name="Text 11"/>
          <p:cNvSpPr/>
          <p:nvPr/>
        </p:nvSpPr>
        <p:spPr>
          <a:xfrm>
            <a:off x="6830568" y="1947672"/>
            <a:ext cx="1975104" cy="3749040"/>
          </a:xfrm>
          <a:prstGeom prst="rect">
            <a:avLst/>
          </a:prstGeom>
          <a:noFill/>
          <a:ln/>
        </p:spPr>
        <p:txBody>
          <a:bodyPr wrap="square" lIns="254" tIns="254" rIns="254" bIns="254" rtlCol="0" anchor="t">
            <a:normAutofit/>
          </a:bodyPr>
          <a:lstStyle/>
          <a:p>
            <a:pPr indent="0" marL="0">
              <a:buNone/>
            </a:pPr>
            <a:r>
              <a:rPr lang="en-US" sz="1000" dirty="0">
                <a:solidFill>
                  <a:srgbClr val="475569"/>
                </a:solidFill>
                <a:latin typeface="Aptos" pitchFamily="34" charset="0"/>
                <a:ea typeface="Aptos" pitchFamily="34" charset="-122"/>
                <a:cs typeface="Aptos" pitchFamily="34" charset="-120"/>
              </a:rPr>
              <a:t>Version-specific adapter boundary for TWC 2022xR2 and 2024xR3. Keeps endpoint probing, payload normalization, pagination, and contract execution away from the UI.</a:t>
            </a:r>
            <a:endParaRPr lang="en-US" sz="1000" dirty="0"/>
          </a:p>
        </p:txBody>
      </p:sp>
      <p:sp>
        <p:nvSpPr>
          <p:cNvPr id="14" name="Shape 12"/>
          <p:cNvSpPr/>
          <p:nvPr/>
        </p:nvSpPr>
        <p:spPr>
          <a:xfrm>
            <a:off x="9281160" y="1325880"/>
            <a:ext cx="2331720" cy="4526280"/>
          </a:xfrm>
          <a:prstGeom prst="roundRect">
            <a:avLst>
              <a:gd name="adj" fmla="val 470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5" name="Text 13"/>
          <p:cNvSpPr/>
          <p:nvPr/>
        </p:nvSpPr>
        <p:spPr>
          <a:xfrm>
            <a:off x="9482328" y="1490472"/>
            <a:ext cx="1929384" cy="320040"/>
          </a:xfrm>
          <a:prstGeom prst="rect">
            <a:avLst/>
          </a:prstGeom>
          <a:noFill/>
          <a:ln/>
        </p:spPr>
        <p:txBody>
          <a:bodyPr wrap="square" lIns="127" tIns="127" rIns="127" bIns="127" rtlCol="0" anchor="ctr"/>
          <a:lstStyle/>
          <a:p>
            <a:pPr indent="0" marL="0">
              <a:buNone/>
            </a:pPr>
            <a:r>
              <a:rPr lang="en-US" sz="1400" b="1" dirty="0">
                <a:solidFill>
                  <a:srgbClr val="10B981"/>
                </a:solidFill>
                <a:latin typeface="Aptos Display" pitchFamily="34" charset="0"/>
                <a:ea typeface="Aptos Display" pitchFamily="34" charset="-122"/>
                <a:cs typeface="Aptos Display" pitchFamily="34" charset="-120"/>
              </a:rPr>
              <a:t>Storage</a:t>
            </a:r>
            <a:endParaRPr lang="en-US" sz="1400" dirty="0"/>
          </a:p>
        </p:txBody>
      </p:sp>
      <p:sp>
        <p:nvSpPr>
          <p:cNvPr id="16" name="Text 14"/>
          <p:cNvSpPr/>
          <p:nvPr/>
        </p:nvSpPr>
        <p:spPr>
          <a:xfrm>
            <a:off x="9482328" y="1947672"/>
            <a:ext cx="1929384" cy="3749040"/>
          </a:xfrm>
          <a:prstGeom prst="rect">
            <a:avLst/>
          </a:prstGeom>
          <a:noFill/>
          <a:ln/>
        </p:spPr>
        <p:txBody>
          <a:bodyPr wrap="square" lIns="254" tIns="254" rIns="254" bIns="254" rtlCol="0" anchor="t">
            <a:normAutofit/>
          </a:bodyPr>
          <a:lstStyle/>
          <a:p>
            <a:pPr indent="0" marL="0">
              <a:buNone/>
            </a:pPr>
            <a:r>
              <a:rPr lang="en-US" sz="1000" dirty="0">
                <a:solidFill>
                  <a:srgbClr val="475569"/>
                </a:solidFill>
                <a:latin typeface="Aptos" pitchFamily="34" charset="0"/>
                <a:ea typeface="Aptos" pitchFamily="34" charset="-122"/>
                <a:cs typeface="Aptos" pitchFamily="34" charset="-120"/>
              </a:rPr>
              <a:t>SQLite repository stores preset servers, user-selected server state, session-related cache, branch cache, model records, API keys, plugin ingest token, and configuration state.</a:t>
            </a:r>
            <a:endParaRPr lang="en-US" sz="10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API DISCIPLINE</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Verified Teamwork Cloud contract boundary</a:t>
            </a:r>
            <a:endParaRPr lang="en-US" sz="2700" dirty="0"/>
          </a:p>
        </p:txBody>
      </p:sp>
      <p:sp>
        <p:nvSpPr>
          <p:cNvPr id="5" name="Shape 3"/>
          <p:cNvSpPr/>
          <p:nvPr/>
        </p:nvSpPr>
        <p:spPr>
          <a:xfrm>
            <a:off x="640080" y="1417320"/>
            <a:ext cx="5349240" cy="4251960"/>
          </a:xfrm>
          <a:prstGeom prst="roundRect">
            <a:avLst>
              <a:gd name="adj" fmla="val 2581"/>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841248" y="1581912"/>
            <a:ext cx="494690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What the app intentionally uses</a:t>
            </a:r>
            <a:endParaRPr lang="en-US" sz="1400" dirty="0"/>
          </a:p>
        </p:txBody>
      </p:sp>
      <p:sp>
        <p:nvSpPr>
          <p:cNvPr id="7" name="Text 5"/>
          <p:cNvSpPr/>
          <p:nvPr/>
        </p:nvSpPr>
        <p:spPr>
          <a:xfrm>
            <a:off x="841248" y="2039112"/>
            <a:ext cx="4946904" cy="347472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 Verified Swagger in contracts/RealSwagger.json</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Workspaces, resources, branches, models, elements</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Revision diff</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Current-user validation</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Branch artifacts and batch element retrieval where exposed</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Contract-driven API Explorer for admin testing</a:t>
            </a:r>
            <a:endParaRPr lang="en-US" sz="1200" dirty="0"/>
          </a:p>
        </p:txBody>
      </p:sp>
      <p:sp>
        <p:nvSpPr>
          <p:cNvPr id="8" name="Shape 6"/>
          <p:cNvSpPr/>
          <p:nvPr/>
        </p:nvSpPr>
        <p:spPr>
          <a:xfrm>
            <a:off x="6309360" y="1417320"/>
            <a:ext cx="5212080" cy="4251960"/>
          </a:xfrm>
          <a:prstGeom prst="roundRect">
            <a:avLst>
              <a:gd name="adj" fmla="val 2581"/>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9" name="Text 7"/>
          <p:cNvSpPr/>
          <p:nvPr/>
        </p:nvSpPr>
        <p:spPr>
          <a:xfrm>
            <a:off x="6510528" y="1581912"/>
            <a:ext cx="4809744" cy="320040"/>
          </a:xfrm>
          <a:prstGeom prst="rect">
            <a:avLst/>
          </a:prstGeom>
          <a:noFill/>
          <a:ln/>
        </p:spPr>
        <p:txBody>
          <a:bodyPr wrap="square" lIns="127" tIns="127" rIns="127" bIns="127" rtlCol="0" anchor="ctr"/>
          <a:lstStyle/>
          <a:p>
            <a:pPr indent="0" marL="0">
              <a:buNone/>
            </a:pPr>
            <a:r>
              <a:rPr lang="en-US" sz="1400" b="1" dirty="0">
                <a:solidFill>
                  <a:srgbClr val="EF4444"/>
                </a:solidFill>
                <a:latin typeface="Aptos Display" pitchFamily="34" charset="0"/>
                <a:ea typeface="Aptos Display" pitchFamily="34" charset="-122"/>
                <a:cs typeface="Aptos Display" pitchFamily="34" charset="-120"/>
              </a:rPr>
              <a:t>What it avoids guessing</a:t>
            </a:r>
            <a:endParaRPr lang="en-US" sz="1400" dirty="0"/>
          </a:p>
        </p:txBody>
      </p:sp>
      <p:sp>
        <p:nvSpPr>
          <p:cNvPr id="10" name="Text 8"/>
          <p:cNvSpPr/>
          <p:nvPr/>
        </p:nvSpPr>
        <p:spPr>
          <a:xfrm>
            <a:off x="6510528" y="2039112"/>
            <a:ext cx="4809744" cy="347472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 No unsupported endpoints are treated as guaranteed</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Simulation, collaborator workspace, attachments, comments, documents, publish/export jobs, saved searches, bookmarks, and global model search are not presented unless the Swagger surface defines them</a:t>
            </a:r>
            <a:endParaRPr lang="en-US" sz="1200" dirty="0"/>
          </a:p>
          <a:p>
            <a:pPr indent="0" marL="0">
              <a:buNone/>
            </a:pPr>
            <a:r>
              <a:rPr lang="en-US" sz="1200" dirty="0">
                <a:solidFill>
                  <a:srgbClr val="475569"/>
                </a:solidFill>
                <a:latin typeface="Aptos" pitchFamily="34" charset="0"/>
                <a:ea typeface="Aptos" pitchFamily="34" charset="-122"/>
                <a:cs typeface="Aptos" pitchFamily="34" charset="-120"/>
              </a:rPr>
              <a:t>• Version behavior is isolated behind adapters and capability discovery</a:t>
            </a:r>
            <a:endParaRPr lang="en-US" sz="12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PERFORMANCE + AUTOMATION</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Cache-first model access and Developer API</a:t>
            </a:r>
            <a:endParaRPr lang="en-US" sz="2700" dirty="0"/>
          </a:p>
        </p:txBody>
      </p:sp>
      <p:sp>
        <p:nvSpPr>
          <p:cNvPr id="5" name="Shape 3"/>
          <p:cNvSpPr/>
          <p:nvPr/>
        </p:nvSpPr>
        <p:spPr>
          <a:xfrm>
            <a:off x="594360" y="1371600"/>
            <a:ext cx="3429000" cy="4343400"/>
          </a:xfrm>
          <a:prstGeom prst="roundRect">
            <a:avLst>
              <a:gd name="adj" fmla="val 32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795528" y="1536192"/>
            <a:ext cx="3026664" cy="320040"/>
          </a:xfrm>
          <a:prstGeom prst="rect">
            <a:avLst/>
          </a:prstGeom>
          <a:noFill/>
          <a:ln/>
        </p:spPr>
        <p:txBody>
          <a:bodyPr wrap="square" lIns="127" tIns="127" rIns="127" bIns="127" rtlCol="0" anchor="ctr"/>
          <a:lstStyle/>
          <a:p>
            <a:pPr indent="0" marL="0">
              <a:buNone/>
            </a:pPr>
            <a:r>
              <a:rPr lang="en-US" sz="1400" b="1" dirty="0">
                <a:solidFill>
                  <a:srgbClr val="10B981"/>
                </a:solidFill>
                <a:latin typeface="Aptos Display" pitchFamily="34" charset="0"/>
                <a:ea typeface="Aptos Display" pitchFamily="34" charset="-122"/>
                <a:cs typeface="Aptos Display" pitchFamily="34" charset="-120"/>
              </a:rPr>
              <a:t>Branch cache model</a:t>
            </a:r>
            <a:endParaRPr lang="en-US" sz="1400" dirty="0"/>
          </a:p>
        </p:txBody>
      </p:sp>
      <p:sp>
        <p:nvSpPr>
          <p:cNvPr id="7" name="Text 5"/>
          <p:cNvSpPr/>
          <p:nvPr/>
        </p:nvSpPr>
        <p:spPr>
          <a:xfrm>
            <a:off x="795528" y="1993392"/>
            <a:ext cx="3026664" cy="356616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Shared branch model payload is stored once. Per-user permission overlays stay separate, so cached access can remain scoped to the authenticated Workbench user.</a:t>
            </a:r>
            <a:endParaRPr lang="en-US" sz="1200" dirty="0"/>
          </a:p>
        </p:txBody>
      </p:sp>
      <p:sp>
        <p:nvSpPr>
          <p:cNvPr id="8" name="Shape 6"/>
          <p:cNvSpPr/>
          <p:nvPr/>
        </p:nvSpPr>
        <p:spPr>
          <a:xfrm>
            <a:off x="4370832" y="1371600"/>
            <a:ext cx="3429000" cy="4343400"/>
          </a:xfrm>
          <a:prstGeom prst="roundRect">
            <a:avLst>
              <a:gd name="adj" fmla="val 32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9" name="Text 7"/>
          <p:cNvSpPr/>
          <p:nvPr/>
        </p:nvSpPr>
        <p:spPr>
          <a:xfrm>
            <a:off x="4572000" y="1536192"/>
            <a:ext cx="302666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Cache endpoints</a:t>
            </a:r>
            <a:endParaRPr lang="en-US" sz="1400" dirty="0"/>
          </a:p>
        </p:txBody>
      </p:sp>
      <p:sp>
        <p:nvSpPr>
          <p:cNvPr id="10" name="Text 8"/>
          <p:cNvSpPr/>
          <p:nvPr/>
        </p:nvSpPr>
        <p:spPr>
          <a:xfrm>
            <a:off x="4572000" y="1993392"/>
            <a:ext cx="3026664" cy="356616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APIs expose cache manifest, projects, branches, models, elements, element details, containment tree, search by text, search by stereotype, graph, and cache-backed edits.</a:t>
            </a:r>
            <a:endParaRPr lang="en-US" sz="1200" dirty="0"/>
          </a:p>
        </p:txBody>
      </p:sp>
      <p:sp>
        <p:nvSpPr>
          <p:cNvPr id="11" name="Shape 9"/>
          <p:cNvSpPr/>
          <p:nvPr/>
        </p:nvSpPr>
        <p:spPr>
          <a:xfrm>
            <a:off x="8138160" y="1371600"/>
            <a:ext cx="3429000" cy="4343400"/>
          </a:xfrm>
          <a:prstGeom prst="roundRect">
            <a:avLst>
              <a:gd name="adj" fmla="val 32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2" name="Text 10"/>
          <p:cNvSpPr/>
          <p:nvPr/>
        </p:nvSpPr>
        <p:spPr>
          <a:xfrm>
            <a:off x="8339328" y="1536192"/>
            <a:ext cx="3026664" cy="320040"/>
          </a:xfrm>
          <a:prstGeom prst="rect">
            <a:avLst/>
          </a:prstGeom>
          <a:noFill/>
          <a:ln/>
        </p:spPr>
        <p:txBody>
          <a:bodyPr wrap="square" lIns="127" tIns="127" rIns="127" bIns="127" rtlCol="0" anchor="ctr"/>
          <a:lstStyle/>
          <a:p>
            <a:pPr indent="0" marL="0">
              <a:buNone/>
            </a:pPr>
            <a:r>
              <a:rPr lang="en-US" sz="1400" b="1" dirty="0">
                <a:solidFill>
                  <a:srgbClr val="7C3AED"/>
                </a:solidFill>
                <a:latin typeface="Aptos Display" pitchFamily="34" charset="0"/>
                <a:ea typeface="Aptos Display" pitchFamily="34" charset="-122"/>
                <a:cs typeface="Aptos Display" pitchFamily="34" charset="-120"/>
              </a:rPr>
              <a:t>Developer API keys</a:t>
            </a:r>
            <a:endParaRPr lang="en-US" sz="1400" dirty="0"/>
          </a:p>
        </p:txBody>
      </p:sp>
      <p:sp>
        <p:nvSpPr>
          <p:cNvPr id="13" name="Text 11"/>
          <p:cNvSpPr/>
          <p:nvPr/>
        </p:nvSpPr>
        <p:spPr>
          <a:xfrm>
            <a:off x="8339328" y="1993392"/>
            <a:ext cx="3026664" cy="356616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Users can create scoped bearer keys: read, write, and edit. The key identity maps back to the Workbench user for scoped cached visibility.</a:t>
            </a:r>
            <a:endParaRPr lang="en-US" sz="12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DESKTOP-TO-WEB BRIDGE</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Cameo plugin ingestion path</a:t>
            </a:r>
            <a:endParaRPr lang="en-US" sz="2700" dirty="0"/>
          </a:p>
        </p:txBody>
      </p:sp>
      <p:sp>
        <p:nvSpPr>
          <p:cNvPr id="5" name="Shape 3"/>
          <p:cNvSpPr/>
          <p:nvPr/>
        </p:nvSpPr>
        <p:spPr>
          <a:xfrm>
            <a:off x="640080" y="1234440"/>
            <a:ext cx="2194560" cy="1143000"/>
          </a:xfrm>
          <a:prstGeom prst="roundRect">
            <a:avLst>
              <a:gd name="adj" fmla="val 96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841248" y="1399032"/>
            <a:ext cx="1792224" cy="320040"/>
          </a:xfrm>
          <a:prstGeom prst="rect">
            <a:avLst/>
          </a:prstGeom>
          <a:noFill/>
          <a:ln/>
        </p:spPr>
        <p:txBody>
          <a:bodyPr wrap="square" lIns="127" tIns="127" rIns="127" bIns="127" rtlCol="0" anchor="ctr"/>
          <a:lstStyle/>
          <a:p>
            <a:pPr indent="0" marL="0">
              <a:buNone/>
            </a:pPr>
            <a:r>
              <a:rPr lang="en-US" sz="1400" b="1" dirty="0">
                <a:solidFill>
                  <a:srgbClr val="F59E0B"/>
                </a:solidFill>
                <a:latin typeface="Aptos Display" pitchFamily="34" charset="0"/>
                <a:ea typeface="Aptos Display" pitchFamily="34" charset="-122"/>
                <a:cs typeface="Aptos Display" pitchFamily="34" charset="-120"/>
              </a:rPr>
              <a:t>Cameo opens project</a:t>
            </a:r>
            <a:endParaRPr lang="en-US" sz="1400" dirty="0"/>
          </a:p>
        </p:txBody>
      </p:sp>
      <p:sp>
        <p:nvSpPr>
          <p:cNvPr id="7" name="Text 5"/>
          <p:cNvSpPr/>
          <p:nvPr/>
        </p:nvSpPr>
        <p:spPr>
          <a:xfrm>
            <a:off x="841248" y="1856232"/>
            <a:ext cx="1792224" cy="36576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Plugin captures baseline snapshot from the active remote TWC project.</a:t>
            </a:r>
            <a:endParaRPr lang="en-US" sz="950" dirty="0"/>
          </a:p>
        </p:txBody>
      </p:sp>
      <p:sp>
        <p:nvSpPr>
          <p:cNvPr id="8" name="Shape 6"/>
          <p:cNvSpPr/>
          <p:nvPr/>
        </p:nvSpPr>
        <p:spPr>
          <a:xfrm>
            <a:off x="2834640" y="1783080"/>
            <a:ext cx="502920" cy="0"/>
          </a:xfrm>
          <a:prstGeom prst="line">
            <a:avLst/>
          </a:prstGeom>
          <a:noFill/>
          <a:ln w="26670">
            <a:solidFill>
              <a:srgbClr val="F59E0B"/>
            </a:solidFill>
            <a:prstDash val="solid"/>
            <a:headEnd type="none"/>
            <a:tailEnd type="triangle"/>
          </a:ln>
        </p:spPr>
      </p:sp>
      <p:sp>
        <p:nvSpPr>
          <p:cNvPr id="9" name="Shape 7"/>
          <p:cNvSpPr/>
          <p:nvPr/>
        </p:nvSpPr>
        <p:spPr>
          <a:xfrm>
            <a:off x="3337560" y="1234440"/>
            <a:ext cx="2194560" cy="1143000"/>
          </a:xfrm>
          <a:prstGeom prst="roundRect">
            <a:avLst>
              <a:gd name="adj" fmla="val 96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0" name="Text 8"/>
          <p:cNvSpPr/>
          <p:nvPr/>
        </p:nvSpPr>
        <p:spPr>
          <a:xfrm>
            <a:off x="3538728" y="1399032"/>
            <a:ext cx="1792224" cy="320040"/>
          </a:xfrm>
          <a:prstGeom prst="rect">
            <a:avLst/>
          </a:prstGeom>
          <a:noFill/>
          <a:ln/>
        </p:spPr>
        <p:txBody>
          <a:bodyPr wrap="square" lIns="127" tIns="127" rIns="127" bIns="127" rtlCol="0" anchor="ctr"/>
          <a:lstStyle/>
          <a:p>
            <a:pPr indent="0" marL="0">
              <a:buNone/>
            </a:pPr>
            <a:r>
              <a:rPr lang="en-US" sz="1400" b="1" dirty="0">
                <a:solidFill>
                  <a:srgbClr val="F59E0B"/>
                </a:solidFill>
                <a:latin typeface="Aptos Display" pitchFamily="34" charset="0"/>
                <a:ea typeface="Aptos Display" pitchFamily="34" charset="-122"/>
                <a:cs typeface="Aptos Display" pitchFamily="34" charset="-120"/>
              </a:rPr>
              <a:t>Save or close</a:t>
            </a:r>
            <a:endParaRPr lang="en-US" sz="1400" dirty="0"/>
          </a:p>
        </p:txBody>
      </p:sp>
      <p:sp>
        <p:nvSpPr>
          <p:cNvPr id="11" name="Text 9"/>
          <p:cNvSpPr/>
          <p:nvPr/>
        </p:nvSpPr>
        <p:spPr>
          <a:xfrm>
            <a:off x="3538728" y="1856232"/>
            <a:ext cx="1792224" cy="36576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Plugin computes delta when possible, full snapshot when needed.</a:t>
            </a:r>
            <a:endParaRPr lang="en-US" sz="950" dirty="0"/>
          </a:p>
        </p:txBody>
      </p:sp>
      <p:sp>
        <p:nvSpPr>
          <p:cNvPr id="12" name="Shape 10"/>
          <p:cNvSpPr/>
          <p:nvPr/>
        </p:nvSpPr>
        <p:spPr>
          <a:xfrm>
            <a:off x="5532120" y="1783080"/>
            <a:ext cx="502920" cy="0"/>
          </a:xfrm>
          <a:prstGeom prst="line">
            <a:avLst/>
          </a:prstGeom>
          <a:noFill/>
          <a:ln w="26670">
            <a:solidFill>
              <a:srgbClr val="10B981"/>
            </a:solidFill>
            <a:prstDash val="solid"/>
            <a:headEnd type="none"/>
            <a:tailEnd type="triangle"/>
          </a:ln>
        </p:spPr>
      </p:sp>
      <p:sp>
        <p:nvSpPr>
          <p:cNvPr id="13" name="Shape 11"/>
          <p:cNvSpPr/>
          <p:nvPr/>
        </p:nvSpPr>
        <p:spPr>
          <a:xfrm>
            <a:off x="6035040" y="1234440"/>
            <a:ext cx="2423160" cy="1143000"/>
          </a:xfrm>
          <a:prstGeom prst="roundRect">
            <a:avLst>
              <a:gd name="adj" fmla="val 96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4" name="Text 12"/>
          <p:cNvSpPr/>
          <p:nvPr/>
        </p:nvSpPr>
        <p:spPr>
          <a:xfrm>
            <a:off x="6236208" y="1399032"/>
            <a:ext cx="2020824" cy="320040"/>
          </a:xfrm>
          <a:prstGeom prst="rect">
            <a:avLst/>
          </a:prstGeom>
          <a:noFill/>
          <a:ln/>
        </p:spPr>
        <p:txBody>
          <a:bodyPr wrap="square" lIns="127" tIns="127" rIns="127" bIns="127" rtlCol="0" anchor="ctr"/>
          <a:lstStyle/>
          <a:p>
            <a:pPr indent="0" marL="0">
              <a:buNone/>
            </a:pPr>
            <a:r>
              <a:rPr lang="en-US" sz="1400" b="1" dirty="0">
                <a:solidFill>
                  <a:srgbClr val="10B981"/>
                </a:solidFill>
                <a:latin typeface="Aptos Display" pitchFamily="34" charset="0"/>
                <a:ea typeface="Aptos Display" pitchFamily="34" charset="-122"/>
                <a:cs typeface="Aptos Display" pitchFamily="34" charset="-120"/>
              </a:rPr>
              <a:t>Workbench ingest</a:t>
            </a:r>
            <a:endParaRPr lang="en-US" sz="1400" dirty="0"/>
          </a:p>
        </p:txBody>
      </p:sp>
      <p:sp>
        <p:nvSpPr>
          <p:cNvPr id="15" name="Text 13"/>
          <p:cNvSpPr/>
          <p:nvPr/>
        </p:nvSpPr>
        <p:spPr>
          <a:xfrm>
            <a:off x="6236208" y="1856232"/>
            <a:ext cx="2020824" cy="36576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Posts branch snapshots or deltas with bearer token auth.</a:t>
            </a:r>
            <a:endParaRPr lang="en-US" sz="950" dirty="0"/>
          </a:p>
        </p:txBody>
      </p:sp>
      <p:sp>
        <p:nvSpPr>
          <p:cNvPr id="16" name="Shape 14"/>
          <p:cNvSpPr/>
          <p:nvPr/>
        </p:nvSpPr>
        <p:spPr>
          <a:xfrm>
            <a:off x="8458200" y="1783080"/>
            <a:ext cx="502920" cy="0"/>
          </a:xfrm>
          <a:prstGeom prst="line">
            <a:avLst/>
          </a:prstGeom>
          <a:noFill/>
          <a:ln w="26670">
            <a:solidFill>
              <a:srgbClr val="10B981"/>
            </a:solidFill>
            <a:prstDash val="solid"/>
            <a:headEnd type="none"/>
            <a:tailEnd type="triangle"/>
          </a:ln>
        </p:spPr>
      </p:sp>
      <p:sp>
        <p:nvSpPr>
          <p:cNvPr id="17" name="Shape 15"/>
          <p:cNvSpPr/>
          <p:nvPr/>
        </p:nvSpPr>
        <p:spPr>
          <a:xfrm>
            <a:off x="8961120" y="1234440"/>
            <a:ext cx="2423160" cy="1143000"/>
          </a:xfrm>
          <a:prstGeom prst="roundRect">
            <a:avLst>
              <a:gd name="adj" fmla="val 96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8" name="Text 16"/>
          <p:cNvSpPr/>
          <p:nvPr/>
        </p:nvSpPr>
        <p:spPr>
          <a:xfrm>
            <a:off x="9162288" y="1399032"/>
            <a:ext cx="202082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Cached model data</a:t>
            </a:r>
            <a:endParaRPr lang="en-US" sz="1400" dirty="0"/>
          </a:p>
        </p:txBody>
      </p:sp>
      <p:sp>
        <p:nvSpPr>
          <p:cNvPr id="19" name="Text 17"/>
          <p:cNvSpPr/>
          <p:nvPr/>
        </p:nvSpPr>
        <p:spPr>
          <a:xfrm>
            <a:off x="9162288" y="1856232"/>
            <a:ext cx="2020824" cy="36576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Workbench stores cache records for browser and Developer API use.</a:t>
            </a:r>
            <a:endParaRPr lang="en-US" sz="950" dirty="0"/>
          </a:p>
        </p:txBody>
      </p:sp>
      <p:sp>
        <p:nvSpPr>
          <p:cNvPr id="20" name="Shape 18"/>
          <p:cNvSpPr/>
          <p:nvPr/>
        </p:nvSpPr>
        <p:spPr>
          <a:xfrm>
            <a:off x="914400" y="3017520"/>
            <a:ext cx="4892040" cy="2148840"/>
          </a:xfrm>
          <a:prstGeom prst="roundRect">
            <a:avLst>
              <a:gd name="adj" fmla="val 510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21" name="Text 19"/>
          <p:cNvSpPr/>
          <p:nvPr/>
        </p:nvSpPr>
        <p:spPr>
          <a:xfrm>
            <a:off x="1115568" y="3182112"/>
            <a:ext cx="4489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What the plugin exports</a:t>
            </a:r>
            <a:endParaRPr lang="en-US" sz="1400" dirty="0"/>
          </a:p>
        </p:txBody>
      </p:sp>
      <p:sp>
        <p:nvSpPr>
          <p:cNvPr id="22" name="Text 20"/>
          <p:cNvSpPr/>
          <p:nvPr/>
        </p:nvSpPr>
        <p:spPr>
          <a:xfrm>
            <a:off x="1115568" y="3639312"/>
            <a:ext cx="4489704" cy="137160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Names, qualified names, stereotypes, documentation, attributes, cross-element references, model records, branch metadata, and payloads mapped to Workbench server/project/branch identity.</a:t>
            </a:r>
            <a:endParaRPr lang="en-US" sz="1200" dirty="0"/>
          </a:p>
        </p:txBody>
      </p:sp>
      <p:sp>
        <p:nvSpPr>
          <p:cNvPr id="23" name="Shape 21"/>
          <p:cNvSpPr/>
          <p:nvPr/>
        </p:nvSpPr>
        <p:spPr>
          <a:xfrm>
            <a:off x="6355080" y="3017520"/>
            <a:ext cx="4892040" cy="2148840"/>
          </a:xfrm>
          <a:prstGeom prst="roundRect">
            <a:avLst>
              <a:gd name="adj" fmla="val 510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24" name="Text 22"/>
          <p:cNvSpPr/>
          <p:nvPr/>
        </p:nvSpPr>
        <p:spPr>
          <a:xfrm>
            <a:off x="6556248" y="3182112"/>
            <a:ext cx="4489704" cy="320040"/>
          </a:xfrm>
          <a:prstGeom prst="rect">
            <a:avLst/>
          </a:prstGeom>
          <a:noFill/>
          <a:ln/>
        </p:spPr>
        <p:txBody>
          <a:bodyPr wrap="square" lIns="127" tIns="127" rIns="127" bIns="127" rtlCol="0" anchor="ctr"/>
          <a:lstStyle/>
          <a:p>
            <a:pPr indent="0" marL="0">
              <a:buNone/>
            </a:pPr>
            <a:r>
              <a:rPr lang="en-US" sz="1400" b="1" dirty="0">
                <a:solidFill>
                  <a:srgbClr val="14B8A6"/>
                </a:solidFill>
                <a:latin typeface="Aptos Display" pitchFamily="34" charset="0"/>
                <a:ea typeface="Aptos Display" pitchFamily="34" charset="-122"/>
                <a:cs typeface="Aptos Display" pitchFamily="34" charset="-120"/>
              </a:rPr>
              <a:t>Why this matters</a:t>
            </a:r>
            <a:endParaRPr lang="en-US" sz="1400" dirty="0"/>
          </a:p>
        </p:txBody>
      </p:sp>
      <p:sp>
        <p:nvSpPr>
          <p:cNvPr id="25" name="Text 23"/>
          <p:cNvSpPr/>
          <p:nvPr/>
        </p:nvSpPr>
        <p:spPr>
          <a:xfrm>
            <a:off x="6556248" y="3639312"/>
            <a:ext cx="4489704" cy="137160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It avoids forcing the browser to walk every live TWC structure on demand. Cameo can push rich model snapshots into Workbench, and Workbench can serve them quickly with permission-aware overlays.</a:t>
            </a:r>
            <a:endParaRPr lang="en-US" sz="12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CONTROL POINTS</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Security and deployment model</a:t>
            </a:r>
            <a:endParaRPr lang="en-US" sz="2700" dirty="0"/>
          </a:p>
        </p:txBody>
      </p:sp>
      <p:sp>
        <p:nvSpPr>
          <p:cNvPr id="5" name="Shape 3"/>
          <p:cNvSpPr/>
          <p:nvPr/>
        </p:nvSpPr>
        <p:spPr>
          <a:xfrm>
            <a:off x="594360" y="1325880"/>
            <a:ext cx="2651760" cy="4480560"/>
          </a:xfrm>
          <a:prstGeom prst="roundRect">
            <a:avLst>
              <a:gd name="adj" fmla="val 4138"/>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795528" y="1490472"/>
            <a:ext cx="2249424" cy="320040"/>
          </a:xfrm>
          <a:prstGeom prst="rect">
            <a:avLst/>
          </a:prstGeom>
          <a:noFill/>
          <a:ln/>
        </p:spPr>
        <p:txBody>
          <a:bodyPr wrap="square" lIns="127" tIns="127" rIns="127" bIns="127" rtlCol="0" anchor="ctr"/>
          <a:lstStyle/>
          <a:p>
            <a:pPr indent="0" marL="0">
              <a:buNone/>
            </a:pPr>
            <a:r>
              <a:rPr lang="en-US" sz="1400" b="1" dirty="0">
                <a:solidFill>
                  <a:srgbClr val="7C3AED"/>
                </a:solidFill>
                <a:latin typeface="Aptos Display" pitchFamily="34" charset="0"/>
                <a:ea typeface="Aptos Display" pitchFamily="34" charset="-122"/>
                <a:cs typeface="Aptos Display" pitchFamily="34" charset="-120"/>
              </a:rPr>
              <a:t>Token protection</a:t>
            </a:r>
            <a:endParaRPr lang="en-US" sz="1400" dirty="0"/>
          </a:p>
        </p:txBody>
      </p:sp>
      <p:sp>
        <p:nvSpPr>
          <p:cNvPr id="7" name="Text 5"/>
          <p:cNvSpPr/>
          <p:nvPr/>
        </p:nvSpPr>
        <p:spPr>
          <a:xfrm>
            <a:off x="795528" y="1947672"/>
            <a:ext cx="2249424" cy="370332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Tokens stay server-side inside secure sessions. Browser storage is not used for delegated TWC credentials.</a:t>
            </a:r>
            <a:endParaRPr lang="en-US" sz="1200" dirty="0"/>
          </a:p>
        </p:txBody>
      </p:sp>
      <p:sp>
        <p:nvSpPr>
          <p:cNvPr id="8" name="Shape 6"/>
          <p:cNvSpPr/>
          <p:nvPr/>
        </p:nvSpPr>
        <p:spPr>
          <a:xfrm>
            <a:off x="3493008" y="1325880"/>
            <a:ext cx="2651760" cy="4480560"/>
          </a:xfrm>
          <a:prstGeom prst="roundRect">
            <a:avLst>
              <a:gd name="adj" fmla="val 4138"/>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9" name="Text 7"/>
          <p:cNvSpPr/>
          <p:nvPr/>
        </p:nvSpPr>
        <p:spPr>
          <a:xfrm>
            <a:off x="3694176" y="1490472"/>
            <a:ext cx="224942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HTTP-only sessions</a:t>
            </a:r>
            <a:endParaRPr lang="en-US" sz="1400" dirty="0"/>
          </a:p>
        </p:txBody>
      </p:sp>
      <p:sp>
        <p:nvSpPr>
          <p:cNvPr id="10" name="Text 8"/>
          <p:cNvSpPr/>
          <p:nvPr/>
        </p:nvSpPr>
        <p:spPr>
          <a:xfrm>
            <a:off x="3694176" y="1947672"/>
            <a:ext cx="2249424" cy="370332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Session cookies support secure deployment behind HTTPS. Redis can be enabled for session backend needs.</a:t>
            </a:r>
            <a:endParaRPr lang="en-US" sz="1200" dirty="0"/>
          </a:p>
        </p:txBody>
      </p:sp>
      <p:sp>
        <p:nvSpPr>
          <p:cNvPr id="11" name="Shape 9"/>
          <p:cNvSpPr/>
          <p:nvPr/>
        </p:nvSpPr>
        <p:spPr>
          <a:xfrm>
            <a:off x="6391656" y="1325880"/>
            <a:ext cx="2651760" cy="4480560"/>
          </a:xfrm>
          <a:prstGeom prst="roundRect">
            <a:avLst>
              <a:gd name="adj" fmla="val 4138"/>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2" name="Text 10"/>
          <p:cNvSpPr/>
          <p:nvPr/>
        </p:nvSpPr>
        <p:spPr>
          <a:xfrm>
            <a:off x="6592824" y="1490472"/>
            <a:ext cx="2249424" cy="320040"/>
          </a:xfrm>
          <a:prstGeom prst="rect">
            <a:avLst/>
          </a:prstGeom>
          <a:noFill/>
          <a:ln/>
        </p:spPr>
        <p:txBody>
          <a:bodyPr wrap="square" lIns="127" tIns="127" rIns="127" bIns="127" rtlCol="0" anchor="ctr"/>
          <a:lstStyle/>
          <a:p>
            <a:pPr indent="0" marL="0">
              <a:buNone/>
            </a:pPr>
            <a:r>
              <a:rPr lang="en-US" sz="1400" b="1" dirty="0">
                <a:solidFill>
                  <a:srgbClr val="14B8A6"/>
                </a:solidFill>
                <a:latin typeface="Aptos Display" pitchFamily="34" charset="0"/>
                <a:ea typeface="Aptos Display" pitchFamily="34" charset="-122"/>
                <a:cs typeface="Aptos Display" pitchFamily="34" charset="-120"/>
              </a:rPr>
              <a:t>Preset servers</a:t>
            </a:r>
            <a:endParaRPr lang="en-US" sz="1400" dirty="0"/>
          </a:p>
        </p:txBody>
      </p:sp>
      <p:sp>
        <p:nvSpPr>
          <p:cNvPr id="13" name="Text 11"/>
          <p:cNvSpPr/>
          <p:nvPr/>
        </p:nvSpPr>
        <p:spPr>
          <a:xfrm>
            <a:off x="6592824" y="1947672"/>
            <a:ext cx="2249424" cy="370332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TWC targets are defined centrally in backend configuration, then exposed to the landing page as enabled server choices.</a:t>
            </a:r>
            <a:endParaRPr lang="en-US" sz="1200" dirty="0"/>
          </a:p>
        </p:txBody>
      </p:sp>
      <p:sp>
        <p:nvSpPr>
          <p:cNvPr id="14" name="Shape 12"/>
          <p:cNvSpPr/>
          <p:nvPr/>
        </p:nvSpPr>
        <p:spPr>
          <a:xfrm>
            <a:off x="9281160" y="1325880"/>
            <a:ext cx="2331720" cy="4480560"/>
          </a:xfrm>
          <a:prstGeom prst="roundRect">
            <a:avLst>
              <a:gd name="adj" fmla="val 470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5" name="Text 13"/>
          <p:cNvSpPr/>
          <p:nvPr/>
        </p:nvSpPr>
        <p:spPr>
          <a:xfrm>
            <a:off x="9482328" y="1490472"/>
            <a:ext cx="1929384" cy="320040"/>
          </a:xfrm>
          <a:prstGeom prst="rect">
            <a:avLst/>
          </a:prstGeom>
          <a:noFill/>
          <a:ln/>
        </p:spPr>
        <p:txBody>
          <a:bodyPr wrap="square" lIns="127" tIns="127" rIns="127" bIns="127" rtlCol="0" anchor="ctr"/>
          <a:lstStyle/>
          <a:p>
            <a:pPr indent="0" marL="0">
              <a:buNone/>
            </a:pPr>
            <a:r>
              <a:rPr lang="en-US" sz="1400" b="1" dirty="0">
                <a:solidFill>
                  <a:srgbClr val="10B981"/>
                </a:solidFill>
                <a:latin typeface="Aptos Display" pitchFamily="34" charset="0"/>
                <a:ea typeface="Aptos Display" pitchFamily="34" charset="-122"/>
                <a:cs typeface="Aptos Display" pitchFamily="34" charset="-120"/>
              </a:rPr>
              <a:t>Single-origin launch</a:t>
            </a:r>
            <a:endParaRPr lang="en-US" sz="1400" dirty="0"/>
          </a:p>
        </p:txBody>
      </p:sp>
      <p:sp>
        <p:nvSpPr>
          <p:cNvPr id="16" name="Text 14"/>
          <p:cNvSpPr/>
          <p:nvPr/>
        </p:nvSpPr>
        <p:spPr>
          <a:xfrm>
            <a:off x="9482328" y="1947672"/>
            <a:ext cx="1929384" cy="370332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Launch scripts build the frontend and start FastAPI so the backend can serve both API routes and the built SPA.</a:t>
            </a:r>
            <a:endParaRPr lang="en-US" sz="12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HOW REQUESTS MOVE</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End-to-end data flow</a:t>
            </a:r>
            <a:endParaRPr lang="en-US" sz="2700" dirty="0"/>
          </a:p>
        </p:txBody>
      </p:sp>
      <p:sp>
        <p:nvSpPr>
          <p:cNvPr id="5" name="Shape 3"/>
          <p:cNvSpPr/>
          <p:nvPr/>
        </p:nvSpPr>
        <p:spPr>
          <a:xfrm>
            <a:off x="685800" y="1417320"/>
            <a:ext cx="3108960" cy="1325880"/>
          </a:xfrm>
          <a:prstGeom prst="roundRect">
            <a:avLst>
              <a:gd name="adj" fmla="val 827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Shape 4"/>
          <p:cNvSpPr/>
          <p:nvPr/>
        </p:nvSpPr>
        <p:spPr>
          <a:xfrm>
            <a:off x="850392" y="1581912"/>
            <a:ext cx="420624" cy="301752"/>
          </a:xfrm>
          <a:prstGeom prst="roundRect">
            <a:avLst>
              <a:gd name="adj" fmla="val 24242"/>
            </a:avLst>
          </a:prstGeom>
          <a:solidFill>
            <a:srgbClr val="2563EB"/>
          </a:solidFill>
          <a:ln w="12700">
            <a:solidFill>
              <a:srgbClr val="2563EB"/>
            </a:solidFill>
            <a:prstDash val="solid"/>
          </a:ln>
        </p:spPr>
      </p:sp>
      <p:sp>
        <p:nvSpPr>
          <p:cNvPr id="7" name="Text 5"/>
          <p:cNvSpPr/>
          <p:nvPr/>
        </p:nvSpPr>
        <p:spPr>
          <a:xfrm>
            <a:off x="850392" y="162306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1</a:t>
            </a:r>
            <a:endParaRPr lang="en-US" sz="800" dirty="0"/>
          </a:p>
        </p:txBody>
      </p:sp>
      <p:sp>
        <p:nvSpPr>
          <p:cNvPr id="8" name="Text 6"/>
          <p:cNvSpPr/>
          <p:nvPr/>
        </p:nvSpPr>
        <p:spPr>
          <a:xfrm>
            <a:off x="1389888" y="1581912"/>
            <a:ext cx="2203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User action</a:t>
            </a:r>
            <a:endParaRPr lang="en-US" sz="1400" dirty="0"/>
          </a:p>
        </p:txBody>
      </p:sp>
      <p:sp>
        <p:nvSpPr>
          <p:cNvPr id="9" name="Text 7"/>
          <p:cNvSpPr/>
          <p:nvPr/>
        </p:nvSpPr>
        <p:spPr>
          <a:xfrm>
            <a:off x="886968" y="2039112"/>
            <a:ext cx="2706624" cy="54864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Click project, model, item, compare, API key, or agent action.</a:t>
            </a:r>
            <a:endParaRPr lang="en-US" sz="950" dirty="0"/>
          </a:p>
        </p:txBody>
      </p:sp>
      <p:sp>
        <p:nvSpPr>
          <p:cNvPr id="10" name="Shape 8"/>
          <p:cNvSpPr/>
          <p:nvPr/>
        </p:nvSpPr>
        <p:spPr>
          <a:xfrm>
            <a:off x="3794760" y="2084832"/>
            <a:ext cx="640080" cy="0"/>
          </a:xfrm>
          <a:prstGeom prst="line">
            <a:avLst/>
          </a:prstGeom>
          <a:noFill/>
          <a:ln w="26670">
            <a:solidFill>
              <a:srgbClr val="2563EB"/>
            </a:solidFill>
            <a:prstDash val="solid"/>
            <a:headEnd type="none"/>
            <a:tailEnd type="triangle"/>
          </a:ln>
        </p:spPr>
      </p:sp>
      <p:sp>
        <p:nvSpPr>
          <p:cNvPr id="11" name="Shape 9"/>
          <p:cNvSpPr/>
          <p:nvPr/>
        </p:nvSpPr>
        <p:spPr>
          <a:xfrm>
            <a:off x="4480560" y="1417320"/>
            <a:ext cx="3108960" cy="1325880"/>
          </a:xfrm>
          <a:prstGeom prst="roundRect">
            <a:avLst>
              <a:gd name="adj" fmla="val 827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2" name="Shape 10"/>
          <p:cNvSpPr/>
          <p:nvPr/>
        </p:nvSpPr>
        <p:spPr>
          <a:xfrm>
            <a:off x="4645152" y="1581912"/>
            <a:ext cx="420624" cy="301752"/>
          </a:xfrm>
          <a:prstGeom prst="roundRect">
            <a:avLst>
              <a:gd name="adj" fmla="val 24242"/>
            </a:avLst>
          </a:prstGeom>
          <a:solidFill>
            <a:srgbClr val="14B8A6"/>
          </a:solidFill>
          <a:ln w="12700">
            <a:solidFill>
              <a:srgbClr val="14B8A6"/>
            </a:solidFill>
            <a:prstDash val="solid"/>
          </a:ln>
        </p:spPr>
      </p:sp>
      <p:sp>
        <p:nvSpPr>
          <p:cNvPr id="13" name="Text 11"/>
          <p:cNvSpPr/>
          <p:nvPr/>
        </p:nvSpPr>
        <p:spPr>
          <a:xfrm>
            <a:off x="4645152" y="162306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2</a:t>
            </a:r>
            <a:endParaRPr lang="en-US" sz="800" dirty="0"/>
          </a:p>
        </p:txBody>
      </p:sp>
      <p:sp>
        <p:nvSpPr>
          <p:cNvPr id="14" name="Text 12"/>
          <p:cNvSpPr/>
          <p:nvPr/>
        </p:nvSpPr>
        <p:spPr>
          <a:xfrm>
            <a:off x="5184648" y="1581912"/>
            <a:ext cx="2203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React service call</a:t>
            </a:r>
            <a:endParaRPr lang="en-US" sz="1400" dirty="0"/>
          </a:p>
        </p:txBody>
      </p:sp>
      <p:sp>
        <p:nvSpPr>
          <p:cNvPr id="15" name="Text 13"/>
          <p:cNvSpPr/>
          <p:nvPr/>
        </p:nvSpPr>
        <p:spPr>
          <a:xfrm>
            <a:off x="4681728" y="2039112"/>
            <a:ext cx="2706624" cy="54864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frontend/src/services/api.ts sends a request to backend API routes.</a:t>
            </a:r>
            <a:endParaRPr lang="en-US" sz="950" dirty="0"/>
          </a:p>
        </p:txBody>
      </p:sp>
      <p:sp>
        <p:nvSpPr>
          <p:cNvPr id="16" name="Shape 14"/>
          <p:cNvSpPr/>
          <p:nvPr/>
        </p:nvSpPr>
        <p:spPr>
          <a:xfrm>
            <a:off x="7589520" y="2084832"/>
            <a:ext cx="640080" cy="0"/>
          </a:xfrm>
          <a:prstGeom prst="line">
            <a:avLst/>
          </a:prstGeom>
          <a:noFill/>
          <a:ln w="26670">
            <a:solidFill>
              <a:srgbClr val="2563EB"/>
            </a:solidFill>
            <a:prstDash val="solid"/>
            <a:headEnd type="none"/>
            <a:tailEnd type="triangle"/>
          </a:ln>
        </p:spPr>
      </p:sp>
      <p:sp>
        <p:nvSpPr>
          <p:cNvPr id="17" name="Shape 15"/>
          <p:cNvSpPr/>
          <p:nvPr/>
        </p:nvSpPr>
        <p:spPr>
          <a:xfrm>
            <a:off x="8275320" y="1417320"/>
            <a:ext cx="3108960" cy="1325880"/>
          </a:xfrm>
          <a:prstGeom prst="roundRect">
            <a:avLst>
              <a:gd name="adj" fmla="val 827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8" name="Shape 16"/>
          <p:cNvSpPr/>
          <p:nvPr/>
        </p:nvSpPr>
        <p:spPr>
          <a:xfrm>
            <a:off x="8439912" y="1581912"/>
            <a:ext cx="420624" cy="301752"/>
          </a:xfrm>
          <a:prstGeom prst="roundRect">
            <a:avLst>
              <a:gd name="adj" fmla="val 24242"/>
            </a:avLst>
          </a:prstGeom>
          <a:solidFill>
            <a:srgbClr val="7C3AED"/>
          </a:solidFill>
          <a:ln w="12700">
            <a:solidFill>
              <a:srgbClr val="7C3AED"/>
            </a:solidFill>
            <a:prstDash val="solid"/>
          </a:ln>
        </p:spPr>
      </p:sp>
      <p:sp>
        <p:nvSpPr>
          <p:cNvPr id="19" name="Text 17"/>
          <p:cNvSpPr/>
          <p:nvPr/>
        </p:nvSpPr>
        <p:spPr>
          <a:xfrm>
            <a:off x="8439912" y="162306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3</a:t>
            </a:r>
            <a:endParaRPr lang="en-US" sz="800" dirty="0"/>
          </a:p>
        </p:txBody>
      </p:sp>
      <p:sp>
        <p:nvSpPr>
          <p:cNvPr id="20" name="Text 18"/>
          <p:cNvSpPr/>
          <p:nvPr/>
        </p:nvSpPr>
        <p:spPr>
          <a:xfrm>
            <a:off x="8979408" y="1581912"/>
            <a:ext cx="2203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FastAPI route</a:t>
            </a:r>
            <a:endParaRPr lang="en-US" sz="1400" dirty="0"/>
          </a:p>
        </p:txBody>
      </p:sp>
      <p:sp>
        <p:nvSpPr>
          <p:cNvPr id="21" name="Text 19"/>
          <p:cNvSpPr/>
          <p:nvPr/>
        </p:nvSpPr>
        <p:spPr>
          <a:xfrm>
            <a:off x="8476488" y="2039112"/>
            <a:ext cx="2706624" cy="54864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Route validates session and delegates to PlatformService.</a:t>
            </a:r>
            <a:endParaRPr lang="en-US" sz="950" dirty="0"/>
          </a:p>
        </p:txBody>
      </p:sp>
      <p:sp>
        <p:nvSpPr>
          <p:cNvPr id="22" name="Shape 20"/>
          <p:cNvSpPr/>
          <p:nvPr/>
        </p:nvSpPr>
        <p:spPr>
          <a:xfrm>
            <a:off x="685800" y="3749040"/>
            <a:ext cx="3108960" cy="1325880"/>
          </a:xfrm>
          <a:prstGeom prst="roundRect">
            <a:avLst>
              <a:gd name="adj" fmla="val 827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23" name="Shape 21"/>
          <p:cNvSpPr/>
          <p:nvPr/>
        </p:nvSpPr>
        <p:spPr>
          <a:xfrm>
            <a:off x="850392" y="3913632"/>
            <a:ext cx="420624" cy="301752"/>
          </a:xfrm>
          <a:prstGeom prst="roundRect">
            <a:avLst>
              <a:gd name="adj" fmla="val 24242"/>
            </a:avLst>
          </a:prstGeom>
          <a:solidFill>
            <a:srgbClr val="10B981"/>
          </a:solidFill>
          <a:ln w="12700">
            <a:solidFill>
              <a:srgbClr val="10B981"/>
            </a:solidFill>
            <a:prstDash val="solid"/>
          </a:ln>
        </p:spPr>
      </p:sp>
      <p:sp>
        <p:nvSpPr>
          <p:cNvPr id="24" name="Text 22"/>
          <p:cNvSpPr/>
          <p:nvPr/>
        </p:nvSpPr>
        <p:spPr>
          <a:xfrm>
            <a:off x="850392" y="395478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4</a:t>
            </a:r>
            <a:endParaRPr lang="en-US" sz="800" dirty="0"/>
          </a:p>
        </p:txBody>
      </p:sp>
      <p:sp>
        <p:nvSpPr>
          <p:cNvPr id="25" name="Text 23"/>
          <p:cNvSpPr/>
          <p:nvPr/>
        </p:nvSpPr>
        <p:spPr>
          <a:xfrm>
            <a:off x="1389888" y="3913632"/>
            <a:ext cx="2203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PlatformService</a:t>
            </a:r>
            <a:endParaRPr lang="en-US" sz="1400" dirty="0"/>
          </a:p>
        </p:txBody>
      </p:sp>
      <p:sp>
        <p:nvSpPr>
          <p:cNvPr id="26" name="Text 24"/>
          <p:cNvSpPr/>
          <p:nvPr/>
        </p:nvSpPr>
        <p:spPr>
          <a:xfrm>
            <a:off x="886968" y="4370832"/>
            <a:ext cx="2706624" cy="54864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Chooses live adapter, cache path, storage action, or job workflow.</a:t>
            </a:r>
            <a:endParaRPr lang="en-US" sz="950" dirty="0"/>
          </a:p>
        </p:txBody>
      </p:sp>
      <p:sp>
        <p:nvSpPr>
          <p:cNvPr id="27" name="Shape 25"/>
          <p:cNvSpPr/>
          <p:nvPr/>
        </p:nvSpPr>
        <p:spPr>
          <a:xfrm>
            <a:off x="3794760" y="4416552"/>
            <a:ext cx="640080" cy="0"/>
          </a:xfrm>
          <a:prstGeom prst="line">
            <a:avLst/>
          </a:prstGeom>
          <a:noFill/>
          <a:ln w="26670">
            <a:solidFill>
              <a:srgbClr val="2563EB"/>
            </a:solidFill>
            <a:prstDash val="solid"/>
            <a:headEnd type="none"/>
            <a:tailEnd type="triangle"/>
          </a:ln>
        </p:spPr>
      </p:sp>
      <p:sp>
        <p:nvSpPr>
          <p:cNvPr id="28" name="Shape 26"/>
          <p:cNvSpPr/>
          <p:nvPr/>
        </p:nvSpPr>
        <p:spPr>
          <a:xfrm>
            <a:off x="4480560" y="3749040"/>
            <a:ext cx="3108960" cy="1325880"/>
          </a:xfrm>
          <a:prstGeom prst="roundRect">
            <a:avLst>
              <a:gd name="adj" fmla="val 827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29" name="Shape 27"/>
          <p:cNvSpPr/>
          <p:nvPr/>
        </p:nvSpPr>
        <p:spPr>
          <a:xfrm>
            <a:off x="4645152" y="3913632"/>
            <a:ext cx="420624" cy="301752"/>
          </a:xfrm>
          <a:prstGeom prst="roundRect">
            <a:avLst>
              <a:gd name="adj" fmla="val 24242"/>
            </a:avLst>
          </a:prstGeom>
          <a:solidFill>
            <a:srgbClr val="F59E0B"/>
          </a:solidFill>
          <a:ln w="12700">
            <a:solidFill>
              <a:srgbClr val="F59E0B"/>
            </a:solidFill>
            <a:prstDash val="solid"/>
          </a:ln>
        </p:spPr>
      </p:sp>
      <p:sp>
        <p:nvSpPr>
          <p:cNvPr id="30" name="Text 28"/>
          <p:cNvSpPr/>
          <p:nvPr/>
        </p:nvSpPr>
        <p:spPr>
          <a:xfrm>
            <a:off x="4645152" y="395478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5</a:t>
            </a:r>
            <a:endParaRPr lang="en-US" sz="800" dirty="0"/>
          </a:p>
        </p:txBody>
      </p:sp>
      <p:sp>
        <p:nvSpPr>
          <p:cNvPr id="31" name="Text 29"/>
          <p:cNvSpPr/>
          <p:nvPr/>
        </p:nvSpPr>
        <p:spPr>
          <a:xfrm>
            <a:off x="5184648" y="3913632"/>
            <a:ext cx="2203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Adapter/cache</a:t>
            </a:r>
            <a:endParaRPr lang="en-US" sz="1400" dirty="0"/>
          </a:p>
        </p:txBody>
      </p:sp>
      <p:sp>
        <p:nvSpPr>
          <p:cNvPr id="32" name="Text 30"/>
          <p:cNvSpPr/>
          <p:nvPr/>
        </p:nvSpPr>
        <p:spPr>
          <a:xfrm>
            <a:off x="4681728" y="4370832"/>
            <a:ext cx="2706624" cy="54864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Calls Teamwork Cloud or reads/writes Workbench cache.</a:t>
            </a:r>
            <a:endParaRPr lang="en-US" sz="950" dirty="0"/>
          </a:p>
        </p:txBody>
      </p:sp>
      <p:sp>
        <p:nvSpPr>
          <p:cNvPr id="33" name="Shape 31"/>
          <p:cNvSpPr/>
          <p:nvPr/>
        </p:nvSpPr>
        <p:spPr>
          <a:xfrm>
            <a:off x="7589520" y="4416552"/>
            <a:ext cx="640080" cy="0"/>
          </a:xfrm>
          <a:prstGeom prst="line">
            <a:avLst/>
          </a:prstGeom>
          <a:noFill/>
          <a:ln w="26670">
            <a:solidFill>
              <a:srgbClr val="2563EB"/>
            </a:solidFill>
            <a:prstDash val="solid"/>
            <a:headEnd type="none"/>
            <a:tailEnd type="triangle"/>
          </a:ln>
        </p:spPr>
      </p:sp>
      <p:sp>
        <p:nvSpPr>
          <p:cNvPr id="34" name="Shape 32"/>
          <p:cNvSpPr/>
          <p:nvPr/>
        </p:nvSpPr>
        <p:spPr>
          <a:xfrm>
            <a:off x="8275320" y="3749040"/>
            <a:ext cx="3108960" cy="1325880"/>
          </a:xfrm>
          <a:prstGeom prst="roundRect">
            <a:avLst>
              <a:gd name="adj" fmla="val 8276"/>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35" name="Shape 33"/>
          <p:cNvSpPr/>
          <p:nvPr/>
        </p:nvSpPr>
        <p:spPr>
          <a:xfrm>
            <a:off x="8439912" y="3913632"/>
            <a:ext cx="420624" cy="301752"/>
          </a:xfrm>
          <a:prstGeom prst="roundRect">
            <a:avLst>
              <a:gd name="adj" fmla="val 24242"/>
            </a:avLst>
          </a:prstGeom>
          <a:solidFill>
            <a:srgbClr val="0B1F3A"/>
          </a:solidFill>
          <a:ln w="12700">
            <a:solidFill>
              <a:srgbClr val="0B1F3A"/>
            </a:solidFill>
            <a:prstDash val="solid"/>
          </a:ln>
        </p:spPr>
      </p:sp>
      <p:sp>
        <p:nvSpPr>
          <p:cNvPr id="36" name="Text 34"/>
          <p:cNvSpPr/>
          <p:nvPr/>
        </p:nvSpPr>
        <p:spPr>
          <a:xfrm>
            <a:off x="8439912" y="3954780"/>
            <a:ext cx="420624" cy="164592"/>
          </a:xfrm>
          <a:prstGeom prst="rect">
            <a:avLst/>
          </a:prstGeom>
          <a:noFill/>
          <a:ln/>
        </p:spPr>
        <p:txBody>
          <a:bodyPr wrap="square" lIns="0" tIns="0" rIns="0" bIns="0" rtlCol="0" anchor="ctr"/>
          <a:lstStyle/>
          <a:p>
            <a:pPr algn="ctr" indent="0" marL="0">
              <a:buNone/>
            </a:pPr>
            <a:r>
              <a:rPr lang="en-US" sz="800" b="1" dirty="0">
                <a:solidFill>
                  <a:srgbClr val="FFFFFF"/>
                </a:solidFill>
                <a:latin typeface="Aptos" pitchFamily="34" charset="0"/>
                <a:ea typeface="Aptos" pitchFamily="34" charset="-122"/>
                <a:cs typeface="Aptos" pitchFamily="34" charset="-120"/>
              </a:rPr>
              <a:t>6</a:t>
            </a:r>
            <a:endParaRPr lang="en-US" sz="800" dirty="0"/>
          </a:p>
        </p:txBody>
      </p:sp>
      <p:sp>
        <p:nvSpPr>
          <p:cNvPr id="37" name="Text 35"/>
          <p:cNvSpPr/>
          <p:nvPr/>
        </p:nvSpPr>
        <p:spPr>
          <a:xfrm>
            <a:off x="8979408" y="3913632"/>
            <a:ext cx="2203704" cy="320040"/>
          </a:xfrm>
          <a:prstGeom prst="rect">
            <a:avLst/>
          </a:prstGeom>
          <a:noFill/>
          <a:ln/>
        </p:spPr>
        <p:txBody>
          <a:bodyPr wrap="square" lIns="127" tIns="127" rIns="127" bIns="127" rtlCol="0" anchor="ctr"/>
          <a:lstStyle/>
          <a:p>
            <a:pPr indent="0" marL="0">
              <a:buNone/>
            </a:pPr>
            <a:r>
              <a:rPr lang="en-US" sz="1400" b="1" dirty="0">
                <a:solidFill>
                  <a:srgbClr val="0B1F3A"/>
                </a:solidFill>
                <a:latin typeface="Aptos Display" pitchFamily="34" charset="0"/>
                <a:ea typeface="Aptos Display" pitchFamily="34" charset="-122"/>
                <a:cs typeface="Aptos Display" pitchFamily="34" charset="-120"/>
              </a:rPr>
              <a:t>UI update</a:t>
            </a:r>
            <a:endParaRPr lang="en-US" sz="1400" dirty="0"/>
          </a:p>
        </p:txBody>
      </p:sp>
      <p:sp>
        <p:nvSpPr>
          <p:cNvPr id="38" name="Text 36"/>
          <p:cNvSpPr/>
          <p:nvPr/>
        </p:nvSpPr>
        <p:spPr>
          <a:xfrm>
            <a:off x="8476488" y="4370832"/>
            <a:ext cx="2706624" cy="548640"/>
          </a:xfrm>
          <a:prstGeom prst="rect">
            <a:avLst/>
          </a:prstGeom>
          <a:noFill/>
          <a:ln/>
        </p:spPr>
        <p:txBody>
          <a:bodyPr wrap="square" lIns="254" tIns="254" rIns="254" bIns="254" rtlCol="0" anchor="t">
            <a:normAutofit/>
          </a:bodyPr>
          <a:lstStyle/>
          <a:p>
            <a:pPr indent="0" marL="0">
              <a:buNone/>
            </a:pPr>
            <a:r>
              <a:rPr lang="en-US" sz="950" dirty="0">
                <a:solidFill>
                  <a:srgbClr val="475569"/>
                </a:solidFill>
                <a:latin typeface="Aptos" pitchFamily="34" charset="0"/>
                <a:ea typeface="Aptos" pitchFamily="34" charset="-122"/>
                <a:cs typeface="Aptos" pitchFamily="34" charset="-120"/>
              </a:rPr>
              <a:t>Normalized response returns to React Query and the visible workspace updates.</a:t>
            </a:r>
            <a:endParaRPr lang="en-US" sz="950" dirty="0"/>
          </a:p>
        </p:txBody>
      </p:sp>
      <p:sp>
        <p:nvSpPr>
          <p:cNvPr id="39" name="Shape 37"/>
          <p:cNvSpPr/>
          <p:nvPr/>
        </p:nvSpPr>
        <p:spPr>
          <a:xfrm>
            <a:off x="10561320" y="2697480"/>
            <a:ext cx="-9555480" cy="1143000"/>
          </a:xfrm>
          <a:prstGeom prst="line">
            <a:avLst/>
          </a:prstGeom>
          <a:noFill/>
          <a:ln w="26670">
            <a:solidFill>
              <a:srgbClr val="94A3B8"/>
            </a:solidFill>
            <a:prstDash val="solid"/>
            <a:headEnd type="none"/>
            <a:tailEnd type="triangle"/>
          </a:ln>
        </p:spPr>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REALITY CHECK</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Current boundaries and validation needs</a:t>
            </a:r>
            <a:endParaRPr lang="en-US" sz="2700" dirty="0"/>
          </a:p>
        </p:txBody>
      </p:sp>
      <p:sp>
        <p:nvSpPr>
          <p:cNvPr id="5" name="Shape 3"/>
          <p:cNvSpPr/>
          <p:nvPr/>
        </p:nvSpPr>
        <p:spPr>
          <a:xfrm>
            <a:off x="685800" y="1371600"/>
            <a:ext cx="3429000" cy="4389120"/>
          </a:xfrm>
          <a:prstGeom prst="roundRect">
            <a:avLst>
              <a:gd name="adj" fmla="val 32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6" name="Text 4"/>
          <p:cNvSpPr/>
          <p:nvPr/>
        </p:nvSpPr>
        <p:spPr>
          <a:xfrm>
            <a:off x="886968" y="1536192"/>
            <a:ext cx="302666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Live environment validation</a:t>
            </a:r>
            <a:endParaRPr lang="en-US" sz="1400" dirty="0"/>
          </a:p>
        </p:txBody>
      </p:sp>
      <p:sp>
        <p:nvSpPr>
          <p:cNvPr id="7" name="Text 5"/>
          <p:cNvSpPr/>
          <p:nvPr/>
        </p:nvSpPr>
        <p:spPr>
          <a:xfrm>
            <a:off x="886968" y="1993392"/>
            <a:ext cx="3026664" cy="361188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The code is structured for real TWC 2022x/2024xR3 behavior, but final confidence depends on testing against the actual enterprise TWC/AuthServer deployment and certificate chain.</a:t>
            </a:r>
            <a:endParaRPr lang="en-US" sz="1200" dirty="0"/>
          </a:p>
        </p:txBody>
      </p:sp>
      <p:sp>
        <p:nvSpPr>
          <p:cNvPr id="8" name="Shape 6"/>
          <p:cNvSpPr/>
          <p:nvPr/>
        </p:nvSpPr>
        <p:spPr>
          <a:xfrm>
            <a:off x="4389120" y="1371600"/>
            <a:ext cx="3429000" cy="4389120"/>
          </a:xfrm>
          <a:prstGeom prst="roundRect">
            <a:avLst>
              <a:gd name="adj" fmla="val 32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9" name="Text 7"/>
          <p:cNvSpPr/>
          <p:nvPr/>
        </p:nvSpPr>
        <p:spPr>
          <a:xfrm>
            <a:off x="4590288" y="1536192"/>
            <a:ext cx="3026664" cy="320040"/>
          </a:xfrm>
          <a:prstGeom prst="rect">
            <a:avLst/>
          </a:prstGeom>
          <a:noFill/>
          <a:ln/>
        </p:spPr>
        <p:txBody>
          <a:bodyPr wrap="square" lIns="127" tIns="127" rIns="127" bIns="127" rtlCol="0" anchor="ctr"/>
          <a:lstStyle/>
          <a:p>
            <a:pPr indent="0" marL="0">
              <a:buNone/>
            </a:pPr>
            <a:r>
              <a:rPr lang="en-US" sz="1400" b="1" dirty="0">
                <a:solidFill>
                  <a:srgbClr val="F59E0B"/>
                </a:solidFill>
                <a:latin typeface="Aptos Display" pitchFamily="34" charset="0"/>
                <a:ea typeface="Aptos Display" pitchFamily="34" charset="-122"/>
                <a:cs typeface="Aptos Display" pitchFamily="34" charset="-120"/>
              </a:rPr>
              <a:t>Plugin validation</a:t>
            </a:r>
            <a:endParaRPr lang="en-US" sz="1400" dirty="0"/>
          </a:p>
        </p:txBody>
      </p:sp>
      <p:sp>
        <p:nvSpPr>
          <p:cNvPr id="10" name="Text 8"/>
          <p:cNvSpPr/>
          <p:nvPr/>
        </p:nvSpPr>
        <p:spPr>
          <a:xfrm>
            <a:off x="4590288" y="1993392"/>
            <a:ext cx="3026664" cy="361188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The Cameo plugin has real source, build scripts, and packaged outputs. It still needs end-to-end validation inside the target Cameo/TWC runtime.</a:t>
            </a:r>
            <a:endParaRPr lang="en-US" sz="1200" dirty="0"/>
          </a:p>
        </p:txBody>
      </p:sp>
      <p:sp>
        <p:nvSpPr>
          <p:cNvPr id="11" name="Shape 9"/>
          <p:cNvSpPr/>
          <p:nvPr/>
        </p:nvSpPr>
        <p:spPr>
          <a:xfrm>
            <a:off x="8092440" y="1371600"/>
            <a:ext cx="3429000" cy="4389120"/>
          </a:xfrm>
          <a:prstGeom prst="roundRect">
            <a:avLst>
              <a:gd name="adj" fmla="val 3200"/>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2" name="Text 10"/>
          <p:cNvSpPr/>
          <p:nvPr/>
        </p:nvSpPr>
        <p:spPr>
          <a:xfrm>
            <a:off x="8293608" y="1536192"/>
            <a:ext cx="3026664" cy="320040"/>
          </a:xfrm>
          <a:prstGeom prst="rect">
            <a:avLst/>
          </a:prstGeom>
          <a:noFill/>
          <a:ln/>
        </p:spPr>
        <p:txBody>
          <a:bodyPr wrap="square" lIns="127" tIns="127" rIns="127" bIns="127" rtlCol="0" anchor="ctr"/>
          <a:lstStyle/>
          <a:p>
            <a:pPr indent="0" marL="0">
              <a:buNone/>
            </a:pPr>
            <a:r>
              <a:rPr lang="en-US" sz="1400" b="1" dirty="0">
                <a:solidFill>
                  <a:srgbClr val="EF4444"/>
                </a:solidFill>
                <a:latin typeface="Aptos Display" pitchFamily="34" charset="0"/>
                <a:ea typeface="Aptos Display" pitchFamily="34" charset="-122"/>
                <a:cs typeface="Aptos Display" pitchFamily="34" charset="-120"/>
              </a:rPr>
              <a:t>Contract-limited features</a:t>
            </a:r>
            <a:endParaRPr lang="en-US" sz="1400" dirty="0"/>
          </a:p>
        </p:txBody>
      </p:sp>
      <p:sp>
        <p:nvSpPr>
          <p:cNvPr id="13" name="Text 11"/>
          <p:cNvSpPr/>
          <p:nvPr/>
        </p:nvSpPr>
        <p:spPr>
          <a:xfrm>
            <a:off x="8293608" y="1993392"/>
            <a:ext cx="3026664" cy="3611880"/>
          </a:xfrm>
          <a:prstGeom prst="rect">
            <a:avLst/>
          </a:prstGeom>
          <a:noFill/>
          <a:ln/>
        </p:spPr>
        <p:txBody>
          <a:bodyPr wrap="square" lIns="254" tIns="254" rIns="254" bIns="254" rtlCol="0" anchor="t">
            <a:normAutofit/>
          </a:bodyPr>
          <a:lstStyle/>
          <a:p>
            <a:pPr indent="0" marL="0">
              <a:buNone/>
            </a:pPr>
            <a:r>
              <a:rPr lang="en-US" sz="1200" dirty="0">
                <a:solidFill>
                  <a:srgbClr val="475569"/>
                </a:solidFill>
                <a:latin typeface="Aptos" pitchFamily="34" charset="0"/>
                <a:ea typeface="Aptos" pitchFamily="34" charset="-122"/>
                <a:cs typeface="Aptos" pitchFamily="34" charset="-120"/>
              </a:rPr>
              <a:t>The app correctly avoids claiming support for APIs not present in the verified Swagger. New features should first be proven in the contract or live-capture package.</a:t>
            </a:r>
            <a:endParaRPr lang="en-US" sz="120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2563EB"/>
          </a:solidFill>
          <a:ln w="12700">
            <a:solidFill>
              <a:srgbClr val="2563EB"/>
            </a:solidFill>
            <a:prstDash val="solid"/>
          </a:ln>
        </p:spPr>
      </p:sp>
      <p:sp>
        <p:nvSpPr>
          <p:cNvPr id="3" name="Text 1"/>
          <p:cNvSpPr/>
          <p:nvPr/>
        </p:nvSpPr>
        <p:spPr>
          <a:xfrm>
            <a:off x="502920" y="411480"/>
            <a:ext cx="4206240" cy="228600"/>
          </a:xfrm>
          <a:prstGeom prst="rect">
            <a:avLst/>
          </a:prstGeom>
          <a:noFill/>
          <a:ln/>
        </p:spPr>
        <p:txBody>
          <a:bodyPr wrap="square" rtlCol="0" anchor="ctr"/>
          <a:lstStyle/>
          <a:p>
            <a:pPr indent="0" marL="0">
              <a:buNone/>
            </a:pPr>
            <a:r>
              <a:rPr lang="en-US" sz="850" b="1" dirty="0">
                <a:solidFill>
                  <a:srgbClr val="2563EB"/>
                </a:solidFill>
                <a:latin typeface="Aptos" pitchFamily="34" charset="0"/>
                <a:ea typeface="Aptos" pitchFamily="34" charset="-122"/>
                <a:cs typeface="Aptos" pitchFamily="34" charset="-120"/>
              </a:rPr>
              <a:t>SUMMARY</a:t>
            </a:r>
            <a:endParaRPr lang="en-US" sz="850" dirty="0"/>
          </a:p>
        </p:txBody>
      </p:sp>
      <p:sp>
        <p:nvSpPr>
          <p:cNvPr id="4" name="Text 2"/>
          <p:cNvSpPr/>
          <p:nvPr/>
        </p:nvSpPr>
        <p:spPr>
          <a:xfrm>
            <a:off x="502920" y="658368"/>
            <a:ext cx="11155680" cy="502920"/>
          </a:xfrm>
          <a:prstGeom prst="rect">
            <a:avLst/>
          </a:prstGeom>
          <a:noFill/>
          <a:ln/>
        </p:spPr>
        <p:txBody>
          <a:bodyPr wrap="square" lIns="0" tIns="0" rIns="0" bIns="0" rtlCol="0" anchor="ct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Bottom line</a:t>
            </a:r>
            <a:endParaRPr lang="en-US" sz="2700" dirty="0"/>
          </a:p>
        </p:txBody>
      </p:sp>
      <p:sp>
        <p:nvSpPr>
          <p:cNvPr id="5" name="Text 3"/>
          <p:cNvSpPr/>
          <p:nvPr/>
        </p:nvSpPr>
        <p:spPr>
          <a:xfrm>
            <a:off x="777240" y="1417320"/>
            <a:ext cx="10789920" cy="777240"/>
          </a:xfrm>
          <a:prstGeom prst="rect">
            <a:avLst/>
          </a:prstGeom>
          <a:noFill/>
          <a:ln/>
        </p:spPr>
        <p:txBody>
          <a:bodyPr wrap="square" lIns="0" tIns="0" rIns="0" bIns="0" rtlCol="0" anchor="ctr"/>
          <a:lstStyle/>
          <a:p>
            <a:pPr algn="ctr" indent="0" marL="0">
              <a:buNone/>
            </a:pPr>
            <a:r>
              <a:rPr lang="en-US" sz="2500" b="1" dirty="0">
                <a:solidFill>
                  <a:srgbClr val="0B1F3A"/>
                </a:solidFill>
                <a:latin typeface="Aptos Display" pitchFamily="34" charset="0"/>
                <a:ea typeface="Aptos Display" pitchFamily="34" charset="-122"/>
                <a:cs typeface="Aptos Display" pitchFamily="34" charset="-120"/>
              </a:rPr>
              <a:t>TWC Workbench V2 is a controlled bridge between users, Teamwork Cloud, Cameo, cached model data, and automation tools.</a:t>
            </a:r>
            <a:endParaRPr lang="en-US" sz="2500" dirty="0"/>
          </a:p>
        </p:txBody>
      </p:sp>
      <p:sp>
        <p:nvSpPr>
          <p:cNvPr id="6" name="Shape 4"/>
          <p:cNvSpPr/>
          <p:nvPr/>
        </p:nvSpPr>
        <p:spPr>
          <a:xfrm>
            <a:off x="868680" y="2743200"/>
            <a:ext cx="3017520" cy="1965960"/>
          </a:xfrm>
          <a:prstGeom prst="roundRect">
            <a:avLst>
              <a:gd name="adj" fmla="val 5581"/>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7" name="Text 5"/>
          <p:cNvSpPr/>
          <p:nvPr/>
        </p:nvSpPr>
        <p:spPr>
          <a:xfrm>
            <a:off x="1069848" y="2907792"/>
            <a:ext cx="2615184" cy="320040"/>
          </a:xfrm>
          <a:prstGeom prst="rect">
            <a:avLst/>
          </a:prstGeom>
          <a:noFill/>
          <a:ln/>
        </p:spPr>
        <p:txBody>
          <a:bodyPr wrap="square" lIns="127" tIns="127" rIns="127" bIns="127" rtlCol="0" anchor="ctr"/>
          <a:lstStyle/>
          <a:p>
            <a:pPr indent="0" marL="0">
              <a:buNone/>
            </a:pPr>
            <a:r>
              <a:rPr lang="en-US" sz="1400" b="1" dirty="0">
                <a:solidFill>
                  <a:srgbClr val="2563EB"/>
                </a:solidFill>
                <a:latin typeface="Aptos Display" pitchFamily="34" charset="0"/>
                <a:ea typeface="Aptos Display" pitchFamily="34" charset="-122"/>
                <a:cs typeface="Aptos Display" pitchFamily="34" charset="-120"/>
              </a:rPr>
              <a:t>For users</a:t>
            </a:r>
            <a:endParaRPr lang="en-US" sz="1400" dirty="0"/>
          </a:p>
        </p:txBody>
      </p:sp>
      <p:sp>
        <p:nvSpPr>
          <p:cNvPr id="8" name="Text 6"/>
          <p:cNvSpPr/>
          <p:nvPr/>
        </p:nvSpPr>
        <p:spPr>
          <a:xfrm>
            <a:off x="1069848" y="3364992"/>
            <a:ext cx="2615184" cy="1188720"/>
          </a:xfrm>
          <a:prstGeom prst="rect">
            <a:avLst/>
          </a:prstGeom>
          <a:noFill/>
          <a:ln/>
        </p:spPr>
        <p:txBody>
          <a:bodyPr wrap="square" lIns="254" tIns="254" rIns="254" bIns="254" rtlCol="0" anchor="t">
            <a:normAutofit/>
          </a:bodyPr>
          <a:lstStyle/>
          <a:p>
            <a:pPr indent="0" marL="0">
              <a:buNone/>
            </a:pPr>
            <a:r>
              <a:rPr lang="en-US" sz="1100" dirty="0">
                <a:solidFill>
                  <a:srgbClr val="475569"/>
                </a:solidFill>
                <a:latin typeface="Aptos" pitchFamily="34" charset="0"/>
                <a:ea typeface="Aptos" pitchFamily="34" charset="-122"/>
                <a:cs typeface="Aptos" pitchFamily="34" charset="-120"/>
              </a:rPr>
              <a:t>A clean web workspace for navigating projects, models, details, compare flows, and cache-backed data.</a:t>
            </a:r>
            <a:endParaRPr lang="en-US" sz="1100" dirty="0"/>
          </a:p>
        </p:txBody>
      </p:sp>
      <p:sp>
        <p:nvSpPr>
          <p:cNvPr id="9" name="Shape 7"/>
          <p:cNvSpPr/>
          <p:nvPr/>
        </p:nvSpPr>
        <p:spPr>
          <a:xfrm>
            <a:off x="4572000" y="2743200"/>
            <a:ext cx="3017520" cy="1965960"/>
          </a:xfrm>
          <a:prstGeom prst="roundRect">
            <a:avLst>
              <a:gd name="adj" fmla="val 5581"/>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0" name="Text 8"/>
          <p:cNvSpPr/>
          <p:nvPr/>
        </p:nvSpPr>
        <p:spPr>
          <a:xfrm>
            <a:off x="4773168" y="2907792"/>
            <a:ext cx="2615184" cy="320040"/>
          </a:xfrm>
          <a:prstGeom prst="rect">
            <a:avLst/>
          </a:prstGeom>
          <a:noFill/>
          <a:ln/>
        </p:spPr>
        <p:txBody>
          <a:bodyPr wrap="square" lIns="127" tIns="127" rIns="127" bIns="127" rtlCol="0" anchor="ctr"/>
          <a:lstStyle/>
          <a:p>
            <a:pPr indent="0" marL="0">
              <a:buNone/>
            </a:pPr>
            <a:r>
              <a:rPr lang="en-US" sz="1400" b="1" dirty="0">
                <a:solidFill>
                  <a:srgbClr val="7C3AED"/>
                </a:solidFill>
                <a:latin typeface="Aptos Display" pitchFamily="34" charset="0"/>
                <a:ea typeface="Aptos Display" pitchFamily="34" charset="-122"/>
                <a:cs typeface="Aptos Display" pitchFamily="34" charset="-120"/>
              </a:rPr>
              <a:t>For admins</a:t>
            </a:r>
            <a:endParaRPr lang="en-US" sz="1400" dirty="0"/>
          </a:p>
        </p:txBody>
      </p:sp>
      <p:sp>
        <p:nvSpPr>
          <p:cNvPr id="11" name="Text 9"/>
          <p:cNvSpPr/>
          <p:nvPr/>
        </p:nvSpPr>
        <p:spPr>
          <a:xfrm>
            <a:off x="4773168" y="3364992"/>
            <a:ext cx="2615184" cy="1188720"/>
          </a:xfrm>
          <a:prstGeom prst="rect">
            <a:avLst/>
          </a:prstGeom>
          <a:noFill/>
          <a:ln/>
        </p:spPr>
        <p:txBody>
          <a:bodyPr wrap="square" lIns="254" tIns="254" rIns="254" bIns="254" rtlCol="0" anchor="t">
            <a:normAutofit/>
          </a:bodyPr>
          <a:lstStyle/>
          <a:p>
            <a:pPr indent="0" marL="0">
              <a:buNone/>
            </a:pPr>
            <a:r>
              <a:rPr lang="en-US" sz="1100" dirty="0">
                <a:solidFill>
                  <a:srgbClr val="475569"/>
                </a:solidFill>
                <a:latin typeface="Aptos" pitchFamily="34" charset="0"/>
                <a:ea typeface="Aptos" pitchFamily="34" charset="-122"/>
                <a:cs typeface="Aptos" pitchFamily="34" charset="-120"/>
              </a:rPr>
              <a:t>Central server presets, secure sessions, AuthServer integration, capability boundaries, and admin-only API exploration.</a:t>
            </a:r>
            <a:endParaRPr lang="en-US" sz="1100" dirty="0"/>
          </a:p>
        </p:txBody>
      </p:sp>
      <p:sp>
        <p:nvSpPr>
          <p:cNvPr id="12" name="Shape 10"/>
          <p:cNvSpPr/>
          <p:nvPr/>
        </p:nvSpPr>
        <p:spPr>
          <a:xfrm>
            <a:off x="8275320" y="2743200"/>
            <a:ext cx="3017520" cy="1965960"/>
          </a:xfrm>
          <a:prstGeom prst="roundRect">
            <a:avLst>
              <a:gd name="adj" fmla="val 5581"/>
            </a:avLst>
          </a:prstGeom>
          <a:solidFill>
            <a:srgbClr val="FFFFFF"/>
          </a:solidFill>
          <a:ln w="12700">
            <a:solidFill>
              <a:srgbClr val="D6DEE8"/>
            </a:solidFill>
            <a:prstDash val="solid"/>
          </a:ln>
          <a:effectLst>
            <a:outerShdw sx="100000" sy="100000" kx="0" ky="0" algn="bl" rotWithShape="0" blurRad="12700" dist="50800" dir="2700000">
              <a:srgbClr val="D8DEE9">
                <a:alpha val="18000"/>
              </a:srgbClr>
            </a:outerShdw>
          </a:effectLst>
        </p:spPr>
      </p:sp>
      <p:sp>
        <p:nvSpPr>
          <p:cNvPr id="13" name="Text 11"/>
          <p:cNvSpPr/>
          <p:nvPr/>
        </p:nvSpPr>
        <p:spPr>
          <a:xfrm>
            <a:off x="8476488" y="2907792"/>
            <a:ext cx="2615184" cy="320040"/>
          </a:xfrm>
          <a:prstGeom prst="rect">
            <a:avLst/>
          </a:prstGeom>
          <a:noFill/>
          <a:ln/>
        </p:spPr>
        <p:txBody>
          <a:bodyPr wrap="square" lIns="127" tIns="127" rIns="127" bIns="127" rtlCol="0" anchor="ctr"/>
          <a:lstStyle/>
          <a:p>
            <a:pPr indent="0" marL="0">
              <a:buNone/>
            </a:pPr>
            <a:r>
              <a:rPr lang="en-US" sz="1400" b="1" dirty="0">
                <a:solidFill>
                  <a:srgbClr val="10B981"/>
                </a:solidFill>
                <a:latin typeface="Aptos Display" pitchFamily="34" charset="0"/>
                <a:ea typeface="Aptos Display" pitchFamily="34" charset="-122"/>
                <a:cs typeface="Aptos Display" pitchFamily="34" charset="-120"/>
              </a:rPr>
              <a:t>For automation</a:t>
            </a:r>
            <a:endParaRPr lang="en-US" sz="1400" dirty="0"/>
          </a:p>
        </p:txBody>
      </p:sp>
      <p:sp>
        <p:nvSpPr>
          <p:cNvPr id="14" name="Text 12"/>
          <p:cNvSpPr/>
          <p:nvPr/>
        </p:nvSpPr>
        <p:spPr>
          <a:xfrm>
            <a:off x="8476488" y="3364992"/>
            <a:ext cx="2615184" cy="1188720"/>
          </a:xfrm>
          <a:prstGeom prst="rect">
            <a:avLst/>
          </a:prstGeom>
          <a:noFill/>
          <a:ln/>
        </p:spPr>
        <p:txBody>
          <a:bodyPr wrap="square" lIns="254" tIns="254" rIns="254" bIns="254" rtlCol="0" anchor="t">
            <a:normAutofit/>
          </a:bodyPr>
          <a:lstStyle/>
          <a:p>
            <a:pPr indent="0" marL="0">
              <a:buNone/>
            </a:pPr>
            <a:r>
              <a:rPr lang="en-US" sz="1100" dirty="0">
                <a:solidFill>
                  <a:srgbClr val="475569"/>
                </a:solidFill>
                <a:latin typeface="Aptos" pitchFamily="34" charset="0"/>
                <a:ea typeface="Aptos" pitchFamily="34" charset="-122"/>
                <a:cs typeface="Aptos" pitchFamily="34" charset="-120"/>
              </a:rPr>
              <a:t>Scoped Developer API keys plus Cameo plugin ingest make the model data usable by scripts, tools, and AI workflows.</a:t>
            </a:r>
            <a:endParaRPr lang="en-US" sz="1100" dirty="0"/>
          </a:p>
        </p:txBody>
      </p:sp>
      <p:sp>
        <p:nvSpPr>
          <p:cNvPr id="15" name="Shape 13"/>
          <p:cNvSpPr/>
          <p:nvPr/>
        </p:nvSpPr>
        <p:spPr>
          <a:xfrm>
            <a:off x="1828800" y="5532120"/>
            <a:ext cx="8549640" cy="502920"/>
          </a:xfrm>
          <a:prstGeom prst="roundRect">
            <a:avLst>
              <a:gd name="adj" fmla="val 32727"/>
            </a:avLst>
          </a:prstGeom>
          <a:solidFill>
            <a:srgbClr val="0B1F3A"/>
          </a:solidFill>
          <a:ln w="12700">
            <a:solidFill>
              <a:srgbClr val="0B1F3A"/>
            </a:solidFill>
            <a:prstDash val="solid"/>
          </a:ln>
        </p:spPr>
      </p:sp>
      <p:sp>
        <p:nvSpPr>
          <p:cNvPr id="16" name="Text 14"/>
          <p:cNvSpPr/>
          <p:nvPr/>
        </p:nvSpPr>
        <p:spPr>
          <a:xfrm>
            <a:off x="1920240" y="5678424"/>
            <a:ext cx="8366760" cy="182880"/>
          </a:xfrm>
          <a:prstGeom prst="rect">
            <a:avLst/>
          </a:prstGeom>
          <a:noFill/>
          <a:ln/>
        </p:spPr>
        <p:txBody>
          <a:bodyPr wrap="square" lIns="0" tIns="0" rIns="0" bIns="0" rtlCol="0" anchor="ctr"/>
          <a:lstStyle/>
          <a:p>
            <a:pPr algn="ctr" indent="0" marL="0">
              <a:buNone/>
            </a:pPr>
            <a:r>
              <a:rPr lang="en-US" sz="1150" b="1" dirty="0">
                <a:solidFill>
                  <a:srgbClr val="FFFFFF"/>
                </a:solidFill>
                <a:latin typeface="Aptos" pitchFamily="34" charset="0"/>
                <a:ea typeface="Aptos" pitchFamily="34" charset="-122"/>
                <a:cs typeface="Aptos" pitchFamily="34" charset="-120"/>
              </a:rPr>
              <a:t>Secure frontend. Server-controlled TWC access. Cache-first model workflows. Plugin-powered ingestion.</a:t>
            </a:r>
            <a:endParaRPr lang="en-US" sz="1150" dirty="0"/>
          </a:p>
        </p:txBody>
      </p:sp>
      <p:sp>
        <p:nvSpPr>
          <p:cNvPr id="25" name="Slide Number Placeholder 0"/>
          <p:cNvSpPr>
            <a:spLocks noGrp="1"/>
          </p:cNvSpPr>
          <p:nvPr>
            <p:ph type="sldNum" sz="quarter" idx="4294967295"/>
          </p:nvPr>
        </p:nvSpPr>
        <p:spPr>
          <a:xfrm>
            <a:off x="11292840" y="6574536"/>
            <a:ext cx="800000" cy="300000"/>
          </a:xfrm>
          <a:prstGeom prst="rect">
            <a:avLst/>
          </a:prstGeom>
          <a:extLst>
            <a:ext uri="{C572A759-6A51-4108-AA02-DFA0A04FC94B}">
              <ma14:wrappingTextBoxFlag xmlns:ma14="http://schemas.microsoft.com/office/mac/drawingml/2011/main" val="0"/>
            </a:ext>
          </a:extLst>
        </p:spPr>
        <p:txBody>
          <a:bodyPr/>
          <a:lstStyle>
            <a:lvl1pPr>
              <a:defRPr sz="700">
                <a:solidFill>
                  <a:srgbClr val="64748B"/>
                </a:solidFill>
                <a:latin typeface="Aptos"/>
                <a:ea typeface="Aptos"/>
                <a:cs typeface="Aptos"/>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Generated from uploaded app files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TWC Workbench V2 - How It Works</dc:title>
  <dc:subject>TWC Workbench V2 how it works</dc:subject>
  <dc:creator>OpenAI</dc:creator>
  <cp:lastModifiedBy>OpenAI</cp:lastModifiedBy>
  <cp:revision>1</cp:revision>
  <dcterms:created xsi:type="dcterms:W3CDTF">2026-05-19T15:36:40Z</dcterms:created>
  <dcterms:modified xsi:type="dcterms:W3CDTF">2026-05-19T15:36:40Z</dcterms:modified>
</cp:coreProperties>
</file>